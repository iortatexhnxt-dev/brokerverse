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Lst>
  <p:notesMasterIdLst>
    <p:notesMasterId r:id="rId1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notesMaster" Target="notesMasters/notesMaster1.xml"/><Relationship Id="rId134" Type="http://schemas.openxmlformats.org/officeDocument/2006/relationships/presProps" Target="presProps.xml"/><Relationship Id="rId135" Type="http://schemas.openxmlformats.org/officeDocument/2006/relationships/viewProps" Target="viewProps.xml"/><Relationship Id="rId136" Type="http://schemas.openxmlformats.org/officeDocument/2006/relationships/theme" Target="theme/theme1.xml"/><Relationship Id="rId1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walkthrough maps each BDOI process flow step to the BrokerVerse screen that implements it. Screens are real captures from journeys executed on the running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BDOIR End-to-End. Source: BDOIR E2E PROCESS FLOW.pdf. The umbrella flow that chains new business, cashiering, collections, remittance, disbursement, the general ledger, renewal and claims. Each link is captured in detail in its own process below; these screens show the control points that tie the chain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BDOIR End-to-End step 1: Executive dashboard: KPIs across the whole chain (in force, in placement, unapplied payments, pending approvals, disbursements in flight, past-TAT requests). Screen: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BDOIR End-to-End step 2: Single maker-checker queue for bookings, endorsements, journals, disbursements, CTE, claim settlements, EB awards and product changes. Screen: Approvals &amp; Audit ›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BDOIR End-to-End step 3: Production, collection and claims reports with CSV export. Screen: Reports &amp;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BDOIR End-to-End step 4: Client onboarding with sanctions screening, PEP flag and risk tiering feeding every process. Screen: Sanction Screening &amp;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BDOIR End-to-End step 5: Twelve personas with module entitlements and approver rights (segregation of duties). Screen: User Access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BDOIR End-to-End step 6: Legacy data migration batches with load, reconciliation and disposition. Screen: Data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Source: NEW BUSINESS.pdf. Client creation and screening, quotation, proposal, placement to the insurer, e-policy and booking under maker-checker.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1: MAO creates the client in Broker; KYC details captured. Screen: Sanction Screening &amp; Risk › New client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2: Client is sanction-screened automatically (clear / hit) and risk-tiered. Screen: Sanction Screening &amp; Risk › Client register. Screening result and CDD level shown on the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3: Quotation prepared with the rating engine (premium, VAT, DST, LGT, commission). Screen: New Business › Quotations &amp; proposals › New quotation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4: Quotation created (status: quoted); hold cover can be requested from the insurer. Screen: New Business › Quotations &amp;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5: Proposal sent to the client by email (status: proposal sent). Screen: New Business › Quotations &amp; proposals › Send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6: Client acceptance recorded (Y); a decline with reason is the N branch. Screen: New Business › Quotations &amp; proposals › Client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7: Placement requested: placement slip goes to the insurer via SFTP or email. Screen: New Business › Policy drawer (placement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8: Placement board tracks slips awaiting the insurer, returns and e-policies. Screen: New Business ›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9: Insurer placed the risk; e-policy received (COG via SFTP or PO email). Screen: New Business › Placement › Placed / e-policy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10: Booking and invoicing raised for checker approval (maker-checker). Screen: New Business › Placement › Book &amp; invoice.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11: Underwriting Head (checker) reviews the booking request. Screen: Approvals &amp; Audit ›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12: Booking approved: invoice, journal and e-policy dispatch are posted automatically. Screen: Approvals &amp; Audit ›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13: Policy register: the policy is in force with its invoice and e-policy channel. Screen: New Business ›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Business step 14: Policy detail: placement history, e-policy status and the exception route to the contact centre. Screen: New Business › Policies › Policy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Source: OPERATIONS PROCESS FLOW.pdf. Cashiering channels, post-dated cheque hold, unapplied premium, direct payments with commission receivables, adjustments and production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1: Cashiering: open invoices (premium receivables) awaiting payment. Screen: Operations › Invoices &amp; cashiering.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2: Receive payment: channel (bills payment, OTC cash/cheque, batch files, autopay) and reference. Screen: Operations › Invoices &amp; cashiering ›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3: Cheque payment recorded and held for the 4-day clearing period. Screen: Operations › Receive › Record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4: PDC register: held cheques, matured, bounced (exclusion list) and unapplied premium. Screen: Operations › Payments / PDC / UPP.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5: Held cheque shows Matured / Bounced actions once the 4-day hold lapses. Screen: Operations › Payments / PDC / UPP › Held cheque.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6: Cash / bills payment applied in full: official receipt issued and receivable cleared. Screen: Operations › Receive › Official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7: Payment with zero PR / payment greater than PR is recorded without an invoice. Screen: Operations › Invoices &amp; cashiering › Payment without invoice.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8: The amount sits in Unapplied Premium (GL 2400) until applied to an invoice. Screen: Operations › Payments / PDC / UPP.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9: Direct payment to insurer identified for a booked policy. Screen: Operations › Direct payments › Identify.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10: Commission receivable (GL 1250) billed to the insurer; follow-up until collected. Screen: Operations › Direct payments › Bill insurer.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11: Commission collected: commission official receipt issued. Screen: Operations › Direct payments › Collect (commission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12: Adjustment / cancellation validated by the Adjustment Team and routed to the checker-poster. Screen: Operations › Adjustments › Endorsement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13: Endorsement pending checker approval; a refund creates a Refund Request Form (RRF) on approval. Screen: Operations › Adjustments.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14: Production reconciliation: insurer production file matched against booked policies. Screen: Operations › Production recon ›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15: Rows classified as matched, with discrepancies, or unbooked; each gets a disposition. Screen: Operations › Production recon ›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16: Checker-poster reviews the endorsement. Screen: Approvals &amp; Audit ›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step 17: Endorsement posted: premium and commission reversed, RRF raised for the refund. Screen: Approvals &amp; Audit ›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Source: MARKETING COLLECTIONS - Process Flow.pdf. Premium receivable list by stage, marketing diary, credit-term extension under approval and statement of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step 1: PR list: newly booked accounts to collect within 10–15 days; ageing and collection stage per invoice. Screen: Collections › Outstanding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step 2: Statement of account sent to the client. Screen: Collections › SOA.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step 3: Marketing diary: when / where / how / what of each collection effort, commitment date and arrangement. Screen: Collections › Log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step 4: Commitment beyond the 60-day credit term: MAO informed, tagged as committed. Screen: Collections › Outstanding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step 5: Credit-term extension (CTE) requested for Unit Head approval. Screen: Collections › 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step 6: Effort diary per invoice with category tagging. Screen: Collections › Diary.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step 7: Unit / Finance Head reviews the CTE request. Screen: Approvals &amp; Audit ›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Collections step 8: CTE approved: due date extended and account stays within term. Screen: Approvals &amp; Audit ›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FRBS Accounting. Source: FRBS - ACCOUNTING.pdf. Chart of accounts, system-generated journals, manual entries under review, trial balance, period and year-end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FRBS Accounting step 1: System-generated journals (booking, receipts, commissions) and manual entry form routed to the TL for posting. Screen: Accounting &amp; Disbursement › Journals.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FRBS Accounting step 2: Trial balance and financial reports generated from the ledger. Screen: Accounting &amp; Disbursement › Trial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FRBS Accounting step 3: EOD / EOM / EOY: period close and reopen, fiscal-year close to retained earnings. Screen: Accounting &amp; Disbursement › Periods &amp; year-end.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Disbursement. Source: DISBURSEMENT.pdf. Disbursement chain DPO → DTL → DSH → DUH with segregation of duties, payment posting and confirmation email; weekly remittance to insurers.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Disbursement step 1: Weekly remittance extract of applied payments per insurer, sanitised and submitted to Disbursement. Screen: Accounting &amp; Disbursement › Remittances.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Disbursement step 2: Disbursement request (DPO) with payee, amount, mode and bank details. Screen: Accounting &amp; Disbursement › Disbursements ›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Disbursement step 3: Request awaits a reviewer other than the maker (segregation of duties). Screen: Accounting &amp; Disbursement › Disbursements.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Disbursement step 4: Team lead review (DTL) OK; routed to the Finance Head for approval. Screen: Accounting &amp; Disbursement › Disbursements › Review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Disbursement step 5: Finance Head (DSH / DUH) reviews the voucher. Screen: Approvals &amp; Audit ›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Disbursement step 6: Approved; ready for payment. Screen: Approvals &amp; Audit ›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Disbursement step 7: Payment posted with cheque reference; status tagged paid and confirmation email sent. Screen: Accounting &amp; Disbursement › Disbursements ›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Refund Request. Source: REFUND REQUEST.pdf. Refund Request Form raised from a cancellation, TL review, Unit Head sign-off and hand-off to the disbursement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Refund Request step 1: RRF register: refund raised by the endorsement with amount, mode and reason. Screen: Accounting &amp; Disbursement › Refund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Refund Request step 2: Marketing TL reviews the RRF. Screen: Accounting &amp; Disbursement › Refund requests › TL review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Refund Request step 3: Unit Head sign-off: a disbursement request is created for the refund. Screen: Accounting &amp; Disbursement › Refund requests › UH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Refund Request step 4: Refund enters the disbursement chain (review → approve → pay). Screen: Accounting &amp; Disbursement › Disbursements.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ACSL (Insurer SOA reconciliation). Source: ACSL.pdf. Insurer statement of account reconciled against the ledger; abnormal balances raise adjustment entries reviewed by the TL and posted by the FRBS approver.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ACSL (Insurer SOA reconciliation) step 1: Insurer SOA lines captured against the ledger. Screen: Accounting &amp; Disbursement › ACSL / SOA recon.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ACSL (Insurer SOA reconciliation) step 2: Variances flagged (abnormal balances, unknown items) for manual subsidiary-ledger adjustment. Screen: Accounting &amp; Disbursement › ACSL / SOA recon ›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Source: CLAIMS PROCESS FLOW.pdf. Notice of loss, PLA, document checklist, FLA to the insurer, evaluation and offer, contest loop, settlement approval and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1: Notice of loss registered against the policy (Claims Acceptance Control checks premium status). Screen: Claims ›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2: Preliminary Loss Advice (PLA) sent; claim opened with reserve. Screen: Claims ›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3: Document checklist by line (motor / non-motor); FLA blocked until complete. Screen: Claims › Claim detail › Document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4: All requirements received: documents complete. Screen: Claims › Claim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5: Formal Loss Advice sent to the insurer; adjuster inspection flagged. Screen: Claims › Claim detail › Send FLA.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6: Insurer evaluation and offer received. Screen: Claims › Claim detail › Offer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7: Insured contests the offer; re-evaluation loop with the insurer. Screen: Claims › Claim detail › Contest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8: Settlement by LOA to casa/dealer or cash requested for approval. Screen: Claims › Claim detail › Request settlement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9: Approver reviews the settlement. Screen: Approvals &amp; Audit ›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10: Settlement approved. Screen: Approvals &amp; Audit ›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step 11: Claim tagged settled / paid, then closed; declination is the alternative exit. Screen: Claims › Claim detail › Mark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Management (To-Be). Source: CASE MANAGEMENT TO BE PROCESS FLOW_07152026.pdf. General vs account-related inquiries, positive identification, point-of-contact handling or referral to the fulfilment unit, TAT monitoring and return to CCC.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Management (To-Be) step 1: Contact logged: general inquiry (no client) vs account-related concern. Screen: Customer Servicing › Cases › Log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Management (To-Be) step 2: General inquiry handled and closed at point of contact. Screen: Customer Servicing ›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Management (To-Be) step 3: Account-related concern: positive identification (PID) and routing to the owning unit with a TAT. Screen: Customer Servicing › Cases › Log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Management (To-Be) step 4: Case referred to the fulfilment unit; TAT due time computed and past-TAT flagged. Screen: Customer Servicing ›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Management (To-Be) step 5: Case returned to the Customer Contact Centre for re-logging with a reason. Screen: Customer Servicing › Cases › Return to CCC.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Management (To-Be) step 6: Case re-logged and back in the open queue. Screen: Customer Servicing › Cases › Re-log.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Servicing Facility. Source: CUSTOMER SERVICING FACILITY - Process Flow.pdf. Search by invoice, policy or client name; view policies, invoices and receipts; update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Servicing Facility step 1: Servicing facility: search by invoice no., policy no. or client name. Screen: Customer Servicing › Servicing facility.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Servicing Facility step 2: Client contact details updated from the facility. Screen: Customer Servicing › Servicing facility › Update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Renewal (RMEL). Source: RENEWAL (1).pdf. Renewal master expiry list 140 days out, sanitation and disposition, initial and final RA letters, client acceptance and renewal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Renewal (RMEL) step 1: RMEL: policies expiring within 140 days, pending sanitation. Screen: Renewal ›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Renewal (RMEL) step 2: Sanitation: disposition for renewal / remarket / not for renewal (NRNS letter). Screen: Renewal › For renewal.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Renewal (RMEL) step 3: Initial renewal advice letter sent 70 days before expiry. Screen: Renewal › Initial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Renewal (RMEL) step 4: Final renewal advice letter sent 45 days before expiry. Screen: Renewal › Final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Renewal (RMEL) step 5: Client accepted: renewal policy enters placement and the e-policy cycle. Screen: Renewal › Renew →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Reinsurance. Source: RENISURANCE PROCESS FLOW.pdf. Facultative request with 24-hour acknowledgement and 3-day slip TAT, underwriting information loop, reinsurer security rating, signed slips, closing and debit note; treaties and cessions.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Reinsurance step 1: Facultative placement request from marketing with the risk details. Screen: Reinsurance › Facultative placements ›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Reinsurance step 2: Request logged; acknowledgement due within 24 hours (TAT flag). Screen: Reinsurance › Facultative placements.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Reinsurance step 3: Acknowledged; slip due within 3 working days. Screen: Reinsurance › Acknowledge.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Reinsurance step 4: Slip: reinsurers approached with security rating, share and signed-slip evidence. Screen: Reinsurance › Prepare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Reinsurance step 5: Closing: placement closed and debit note issued to the cedant. Screen: Reinsurance › Close &amp; debit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Reinsurance step 6: Treaty register and cessions with capacity monitoring. Screen: Reinsurance › Treaties &amp; cessions.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Submitted Policies. Source: Submitted Policies_Process Flow.pdf. Masterlist validation, matching and consolidation, adequacy review with IAAF findings, and hand-off to sanitation 150 days from expiry.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Submitted Policies step 1: Masterlist upload from the bank / insurer for validation and matching. Screen: Submitted Policies › Masterlist batches.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Submitted Policies step 2: Rows validated, matched and consolidated; each reviewed for adequacy. Screen: Submitted Policies › Masterlist batches › Run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Submitted Policies step 3: Findings recorded and an Insurance Adequacy Assessment Form (IAAF) issued. Screen: Submitted Policies › Findings → IAAF.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Submitted Policies step 4: Policies 150 days from expiry sent to the sanitation handler for renewal / conversion opportunity. Screen: Submitted Policies › Expiring (150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Benefits. Source: EMPLOYEE BENEFITS - Process Flow.pdf. Renewal advice, BOR, TOR with master list and utilisation released to insurers, comparative analysis, award with ISACOM for non-accredited providers,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Benefits step 1: Prospect scheme created from the renewal advice. Screen: Employee Benefits › Create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Benefits step 2: Broker of Record received, Terms of Reference prepared, member census uploaded. Screen: Employee Benefits › Scheme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Benefits step 3: TOR, master list and utilisation released to insurers (franchise). Screen: Employee Benefits › Release TOR to insurers.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Benefits step 4: Comparative analysis of proposals: premium, benefits and capabilities. Screen: Employee Benefits ›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 Benefits step 5: Client confirmation and award; ISACOM approval when the provider is not accredited; handoff to processing and collections. Screen: Employee Benefits › Award.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Source: PRODUCT MAINTENANCE TSU PROCESS_0709.pdf. Technical Services Unit request for non-packaged risks: completeness and duplicate check, quotation slip, TL approval, RI referral, insurer responses, comparative table and proposal slip; package maintenance with release advisory.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1: PRF / TSU request for a non-packaged risk with completeness and duplicate check. Screen: Product Maintenance › TSU requests ›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2: TSU acknowledges the request (or returns it as incomplete). Screen: Product Maintenance › TSU requests › Acknowledge.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3: Quotation slip prepared and approved by the TL. Screen: Product Maintenance › TSU detail › TL approve QS.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4: RI referral cleared; quotation slip sent to insurers. Screen: Product Maintenance › TSU detail › Send QS to insurers.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5: Insurer responses recorded (accepted with evidence / declined / conditional); comparative table ready. Screen: Product Maintenance › TSU detail › Comparative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6: Proposal slip approved with the selected insurer; released to marketing and the client. Screen: Product Maintenance › TSU detail › Approve proposal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7: Packaged product catalogue with rates, taxes and limits. Screen: Product Maintenance ›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8: Package maintenance request raised for validation and approval. Screen: Product Maintenance › Packages › Change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9: Approver validates the product change. Screen: Approvals &amp; Audit ›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10: Change applied and a release advisory published. Screen: Approvals &amp; Audit ›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Maintenance (TSU) step 11: Insurer panel with accreditation and SFTP enrolment for placement channels. Screen: Product Maintenance › Insurers.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open the application and how to regenerate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jp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jp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jp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jp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jp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jp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jp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jp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jp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jp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jp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jp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548640"/>
            <a:ext cx="3291840" cy="868680"/>
          </a:xfrm>
          <a:prstGeom prst="roundRect">
            <a:avLst>
              <a:gd name="adj" fmla="val 12632"/>
            </a:avLst>
          </a:prstGeom>
          <a:solidFill>
            <a:srgbClr val="FFFFFF"/>
          </a:solidFill>
          <a:ln w="12700">
            <a:solidFill>
              <a:srgbClr val="FFFFFF"/>
            </a:solidFill>
            <a:prstDash val="solid"/>
          </a:ln>
        </p:spPr>
      </p:sp>
      <p:pic>
        <p:nvPicPr>
          <p:cNvPr id="3" name="Image 0" descr="bdo-insure.png">    </p:cNvPr>
          <p:cNvPicPr>
            <a:picLocks noChangeAspect="1"/>
          </p:cNvPicPr>
          <p:nvPr/>
        </p:nvPicPr>
        <p:blipFill>
          <a:blip r:embed="rId1"/>
          <a:stretch>
            <a:fillRect/>
          </a:stretch>
        </p:blipFill>
        <p:spPr>
          <a:xfrm>
            <a:off x="822960" y="685800"/>
            <a:ext cx="2926080" cy="585216"/>
          </a:xfrm>
          <a:prstGeom prst="rect">
            <a:avLst/>
          </a:prstGeom>
        </p:spPr>
      </p:pic>
      <p:sp>
        <p:nvSpPr>
          <p:cNvPr id="4" name="Text 1"/>
          <p:cNvSpPr txBox="1"/>
          <p:nvPr/>
        </p:nvSpPr>
        <p:spPr>
          <a:xfrm>
            <a:off x="640080" y="2011680"/>
            <a:ext cx="10972800" cy="640080"/>
          </a:xfrm>
          <a:prstGeom prst="rect">
            <a:avLst/>
          </a:prstGeom>
          <a:noFill/>
          <a:ln/>
        </p:spPr>
        <p:txBody>
          <a:bodyPr wrap="square" lIns="0" tIns="0" rIns="0" bIns="0" rtlCol="0" anchor="ctr"/>
          <a:lstStyle/>
          <a:p>
            <a:pPr indent="0" marL="0">
              <a:buNone/>
            </a:pPr>
            <a:r>
              <a:rPr lang="en-US" sz="2200" b="1" dirty="0">
                <a:solidFill>
                  <a:srgbClr val="FFC400"/>
                </a:solidFill>
                <a:latin typeface="Calibri" pitchFamily="34" charset="0"/>
                <a:ea typeface="Calibri" pitchFamily="34" charset="-122"/>
                <a:cs typeface="Calibri" pitchFamily="34" charset="-120"/>
              </a:rPr>
              <a:t>BrokerVerse</a:t>
            </a:r>
            <a:endParaRPr lang="en-US" sz="2200" dirty="0"/>
          </a:p>
        </p:txBody>
      </p:sp>
      <p:sp>
        <p:nvSpPr>
          <p:cNvPr id="5" name="Text 2"/>
          <p:cNvSpPr txBox="1"/>
          <p:nvPr/>
        </p:nvSpPr>
        <p:spPr>
          <a:xfrm>
            <a:off x="640080" y="2606040"/>
            <a:ext cx="105156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Process Flow to Screen Walkthrough</a:t>
            </a:r>
            <a:endParaRPr lang="en-US" sz="4400" dirty="0"/>
          </a:p>
        </p:txBody>
      </p:sp>
      <p:sp>
        <p:nvSpPr>
          <p:cNvPr id="6" name="Text 3"/>
          <p:cNvSpPr txBox="1"/>
          <p:nvPr/>
        </p:nvSpPr>
        <p:spPr>
          <a:xfrm>
            <a:off x="640080" y="3886200"/>
            <a:ext cx="7863840" cy="10058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Every step of the 16 signed-off BDOI process flows, shown against the BrokerVerse screen that performs it. 111 screens captured from the running platform with the responsible personas.</a:t>
            </a:r>
            <a:endParaRPr lang="en-US" sz="1600" dirty="0"/>
          </a:p>
        </p:txBody>
      </p:sp>
      <p:sp>
        <p:nvSpPr>
          <p:cNvPr id="7" name="Text 4"/>
          <p:cNvSpPr txBox="1"/>
          <p:nvPr/>
        </p:nvSpPr>
        <p:spPr>
          <a:xfrm>
            <a:off x="640080" y="5623560"/>
            <a:ext cx="64008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BDO Insurance &amp; Reinsurance Brokers  ·  captured 2026-09-23</a:t>
            </a:r>
            <a:endParaRPr lang="en-US" sz="1200" dirty="0"/>
          </a:p>
        </p:txBody>
      </p:sp>
      <p:sp>
        <p:nvSpPr>
          <p:cNvPr id="8" name="Shape 5"/>
          <p:cNvSpPr/>
          <p:nvPr/>
        </p:nvSpPr>
        <p:spPr>
          <a:xfrm>
            <a:off x="9052560" y="5349240"/>
            <a:ext cx="2514600" cy="914400"/>
          </a:xfrm>
          <a:prstGeom prst="roundRect">
            <a:avLst>
              <a:gd name="adj" fmla="val 10000"/>
            </a:avLst>
          </a:prstGeom>
          <a:solidFill>
            <a:srgbClr val="FFFFFF"/>
          </a:solidFill>
          <a:ln w="12700">
            <a:solidFill>
              <a:srgbClr val="FFFFFF"/>
            </a:solidFill>
            <a:prstDash val="solid"/>
          </a:ln>
        </p:spPr>
      </p:sp>
      <p:sp>
        <p:nvSpPr>
          <p:cNvPr id="9" name="Text 6"/>
          <p:cNvSpPr txBox="1"/>
          <p:nvPr/>
        </p:nvSpPr>
        <p:spPr>
          <a:xfrm>
            <a:off x="9144000" y="5394960"/>
            <a:ext cx="2286000" cy="22860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delivered by</a:t>
            </a:r>
            <a:endParaRPr lang="en-US" sz="900" dirty="0"/>
          </a:p>
        </p:txBody>
      </p:sp>
      <p:pic>
        <p:nvPicPr>
          <p:cNvPr id="10" name="Image 1" descr="/home/user/Brokerverse/web/public/iorta-technxt-logo.png">    </p:cNvPr>
          <p:cNvPicPr>
            <a:picLocks noChangeAspect="1"/>
          </p:cNvPicPr>
          <p:nvPr/>
        </p:nvPicPr>
        <p:blipFill>
          <a:blip r:embed="rId2"/>
          <a:stretch>
            <a:fillRect/>
          </a:stretch>
        </p:blipFill>
        <p:spPr>
          <a:xfrm>
            <a:off x="9189720" y="5596128"/>
            <a:ext cx="2011680" cy="6035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7315200" cy="731520"/>
          </a:xfrm>
          <a:prstGeom prst="rect">
            <a:avLst/>
          </a:prstGeom>
          <a:noFill/>
          <a:ln/>
        </p:spPr>
        <p:txBody>
          <a:bodyPr wrap="square" lIns="0" tIns="0" rIns="0" bIns="0" rtlCol="0" anchor="ctr"/>
          <a:lstStyle/>
          <a:p>
            <a:pPr indent="0" marL="0">
              <a:buNone/>
            </a:pPr>
            <a:r>
              <a:rPr lang="en-US" sz="3600" b="1" dirty="0">
                <a:solidFill>
                  <a:srgbClr val="002B7F"/>
                </a:solidFill>
                <a:latin typeface="Cambria" pitchFamily="34" charset="0"/>
                <a:ea typeface="Cambria" pitchFamily="34" charset="-122"/>
                <a:cs typeface="Cambria" pitchFamily="34" charset="-120"/>
              </a:rPr>
              <a:t>About this walkthrough</a:t>
            </a:r>
            <a:endParaRPr lang="en-US" sz="3600" dirty="0"/>
          </a:p>
        </p:txBody>
      </p:sp>
      <p:sp>
        <p:nvSpPr>
          <p:cNvPr id="3" name="Text 1"/>
          <p:cNvSpPr txBox="1"/>
          <p:nvPr/>
        </p:nvSpPr>
        <p:spPr>
          <a:xfrm>
            <a:off x="457200" y="1371600"/>
            <a:ext cx="6035040" cy="4754880"/>
          </a:xfrm>
          <a:prstGeom prst="rect">
            <a:avLst/>
          </a:prstGeom>
          <a:noFill/>
          <a:ln/>
        </p:spPr>
        <p:txBody>
          <a:bodyPr wrap="square" lIns="0" tIns="0" rIns="0" bIns="0" rtlCol="0" anchor="t"/>
          <a:lstStyle/>
          <a:p>
            <a:pPr indent="0" marL="0">
              <a:buNone/>
            </a:pPr>
            <a:r>
              <a:rPr lang="en-US" sz="1400" b="1" dirty="0">
                <a:solidFill>
                  <a:srgbClr val="002B7F"/>
                </a:solidFill>
                <a:latin typeface="Calibri" pitchFamily="34" charset="0"/>
                <a:ea typeface="Calibri" pitchFamily="34" charset="-122"/>
                <a:cs typeface="Calibri" pitchFamily="34" charset="-120"/>
              </a:rPr>
              <a:t>What it shows</a:t>
            </a:r>
            <a:endParaRPr lang="en-US" sz="1400" dirty="0"/>
          </a:p>
          <a:p>
            <a:pPr indent="0" marL="0">
              <a:spcAft>
                <a:spcPts val="1000"/>
              </a:spcAft>
              <a:buNone/>
            </a:pPr>
            <a:r>
              <a:rPr lang="en-US" sz="1400" dirty="0">
                <a:solidFill>
                  <a:srgbClr val="14213D"/>
                </a:solidFill>
                <a:latin typeface="Calibri" pitchFamily="34" charset="0"/>
                <a:ea typeface="Calibri" pitchFamily="34" charset="-122"/>
                <a:cs typeface="Calibri" pitchFamily="34" charset="-120"/>
              </a:rPr>
              <a:t>One section per process flow in HL_Process_Overview. Each step of the flow sits beside the menu, tab and action in BrokerVerse that performs it.</a:t>
            </a:r>
            <a:endParaRPr lang="en-US" sz="1400" dirty="0"/>
          </a:p>
          <a:p>
            <a:pPr indent="0" marL="0">
              <a:buNone/>
            </a:pPr>
            <a:r>
              <a:rPr lang="en-US" sz="1400" b="1" dirty="0">
                <a:solidFill>
                  <a:srgbClr val="002B7F"/>
                </a:solidFill>
                <a:latin typeface="Calibri" pitchFamily="34" charset="0"/>
                <a:ea typeface="Calibri" pitchFamily="34" charset="-122"/>
                <a:cs typeface="Calibri" pitchFamily="34" charset="-120"/>
              </a:rPr>
              <a:t>How the screens were made</a:t>
            </a:r>
            <a:endParaRPr lang="en-US" sz="1400" dirty="0"/>
          </a:p>
          <a:p>
            <a:pPr indent="0" marL="0">
              <a:spcAft>
                <a:spcPts val="1000"/>
              </a:spcAft>
              <a:buNone/>
            </a:pPr>
            <a:r>
              <a:rPr lang="en-US" sz="1400" dirty="0">
                <a:solidFill>
                  <a:srgbClr val="14213D"/>
                </a:solidFill>
                <a:latin typeface="Calibri" pitchFamily="34" charset="0"/>
                <a:ea typeface="Calibri" pitchFamily="34" charset="-122"/>
                <a:cs typeface="Calibri" pitchFamily="34" charset="-120"/>
              </a:rPr>
              <a:t>A browser script ran every process for real on the platform, signing in as the persona the flow prescribes at each step: the NB officer quoting and the Underwriting Head approving, the cashier receiving and the Finance Head releasing the disbursement. Nothing is a mock-up.</a:t>
            </a:r>
            <a:endParaRPr lang="en-US" sz="1400" dirty="0"/>
          </a:p>
          <a:p>
            <a:pPr indent="0" marL="0">
              <a:buNone/>
            </a:pPr>
            <a:r>
              <a:rPr lang="en-US" sz="1400" b="1" dirty="0">
                <a:solidFill>
                  <a:srgbClr val="002B7F"/>
                </a:solidFill>
                <a:latin typeface="Calibri" pitchFamily="34" charset="0"/>
                <a:ea typeface="Calibri" pitchFamily="34" charset="-122"/>
                <a:cs typeface="Calibri" pitchFamily="34" charset="-120"/>
              </a:rPr>
              <a:t>Controls that surfaced while capturing</a:t>
            </a:r>
            <a:endParaRPr lang="en-US" sz="1400" dirty="0"/>
          </a:p>
          <a:p>
            <a:pPr indent="0" marL="0">
              <a:spcAft>
                <a:spcPts val="1000"/>
              </a:spcAft>
              <a:buNone/>
            </a:pPr>
            <a:r>
              <a:rPr lang="en-US" sz="1400" dirty="0">
                <a:solidFill>
                  <a:srgbClr val="14213D"/>
                </a:solidFill>
                <a:latin typeface="Calibri" pitchFamily="34" charset="0"/>
                <a:ea typeface="Calibri" pitchFamily="34" charset="-122"/>
                <a:cs typeface="Calibri" pitchFamily="34" charset="-120"/>
              </a:rPr>
              <a:t>A held cheque cannot be matured before its four-day clearing date, and a cancellation endorsement blocks any later claim on that policy. Both are the intended controls.</a:t>
            </a:r>
            <a:endParaRPr lang="en-US" sz="1400" dirty="0"/>
          </a:p>
          <a:p>
            <a:pPr indent="0" marL="0">
              <a:buNone/>
            </a:pPr>
            <a:r>
              <a:rPr lang="en-US" sz="1400" b="1" dirty="0">
                <a:solidFill>
                  <a:srgbClr val="002B7F"/>
                </a:solidFill>
                <a:latin typeface="Calibri" pitchFamily="34" charset="0"/>
                <a:ea typeface="Calibri" pitchFamily="34" charset="-122"/>
                <a:cs typeface="Calibri" pitchFamily="34" charset="-120"/>
              </a:rPr>
              <a:t>Data</a:t>
            </a:r>
            <a:endParaRPr lang="en-US" sz="1400" dirty="0"/>
          </a:p>
          <a:p>
            <a:pPr indent="0" marL="0">
              <a:buNone/>
            </a:pPr>
            <a:r>
              <a:rPr lang="en-US" sz="1400" dirty="0">
                <a:solidFill>
                  <a:srgbClr val="14213D"/>
                </a:solidFill>
                <a:latin typeface="Calibri" pitchFamily="34" charset="0"/>
                <a:ea typeface="Calibri" pitchFamily="34" charset="-122"/>
                <a:cs typeface="Calibri" pitchFamily="34" charset="-120"/>
              </a:rPr>
              <a:t>All names and amounts are sample records from the demo seed.</a:t>
            </a:r>
            <a:endParaRPr lang="en-US" sz="1400" dirty="0"/>
          </a:p>
        </p:txBody>
      </p:sp>
      <p:sp>
        <p:nvSpPr>
          <p:cNvPr id="4" name="Shape 2"/>
          <p:cNvSpPr/>
          <p:nvPr/>
        </p:nvSpPr>
        <p:spPr>
          <a:xfrm>
            <a:off x="7040880" y="1463040"/>
            <a:ext cx="2240280" cy="1920240"/>
          </a:xfrm>
          <a:prstGeom prst="roundRect">
            <a:avLst>
              <a:gd name="adj" fmla="val 4762"/>
            </a:avLst>
          </a:prstGeom>
          <a:solidFill>
            <a:srgbClr val="F5F7FB"/>
          </a:solidFill>
          <a:ln w="12700">
            <a:solidFill>
              <a:srgbClr val="D9DFEA"/>
            </a:solidFill>
            <a:prstDash val="solid"/>
          </a:ln>
        </p:spPr>
      </p:sp>
      <p:sp>
        <p:nvSpPr>
          <p:cNvPr id="5" name="Text 3"/>
          <p:cNvSpPr txBox="1"/>
          <p:nvPr/>
        </p:nvSpPr>
        <p:spPr>
          <a:xfrm>
            <a:off x="7040880" y="1737360"/>
            <a:ext cx="2240280" cy="914400"/>
          </a:xfrm>
          <a:prstGeom prst="rect">
            <a:avLst/>
          </a:prstGeom>
          <a:noFill/>
          <a:ln/>
        </p:spPr>
        <p:txBody>
          <a:bodyPr wrap="square" lIns="0" tIns="0" rIns="0" bIns="0" rtlCol="0" anchor="ctr"/>
          <a:lstStyle/>
          <a:p>
            <a:pPr algn="ctr" indent="0" marL="0">
              <a:buNone/>
            </a:pPr>
            <a:r>
              <a:rPr lang="en-US" sz="5400" b="1" dirty="0">
                <a:solidFill>
                  <a:srgbClr val="002B7F"/>
                </a:solidFill>
                <a:latin typeface="Cambria" pitchFamily="34" charset="0"/>
                <a:ea typeface="Cambria" pitchFamily="34" charset="-122"/>
                <a:cs typeface="Cambria" pitchFamily="34" charset="-120"/>
              </a:rPr>
              <a:t>16</a:t>
            </a:r>
            <a:endParaRPr lang="en-US" sz="5400" dirty="0"/>
          </a:p>
        </p:txBody>
      </p:sp>
      <p:sp>
        <p:nvSpPr>
          <p:cNvPr id="6" name="Text 4"/>
          <p:cNvSpPr txBox="1"/>
          <p:nvPr/>
        </p:nvSpPr>
        <p:spPr>
          <a:xfrm>
            <a:off x="7040880" y="2697480"/>
            <a:ext cx="2240280" cy="365760"/>
          </a:xfrm>
          <a:prstGeom prst="rect">
            <a:avLst/>
          </a:prstGeom>
          <a:noFill/>
          <a:ln/>
        </p:spPr>
        <p:txBody>
          <a:bodyPr wrap="square" lIns="0" tIns="0" rIns="0" bIns="0" rtlCol="0" anchor="ctr"/>
          <a:lstStyle/>
          <a:p>
            <a:pPr algn="ctr" indent="0" marL="0">
              <a:buNone/>
            </a:pPr>
            <a:r>
              <a:rPr lang="en-US" sz="1300" dirty="0">
                <a:solidFill>
                  <a:srgbClr val="5B6478"/>
                </a:solidFill>
                <a:latin typeface="Calibri" pitchFamily="34" charset="0"/>
                <a:ea typeface="Calibri" pitchFamily="34" charset="-122"/>
                <a:cs typeface="Calibri" pitchFamily="34" charset="-120"/>
              </a:rPr>
              <a:t>process flows</a:t>
            </a:r>
            <a:endParaRPr lang="en-US" sz="1300" dirty="0"/>
          </a:p>
        </p:txBody>
      </p:sp>
      <p:sp>
        <p:nvSpPr>
          <p:cNvPr id="7" name="Shape 5"/>
          <p:cNvSpPr/>
          <p:nvPr/>
        </p:nvSpPr>
        <p:spPr>
          <a:xfrm>
            <a:off x="9509760" y="1463040"/>
            <a:ext cx="2240280" cy="1920240"/>
          </a:xfrm>
          <a:prstGeom prst="roundRect">
            <a:avLst>
              <a:gd name="adj" fmla="val 4762"/>
            </a:avLst>
          </a:prstGeom>
          <a:solidFill>
            <a:srgbClr val="F5F7FB"/>
          </a:solidFill>
          <a:ln w="12700">
            <a:solidFill>
              <a:srgbClr val="D9DFEA"/>
            </a:solidFill>
            <a:prstDash val="solid"/>
          </a:ln>
        </p:spPr>
      </p:sp>
      <p:sp>
        <p:nvSpPr>
          <p:cNvPr id="8" name="Text 6"/>
          <p:cNvSpPr txBox="1"/>
          <p:nvPr/>
        </p:nvSpPr>
        <p:spPr>
          <a:xfrm>
            <a:off x="9509760" y="1737360"/>
            <a:ext cx="2240280" cy="914400"/>
          </a:xfrm>
          <a:prstGeom prst="rect">
            <a:avLst/>
          </a:prstGeom>
          <a:noFill/>
          <a:ln/>
        </p:spPr>
        <p:txBody>
          <a:bodyPr wrap="square" lIns="0" tIns="0" rIns="0" bIns="0" rtlCol="0" anchor="ctr"/>
          <a:lstStyle/>
          <a:p>
            <a:pPr algn="ctr" indent="0" marL="0">
              <a:buNone/>
            </a:pPr>
            <a:r>
              <a:rPr lang="en-US" sz="5400" b="1" dirty="0">
                <a:solidFill>
                  <a:srgbClr val="002B7F"/>
                </a:solidFill>
                <a:latin typeface="Cambria" pitchFamily="34" charset="0"/>
                <a:ea typeface="Cambria" pitchFamily="34" charset="-122"/>
                <a:cs typeface="Cambria" pitchFamily="34" charset="-120"/>
              </a:rPr>
              <a:t>111</a:t>
            </a:r>
            <a:endParaRPr lang="en-US" sz="5400" dirty="0"/>
          </a:p>
        </p:txBody>
      </p:sp>
      <p:sp>
        <p:nvSpPr>
          <p:cNvPr id="9" name="Text 7"/>
          <p:cNvSpPr txBox="1"/>
          <p:nvPr/>
        </p:nvSpPr>
        <p:spPr>
          <a:xfrm>
            <a:off x="9509760" y="2697480"/>
            <a:ext cx="2240280" cy="365760"/>
          </a:xfrm>
          <a:prstGeom prst="rect">
            <a:avLst/>
          </a:prstGeom>
          <a:noFill/>
          <a:ln/>
        </p:spPr>
        <p:txBody>
          <a:bodyPr wrap="square" lIns="0" tIns="0" rIns="0" bIns="0" rtlCol="0" anchor="ctr"/>
          <a:lstStyle/>
          <a:p>
            <a:pPr algn="ctr" indent="0" marL="0">
              <a:buNone/>
            </a:pPr>
            <a:r>
              <a:rPr lang="en-US" sz="1300" dirty="0">
                <a:solidFill>
                  <a:srgbClr val="5B6478"/>
                </a:solidFill>
                <a:latin typeface="Calibri" pitchFamily="34" charset="0"/>
                <a:ea typeface="Calibri" pitchFamily="34" charset="-122"/>
                <a:cs typeface="Calibri" pitchFamily="34" charset="-120"/>
              </a:rPr>
              <a:t>captured screens</a:t>
            </a:r>
            <a:endParaRPr lang="en-US" sz="1300" dirty="0"/>
          </a:p>
        </p:txBody>
      </p:sp>
      <p:sp>
        <p:nvSpPr>
          <p:cNvPr id="10" name="Shape 8"/>
          <p:cNvSpPr/>
          <p:nvPr/>
        </p:nvSpPr>
        <p:spPr>
          <a:xfrm>
            <a:off x="7040880" y="3657600"/>
            <a:ext cx="2240280" cy="1920240"/>
          </a:xfrm>
          <a:prstGeom prst="roundRect">
            <a:avLst>
              <a:gd name="adj" fmla="val 4762"/>
            </a:avLst>
          </a:prstGeom>
          <a:solidFill>
            <a:srgbClr val="F5F7FB"/>
          </a:solidFill>
          <a:ln w="12700">
            <a:solidFill>
              <a:srgbClr val="D9DFEA"/>
            </a:solidFill>
            <a:prstDash val="solid"/>
          </a:ln>
        </p:spPr>
      </p:sp>
      <p:sp>
        <p:nvSpPr>
          <p:cNvPr id="11" name="Text 9"/>
          <p:cNvSpPr txBox="1"/>
          <p:nvPr/>
        </p:nvSpPr>
        <p:spPr>
          <a:xfrm>
            <a:off x="7040880" y="3931920"/>
            <a:ext cx="2240280" cy="914400"/>
          </a:xfrm>
          <a:prstGeom prst="rect">
            <a:avLst/>
          </a:prstGeom>
          <a:noFill/>
          <a:ln/>
        </p:spPr>
        <p:txBody>
          <a:bodyPr wrap="square" lIns="0" tIns="0" rIns="0" bIns="0" rtlCol="0" anchor="ctr"/>
          <a:lstStyle/>
          <a:p>
            <a:pPr algn="ctr" indent="0" marL="0">
              <a:buNone/>
            </a:pPr>
            <a:r>
              <a:rPr lang="en-US" sz="5400" b="1" dirty="0">
                <a:solidFill>
                  <a:srgbClr val="002B7F"/>
                </a:solidFill>
                <a:latin typeface="Cambria" pitchFamily="34" charset="0"/>
                <a:ea typeface="Cambria" pitchFamily="34" charset="-122"/>
                <a:cs typeface="Cambria" pitchFamily="34" charset="-120"/>
              </a:rPr>
              <a:t>12</a:t>
            </a:r>
            <a:endParaRPr lang="en-US" sz="5400" dirty="0"/>
          </a:p>
        </p:txBody>
      </p:sp>
      <p:sp>
        <p:nvSpPr>
          <p:cNvPr id="12" name="Text 10"/>
          <p:cNvSpPr txBox="1"/>
          <p:nvPr/>
        </p:nvSpPr>
        <p:spPr>
          <a:xfrm>
            <a:off x="7040880" y="4892040"/>
            <a:ext cx="2240280" cy="365760"/>
          </a:xfrm>
          <a:prstGeom prst="rect">
            <a:avLst/>
          </a:prstGeom>
          <a:noFill/>
          <a:ln/>
        </p:spPr>
        <p:txBody>
          <a:bodyPr wrap="square" lIns="0" tIns="0" rIns="0" bIns="0" rtlCol="0" anchor="ctr"/>
          <a:lstStyle/>
          <a:p>
            <a:pPr algn="ctr" indent="0" marL="0">
              <a:buNone/>
            </a:pPr>
            <a:r>
              <a:rPr lang="en-US" sz="1300" dirty="0">
                <a:solidFill>
                  <a:srgbClr val="5B6478"/>
                </a:solidFill>
                <a:latin typeface="Calibri" pitchFamily="34" charset="0"/>
                <a:ea typeface="Calibri" pitchFamily="34" charset="-122"/>
                <a:cs typeface="Calibri" pitchFamily="34" charset="-120"/>
              </a:rPr>
              <a:t>personas signed in</a:t>
            </a:r>
            <a:endParaRPr lang="en-US" sz="1300" dirty="0"/>
          </a:p>
        </p:txBody>
      </p:sp>
      <p:sp>
        <p:nvSpPr>
          <p:cNvPr id="13" name="Shape 11"/>
          <p:cNvSpPr/>
          <p:nvPr/>
        </p:nvSpPr>
        <p:spPr>
          <a:xfrm>
            <a:off x="9509760" y="3657600"/>
            <a:ext cx="2240280" cy="1920240"/>
          </a:xfrm>
          <a:prstGeom prst="roundRect">
            <a:avLst>
              <a:gd name="adj" fmla="val 4762"/>
            </a:avLst>
          </a:prstGeom>
          <a:solidFill>
            <a:srgbClr val="F5F7FB"/>
          </a:solidFill>
          <a:ln w="12700">
            <a:solidFill>
              <a:srgbClr val="D9DFEA"/>
            </a:solidFill>
            <a:prstDash val="solid"/>
          </a:ln>
        </p:spPr>
      </p:sp>
      <p:sp>
        <p:nvSpPr>
          <p:cNvPr id="14" name="Text 12"/>
          <p:cNvSpPr txBox="1"/>
          <p:nvPr/>
        </p:nvSpPr>
        <p:spPr>
          <a:xfrm>
            <a:off x="9509760" y="3931920"/>
            <a:ext cx="2240280" cy="914400"/>
          </a:xfrm>
          <a:prstGeom prst="rect">
            <a:avLst/>
          </a:prstGeom>
          <a:noFill/>
          <a:ln/>
        </p:spPr>
        <p:txBody>
          <a:bodyPr wrap="square" lIns="0" tIns="0" rIns="0" bIns="0" rtlCol="0" anchor="ctr"/>
          <a:lstStyle/>
          <a:p>
            <a:pPr algn="ctr" indent="0" marL="0">
              <a:buNone/>
            </a:pPr>
            <a:r>
              <a:rPr lang="en-US" sz="5400" b="1" dirty="0">
                <a:solidFill>
                  <a:srgbClr val="002B7F"/>
                </a:solidFill>
                <a:latin typeface="Cambria" pitchFamily="34" charset="0"/>
                <a:ea typeface="Cambria" pitchFamily="34" charset="-122"/>
                <a:cs typeface="Cambria" pitchFamily="34" charset="-120"/>
              </a:rPr>
              <a:t>0</a:t>
            </a:r>
            <a:endParaRPr lang="en-US" sz="5400" dirty="0"/>
          </a:p>
        </p:txBody>
      </p:sp>
      <p:sp>
        <p:nvSpPr>
          <p:cNvPr id="15" name="Text 13"/>
          <p:cNvSpPr txBox="1"/>
          <p:nvPr/>
        </p:nvSpPr>
        <p:spPr>
          <a:xfrm>
            <a:off x="9509760" y="4892040"/>
            <a:ext cx="2240280" cy="365760"/>
          </a:xfrm>
          <a:prstGeom prst="rect">
            <a:avLst/>
          </a:prstGeom>
          <a:noFill/>
          <a:ln/>
        </p:spPr>
        <p:txBody>
          <a:bodyPr wrap="square" lIns="0" tIns="0" rIns="0" bIns="0" rtlCol="0" anchor="ctr"/>
          <a:lstStyle/>
          <a:p>
            <a:pPr algn="ctr" indent="0" marL="0">
              <a:buNone/>
            </a:pPr>
            <a:r>
              <a:rPr lang="en-US" sz="1300" dirty="0">
                <a:solidFill>
                  <a:srgbClr val="5B6478"/>
                </a:solidFill>
                <a:latin typeface="Calibri" pitchFamily="34" charset="0"/>
                <a:ea typeface="Calibri" pitchFamily="34" charset="-122"/>
                <a:cs typeface="Calibri" pitchFamily="34" charset="-120"/>
              </a:rPr>
              <a:t>capture errors</a:t>
            </a:r>
            <a:endParaRPr lang="en-US" sz="1300" dirty="0"/>
          </a:p>
        </p:txBody>
      </p:sp>
      <p:sp>
        <p:nvSpPr>
          <p:cNvPr id="16" name="Text 1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7" name="Text 15"/>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11480"/>
            <a:ext cx="9144000" cy="731520"/>
          </a:xfrm>
          <a:prstGeom prst="rect">
            <a:avLst/>
          </a:prstGeom>
          <a:noFill/>
          <a:ln/>
        </p:spPr>
        <p:txBody>
          <a:bodyPr wrap="square" lIns="0" tIns="0" rIns="0" bIns="0" rtlCol="0" anchor="ctr"/>
          <a:lstStyle/>
          <a:p>
            <a:pPr indent="0" marL="0">
              <a:buNone/>
            </a:pPr>
            <a:r>
              <a:rPr lang="en-US" sz="3600" b="1" dirty="0">
                <a:solidFill>
                  <a:srgbClr val="002B7F"/>
                </a:solidFill>
                <a:latin typeface="Cambria" pitchFamily="34" charset="0"/>
                <a:ea typeface="Cambria" pitchFamily="34" charset="-122"/>
                <a:cs typeface="Cambria" pitchFamily="34" charset="-120"/>
              </a:rPr>
              <a:t>The sixteen process flows</a:t>
            </a:r>
            <a:endParaRPr lang="en-US" sz="3600" dirty="0"/>
          </a:p>
        </p:txBody>
      </p:sp>
      <p:sp>
        <p:nvSpPr>
          <p:cNvPr id="3" name="Shape 1"/>
          <p:cNvSpPr/>
          <p:nvPr/>
        </p:nvSpPr>
        <p:spPr>
          <a:xfrm>
            <a:off x="457200" y="1444752"/>
            <a:ext cx="384048" cy="384048"/>
          </a:xfrm>
          <a:prstGeom prst="ellipse">
            <a:avLst/>
          </a:prstGeom>
          <a:solidFill>
            <a:srgbClr val="FFC400"/>
          </a:solidFill>
          <a:ln w="12700">
            <a:solidFill>
              <a:srgbClr val="FFC400"/>
            </a:solidFill>
            <a:prstDash val="solid"/>
          </a:ln>
        </p:spPr>
      </p:sp>
      <p:sp>
        <p:nvSpPr>
          <p:cNvPr id="4" name="Text 2"/>
          <p:cNvSpPr txBox="1"/>
          <p:nvPr/>
        </p:nvSpPr>
        <p:spPr>
          <a:xfrm>
            <a:off x="457200" y="1444752"/>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01</a:t>
            </a:r>
            <a:endParaRPr lang="en-US" sz="1200" dirty="0"/>
          </a:p>
        </p:txBody>
      </p:sp>
      <p:sp>
        <p:nvSpPr>
          <p:cNvPr id="5" name="Text 3"/>
          <p:cNvSpPr txBox="1"/>
          <p:nvPr/>
        </p:nvSpPr>
        <p:spPr>
          <a:xfrm>
            <a:off x="1005840" y="1371600"/>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BDOIR End-to-End</a:t>
            </a:r>
            <a:endParaRPr lang="en-US" sz="1500" dirty="0"/>
          </a:p>
        </p:txBody>
      </p:sp>
      <p:sp>
        <p:nvSpPr>
          <p:cNvPr id="6" name="Text 4"/>
          <p:cNvSpPr txBox="1"/>
          <p:nvPr/>
        </p:nvSpPr>
        <p:spPr>
          <a:xfrm>
            <a:off x="4937760" y="1371600"/>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6 screens</a:t>
            </a:r>
            <a:endParaRPr lang="en-US" sz="1100" dirty="0"/>
          </a:p>
        </p:txBody>
      </p:sp>
      <p:sp>
        <p:nvSpPr>
          <p:cNvPr id="7" name="Shape 5"/>
          <p:cNvSpPr/>
          <p:nvPr/>
        </p:nvSpPr>
        <p:spPr>
          <a:xfrm>
            <a:off x="457200" y="2048256"/>
            <a:ext cx="384048" cy="384048"/>
          </a:xfrm>
          <a:prstGeom prst="ellipse">
            <a:avLst/>
          </a:prstGeom>
          <a:solidFill>
            <a:srgbClr val="FFC400"/>
          </a:solidFill>
          <a:ln w="12700">
            <a:solidFill>
              <a:srgbClr val="FFC400"/>
            </a:solidFill>
            <a:prstDash val="solid"/>
          </a:ln>
        </p:spPr>
      </p:sp>
      <p:sp>
        <p:nvSpPr>
          <p:cNvPr id="8" name="Text 6"/>
          <p:cNvSpPr txBox="1"/>
          <p:nvPr/>
        </p:nvSpPr>
        <p:spPr>
          <a:xfrm>
            <a:off x="457200" y="2048256"/>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005840" y="1975104"/>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New Business</a:t>
            </a:r>
            <a:endParaRPr lang="en-US" sz="1500" dirty="0"/>
          </a:p>
        </p:txBody>
      </p:sp>
      <p:sp>
        <p:nvSpPr>
          <p:cNvPr id="10" name="Text 8"/>
          <p:cNvSpPr txBox="1"/>
          <p:nvPr/>
        </p:nvSpPr>
        <p:spPr>
          <a:xfrm>
            <a:off x="4937760" y="1975104"/>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14 screens</a:t>
            </a:r>
            <a:endParaRPr lang="en-US" sz="1100" dirty="0"/>
          </a:p>
        </p:txBody>
      </p:sp>
      <p:sp>
        <p:nvSpPr>
          <p:cNvPr id="11" name="Shape 9"/>
          <p:cNvSpPr/>
          <p:nvPr/>
        </p:nvSpPr>
        <p:spPr>
          <a:xfrm>
            <a:off x="457200" y="2651760"/>
            <a:ext cx="384048" cy="384048"/>
          </a:xfrm>
          <a:prstGeom prst="ellipse">
            <a:avLst/>
          </a:prstGeom>
          <a:solidFill>
            <a:srgbClr val="FFC400"/>
          </a:solidFill>
          <a:ln w="12700">
            <a:solidFill>
              <a:srgbClr val="FFC400"/>
            </a:solidFill>
            <a:prstDash val="solid"/>
          </a:ln>
        </p:spPr>
      </p:sp>
      <p:sp>
        <p:nvSpPr>
          <p:cNvPr id="12" name="Text 10"/>
          <p:cNvSpPr txBox="1"/>
          <p:nvPr/>
        </p:nvSpPr>
        <p:spPr>
          <a:xfrm>
            <a:off x="457200" y="2651760"/>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03</a:t>
            </a:r>
            <a:endParaRPr lang="en-US" sz="1200" dirty="0"/>
          </a:p>
        </p:txBody>
      </p:sp>
      <p:sp>
        <p:nvSpPr>
          <p:cNvPr id="13" name="Text 11"/>
          <p:cNvSpPr txBox="1"/>
          <p:nvPr/>
        </p:nvSpPr>
        <p:spPr>
          <a:xfrm>
            <a:off x="1005840" y="2578608"/>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Operations</a:t>
            </a:r>
            <a:endParaRPr lang="en-US" sz="1500" dirty="0"/>
          </a:p>
        </p:txBody>
      </p:sp>
      <p:sp>
        <p:nvSpPr>
          <p:cNvPr id="14" name="Text 12"/>
          <p:cNvSpPr txBox="1"/>
          <p:nvPr/>
        </p:nvSpPr>
        <p:spPr>
          <a:xfrm>
            <a:off x="4937760" y="2578608"/>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17 screens</a:t>
            </a:r>
            <a:endParaRPr lang="en-US" sz="1100" dirty="0"/>
          </a:p>
        </p:txBody>
      </p:sp>
      <p:sp>
        <p:nvSpPr>
          <p:cNvPr id="15" name="Shape 13"/>
          <p:cNvSpPr/>
          <p:nvPr/>
        </p:nvSpPr>
        <p:spPr>
          <a:xfrm>
            <a:off x="457200" y="3255264"/>
            <a:ext cx="384048" cy="384048"/>
          </a:xfrm>
          <a:prstGeom prst="ellipse">
            <a:avLst/>
          </a:prstGeom>
          <a:solidFill>
            <a:srgbClr val="FFC400"/>
          </a:solidFill>
          <a:ln w="12700">
            <a:solidFill>
              <a:srgbClr val="FFC400"/>
            </a:solidFill>
            <a:prstDash val="solid"/>
          </a:ln>
        </p:spPr>
      </p:sp>
      <p:sp>
        <p:nvSpPr>
          <p:cNvPr id="16" name="Text 14"/>
          <p:cNvSpPr txBox="1"/>
          <p:nvPr/>
        </p:nvSpPr>
        <p:spPr>
          <a:xfrm>
            <a:off x="457200" y="3255264"/>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005840" y="3182112"/>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Marketing Collections</a:t>
            </a:r>
            <a:endParaRPr lang="en-US" sz="1500" dirty="0"/>
          </a:p>
        </p:txBody>
      </p:sp>
      <p:sp>
        <p:nvSpPr>
          <p:cNvPr id="18" name="Text 16"/>
          <p:cNvSpPr txBox="1"/>
          <p:nvPr/>
        </p:nvSpPr>
        <p:spPr>
          <a:xfrm>
            <a:off x="4937760" y="3182112"/>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8 screens</a:t>
            </a:r>
            <a:endParaRPr lang="en-US" sz="1100" dirty="0"/>
          </a:p>
        </p:txBody>
      </p:sp>
      <p:sp>
        <p:nvSpPr>
          <p:cNvPr id="19" name="Shape 17"/>
          <p:cNvSpPr/>
          <p:nvPr/>
        </p:nvSpPr>
        <p:spPr>
          <a:xfrm>
            <a:off x="457200" y="3858768"/>
            <a:ext cx="384048" cy="384048"/>
          </a:xfrm>
          <a:prstGeom prst="ellipse">
            <a:avLst/>
          </a:prstGeom>
          <a:solidFill>
            <a:srgbClr val="FFC400"/>
          </a:solidFill>
          <a:ln w="12700">
            <a:solidFill>
              <a:srgbClr val="FFC400"/>
            </a:solidFill>
            <a:prstDash val="solid"/>
          </a:ln>
        </p:spPr>
      </p:sp>
      <p:sp>
        <p:nvSpPr>
          <p:cNvPr id="20" name="Text 18"/>
          <p:cNvSpPr txBox="1"/>
          <p:nvPr/>
        </p:nvSpPr>
        <p:spPr>
          <a:xfrm>
            <a:off x="457200" y="3858768"/>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05</a:t>
            </a:r>
            <a:endParaRPr lang="en-US" sz="1200" dirty="0"/>
          </a:p>
        </p:txBody>
      </p:sp>
      <p:sp>
        <p:nvSpPr>
          <p:cNvPr id="21" name="Text 19"/>
          <p:cNvSpPr txBox="1"/>
          <p:nvPr/>
        </p:nvSpPr>
        <p:spPr>
          <a:xfrm>
            <a:off x="1005840" y="3785616"/>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FRBS Accounting</a:t>
            </a:r>
            <a:endParaRPr lang="en-US" sz="1500" dirty="0"/>
          </a:p>
        </p:txBody>
      </p:sp>
      <p:sp>
        <p:nvSpPr>
          <p:cNvPr id="22" name="Text 20"/>
          <p:cNvSpPr txBox="1"/>
          <p:nvPr/>
        </p:nvSpPr>
        <p:spPr>
          <a:xfrm>
            <a:off x="4937760" y="3785616"/>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3 screens</a:t>
            </a:r>
            <a:endParaRPr lang="en-US" sz="1100" dirty="0"/>
          </a:p>
        </p:txBody>
      </p:sp>
      <p:sp>
        <p:nvSpPr>
          <p:cNvPr id="23" name="Shape 21"/>
          <p:cNvSpPr/>
          <p:nvPr/>
        </p:nvSpPr>
        <p:spPr>
          <a:xfrm>
            <a:off x="457200" y="4462272"/>
            <a:ext cx="384048" cy="384048"/>
          </a:xfrm>
          <a:prstGeom prst="ellipse">
            <a:avLst/>
          </a:prstGeom>
          <a:solidFill>
            <a:srgbClr val="FFC400"/>
          </a:solidFill>
          <a:ln w="12700">
            <a:solidFill>
              <a:srgbClr val="FFC400"/>
            </a:solidFill>
            <a:prstDash val="solid"/>
          </a:ln>
        </p:spPr>
      </p:sp>
      <p:sp>
        <p:nvSpPr>
          <p:cNvPr id="24" name="Text 22"/>
          <p:cNvSpPr txBox="1"/>
          <p:nvPr/>
        </p:nvSpPr>
        <p:spPr>
          <a:xfrm>
            <a:off x="457200" y="4462272"/>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06</a:t>
            </a:r>
            <a:endParaRPr lang="en-US" sz="1200" dirty="0"/>
          </a:p>
        </p:txBody>
      </p:sp>
      <p:sp>
        <p:nvSpPr>
          <p:cNvPr id="25" name="Text 23"/>
          <p:cNvSpPr txBox="1"/>
          <p:nvPr/>
        </p:nvSpPr>
        <p:spPr>
          <a:xfrm>
            <a:off x="1005840" y="4389120"/>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Disbursement</a:t>
            </a:r>
            <a:endParaRPr lang="en-US" sz="1500" dirty="0"/>
          </a:p>
        </p:txBody>
      </p:sp>
      <p:sp>
        <p:nvSpPr>
          <p:cNvPr id="26" name="Text 24"/>
          <p:cNvSpPr txBox="1"/>
          <p:nvPr/>
        </p:nvSpPr>
        <p:spPr>
          <a:xfrm>
            <a:off x="4937760" y="4389120"/>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7 screens</a:t>
            </a:r>
            <a:endParaRPr lang="en-US" sz="1100" dirty="0"/>
          </a:p>
        </p:txBody>
      </p:sp>
      <p:sp>
        <p:nvSpPr>
          <p:cNvPr id="27" name="Shape 25"/>
          <p:cNvSpPr/>
          <p:nvPr/>
        </p:nvSpPr>
        <p:spPr>
          <a:xfrm>
            <a:off x="457200" y="5065776"/>
            <a:ext cx="384048" cy="384048"/>
          </a:xfrm>
          <a:prstGeom prst="ellipse">
            <a:avLst/>
          </a:prstGeom>
          <a:solidFill>
            <a:srgbClr val="FFC400"/>
          </a:solidFill>
          <a:ln w="12700">
            <a:solidFill>
              <a:srgbClr val="FFC400"/>
            </a:solidFill>
            <a:prstDash val="solid"/>
          </a:ln>
        </p:spPr>
      </p:sp>
      <p:sp>
        <p:nvSpPr>
          <p:cNvPr id="28" name="Text 26"/>
          <p:cNvSpPr txBox="1"/>
          <p:nvPr/>
        </p:nvSpPr>
        <p:spPr>
          <a:xfrm>
            <a:off x="457200" y="5065776"/>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07</a:t>
            </a:r>
            <a:endParaRPr lang="en-US" sz="1200" dirty="0"/>
          </a:p>
        </p:txBody>
      </p:sp>
      <p:sp>
        <p:nvSpPr>
          <p:cNvPr id="29" name="Text 27"/>
          <p:cNvSpPr txBox="1"/>
          <p:nvPr/>
        </p:nvSpPr>
        <p:spPr>
          <a:xfrm>
            <a:off x="1005840" y="4992624"/>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Refund Request</a:t>
            </a:r>
            <a:endParaRPr lang="en-US" sz="1500" dirty="0"/>
          </a:p>
        </p:txBody>
      </p:sp>
      <p:sp>
        <p:nvSpPr>
          <p:cNvPr id="30" name="Text 28"/>
          <p:cNvSpPr txBox="1"/>
          <p:nvPr/>
        </p:nvSpPr>
        <p:spPr>
          <a:xfrm>
            <a:off x="4937760" y="4992624"/>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4 screens</a:t>
            </a:r>
            <a:endParaRPr lang="en-US" sz="1100" dirty="0"/>
          </a:p>
        </p:txBody>
      </p:sp>
      <p:sp>
        <p:nvSpPr>
          <p:cNvPr id="31" name="Shape 29"/>
          <p:cNvSpPr/>
          <p:nvPr/>
        </p:nvSpPr>
        <p:spPr>
          <a:xfrm>
            <a:off x="457200" y="5669280"/>
            <a:ext cx="384048" cy="384048"/>
          </a:xfrm>
          <a:prstGeom prst="ellipse">
            <a:avLst/>
          </a:prstGeom>
          <a:solidFill>
            <a:srgbClr val="FFC400"/>
          </a:solidFill>
          <a:ln w="12700">
            <a:solidFill>
              <a:srgbClr val="FFC400"/>
            </a:solidFill>
            <a:prstDash val="solid"/>
          </a:ln>
        </p:spPr>
      </p:sp>
      <p:sp>
        <p:nvSpPr>
          <p:cNvPr id="32" name="Text 30"/>
          <p:cNvSpPr txBox="1"/>
          <p:nvPr/>
        </p:nvSpPr>
        <p:spPr>
          <a:xfrm>
            <a:off x="457200" y="5669280"/>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08</a:t>
            </a:r>
            <a:endParaRPr lang="en-US" sz="1200" dirty="0"/>
          </a:p>
        </p:txBody>
      </p:sp>
      <p:sp>
        <p:nvSpPr>
          <p:cNvPr id="33" name="Text 31"/>
          <p:cNvSpPr txBox="1"/>
          <p:nvPr/>
        </p:nvSpPr>
        <p:spPr>
          <a:xfrm>
            <a:off x="1005840" y="5596128"/>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ACSL (Insurer SOA reconciliation)</a:t>
            </a:r>
            <a:endParaRPr lang="en-US" sz="1500" dirty="0"/>
          </a:p>
        </p:txBody>
      </p:sp>
      <p:sp>
        <p:nvSpPr>
          <p:cNvPr id="34" name="Text 32"/>
          <p:cNvSpPr txBox="1"/>
          <p:nvPr/>
        </p:nvSpPr>
        <p:spPr>
          <a:xfrm>
            <a:off x="4937760" y="5596128"/>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2 screens</a:t>
            </a:r>
            <a:endParaRPr lang="en-US" sz="1100" dirty="0"/>
          </a:p>
        </p:txBody>
      </p:sp>
      <p:sp>
        <p:nvSpPr>
          <p:cNvPr id="35" name="Shape 33"/>
          <p:cNvSpPr/>
          <p:nvPr/>
        </p:nvSpPr>
        <p:spPr>
          <a:xfrm>
            <a:off x="6217920" y="1444752"/>
            <a:ext cx="384048" cy="384048"/>
          </a:xfrm>
          <a:prstGeom prst="ellipse">
            <a:avLst/>
          </a:prstGeom>
          <a:solidFill>
            <a:srgbClr val="FFC400"/>
          </a:solidFill>
          <a:ln w="12700">
            <a:solidFill>
              <a:srgbClr val="FFC400"/>
            </a:solidFill>
            <a:prstDash val="solid"/>
          </a:ln>
        </p:spPr>
      </p:sp>
      <p:sp>
        <p:nvSpPr>
          <p:cNvPr id="36" name="Text 34"/>
          <p:cNvSpPr txBox="1"/>
          <p:nvPr/>
        </p:nvSpPr>
        <p:spPr>
          <a:xfrm>
            <a:off x="6217920" y="1444752"/>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09</a:t>
            </a:r>
            <a:endParaRPr lang="en-US" sz="1200" dirty="0"/>
          </a:p>
        </p:txBody>
      </p:sp>
      <p:sp>
        <p:nvSpPr>
          <p:cNvPr id="37" name="Text 35"/>
          <p:cNvSpPr txBox="1"/>
          <p:nvPr/>
        </p:nvSpPr>
        <p:spPr>
          <a:xfrm>
            <a:off x="6766560" y="1371600"/>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Claims</a:t>
            </a:r>
            <a:endParaRPr lang="en-US" sz="1500" dirty="0"/>
          </a:p>
        </p:txBody>
      </p:sp>
      <p:sp>
        <p:nvSpPr>
          <p:cNvPr id="38" name="Text 36"/>
          <p:cNvSpPr txBox="1"/>
          <p:nvPr/>
        </p:nvSpPr>
        <p:spPr>
          <a:xfrm>
            <a:off x="10698480" y="1371600"/>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11 screens</a:t>
            </a:r>
            <a:endParaRPr lang="en-US" sz="1100" dirty="0"/>
          </a:p>
        </p:txBody>
      </p:sp>
      <p:sp>
        <p:nvSpPr>
          <p:cNvPr id="39" name="Shape 37"/>
          <p:cNvSpPr/>
          <p:nvPr/>
        </p:nvSpPr>
        <p:spPr>
          <a:xfrm>
            <a:off x="6217920" y="2048256"/>
            <a:ext cx="384048" cy="384048"/>
          </a:xfrm>
          <a:prstGeom prst="ellipse">
            <a:avLst/>
          </a:prstGeom>
          <a:solidFill>
            <a:srgbClr val="FFC400"/>
          </a:solidFill>
          <a:ln w="12700">
            <a:solidFill>
              <a:srgbClr val="FFC400"/>
            </a:solidFill>
            <a:prstDash val="solid"/>
          </a:ln>
        </p:spPr>
      </p:sp>
      <p:sp>
        <p:nvSpPr>
          <p:cNvPr id="40" name="Text 38"/>
          <p:cNvSpPr txBox="1"/>
          <p:nvPr/>
        </p:nvSpPr>
        <p:spPr>
          <a:xfrm>
            <a:off x="6217920" y="2048256"/>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10</a:t>
            </a:r>
            <a:endParaRPr lang="en-US" sz="1200" dirty="0"/>
          </a:p>
        </p:txBody>
      </p:sp>
      <p:sp>
        <p:nvSpPr>
          <p:cNvPr id="41" name="Text 39"/>
          <p:cNvSpPr txBox="1"/>
          <p:nvPr/>
        </p:nvSpPr>
        <p:spPr>
          <a:xfrm>
            <a:off x="6766560" y="1975104"/>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Case Management (To-Be)</a:t>
            </a:r>
            <a:endParaRPr lang="en-US" sz="1500" dirty="0"/>
          </a:p>
        </p:txBody>
      </p:sp>
      <p:sp>
        <p:nvSpPr>
          <p:cNvPr id="42" name="Text 40"/>
          <p:cNvSpPr txBox="1"/>
          <p:nvPr/>
        </p:nvSpPr>
        <p:spPr>
          <a:xfrm>
            <a:off x="10698480" y="1975104"/>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6 screens</a:t>
            </a:r>
            <a:endParaRPr lang="en-US" sz="1100" dirty="0"/>
          </a:p>
        </p:txBody>
      </p:sp>
      <p:sp>
        <p:nvSpPr>
          <p:cNvPr id="43" name="Shape 41"/>
          <p:cNvSpPr/>
          <p:nvPr/>
        </p:nvSpPr>
        <p:spPr>
          <a:xfrm>
            <a:off x="6217920" y="2651760"/>
            <a:ext cx="384048" cy="384048"/>
          </a:xfrm>
          <a:prstGeom prst="ellipse">
            <a:avLst/>
          </a:prstGeom>
          <a:solidFill>
            <a:srgbClr val="FFC400"/>
          </a:solidFill>
          <a:ln w="12700">
            <a:solidFill>
              <a:srgbClr val="FFC400"/>
            </a:solidFill>
            <a:prstDash val="solid"/>
          </a:ln>
        </p:spPr>
      </p:sp>
      <p:sp>
        <p:nvSpPr>
          <p:cNvPr id="44" name="Text 42"/>
          <p:cNvSpPr txBox="1"/>
          <p:nvPr/>
        </p:nvSpPr>
        <p:spPr>
          <a:xfrm>
            <a:off x="6217920" y="2651760"/>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11</a:t>
            </a:r>
            <a:endParaRPr lang="en-US" sz="1200" dirty="0"/>
          </a:p>
        </p:txBody>
      </p:sp>
      <p:sp>
        <p:nvSpPr>
          <p:cNvPr id="45" name="Text 43"/>
          <p:cNvSpPr txBox="1"/>
          <p:nvPr/>
        </p:nvSpPr>
        <p:spPr>
          <a:xfrm>
            <a:off x="6766560" y="2578608"/>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Customer Servicing Facility</a:t>
            </a:r>
            <a:endParaRPr lang="en-US" sz="1500" dirty="0"/>
          </a:p>
        </p:txBody>
      </p:sp>
      <p:sp>
        <p:nvSpPr>
          <p:cNvPr id="46" name="Text 44"/>
          <p:cNvSpPr txBox="1"/>
          <p:nvPr/>
        </p:nvSpPr>
        <p:spPr>
          <a:xfrm>
            <a:off x="10698480" y="2578608"/>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2 screens</a:t>
            </a:r>
            <a:endParaRPr lang="en-US" sz="1100" dirty="0"/>
          </a:p>
        </p:txBody>
      </p:sp>
      <p:sp>
        <p:nvSpPr>
          <p:cNvPr id="47" name="Shape 45"/>
          <p:cNvSpPr/>
          <p:nvPr/>
        </p:nvSpPr>
        <p:spPr>
          <a:xfrm>
            <a:off x="6217920" y="3255264"/>
            <a:ext cx="384048" cy="384048"/>
          </a:xfrm>
          <a:prstGeom prst="ellipse">
            <a:avLst/>
          </a:prstGeom>
          <a:solidFill>
            <a:srgbClr val="FFC400"/>
          </a:solidFill>
          <a:ln w="12700">
            <a:solidFill>
              <a:srgbClr val="FFC400"/>
            </a:solidFill>
            <a:prstDash val="solid"/>
          </a:ln>
        </p:spPr>
      </p:sp>
      <p:sp>
        <p:nvSpPr>
          <p:cNvPr id="48" name="Text 46"/>
          <p:cNvSpPr txBox="1"/>
          <p:nvPr/>
        </p:nvSpPr>
        <p:spPr>
          <a:xfrm>
            <a:off x="6217920" y="3255264"/>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12</a:t>
            </a:r>
            <a:endParaRPr lang="en-US" sz="1200" dirty="0"/>
          </a:p>
        </p:txBody>
      </p:sp>
      <p:sp>
        <p:nvSpPr>
          <p:cNvPr id="49" name="Text 47"/>
          <p:cNvSpPr txBox="1"/>
          <p:nvPr/>
        </p:nvSpPr>
        <p:spPr>
          <a:xfrm>
            <a:off x="6766560" y="3182112"/>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Renewal (RMEL)</a:t>
            </a:r>
            <a:endParaRPr lang="en-US" sz="1500" dirty="0"/>
          </a:p>
        </p:txBody>
      </p:sp>
      <p:sp>
        <p:nvSpPr>
          <p:cNvPr id="50" name="Text 48"/>
          <p:cNvSpPr txBox="1"/>
          <p:nvPr/>
        </p:nvSpPr>
        <p:spPr>
          <a:xfrm>
            <a:off x="10698480" y="3182112"/>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5 screens</a:t>
            </a:r>
            <a:endParaRPr lang="en-US" sz="1100" dirty="0"/>
          </a:p>
        </p:txBody>
      </p:sp>
      <p:sp>
        <p:nvSpPr>
          <p:cNvPr id="51" name="Shape 49"/>
          <p:cNvSpPr/>
          <p:nvPr/>
        </p:nvSpPr>
        <p:spPr>
          <a:xfrm>
            <a:off x="6217920" y="3858768"/>
            <a:ext cx="384048" cy="384048"/>
          </a:xfrm>
          <a:prstGeom prst="ellipse">
            <a:avLst/>
          </a:prstGeom>
          <a:solidFill>
            <a:srgbClr val="FFC400"/>
          </a:solidFill>
          <a:ln w="12700">
            <a:solidFill>
              <a:srgbClr val="FFC400"/>
            </a:solidFill>
            <a:prstDash val="solid"/>
          </a:ln>
        </p:spPr>
      </p:sp>
      <p:sp>
        <p:nvSpPr>
          <p:cNvPr id="52" name="Text 50"/>
          <p:cNvSpPr txBox="1"/>
          <p:nvPr/>
        </p:nvSpPr>
        <p:spPr>
          <a:xfrm>
            <a:off x="6217920" y="3858768"/>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13</a:t>
            </a:r>
            <a:endParaRPr lang="en-US" sz="1200" dirty="0"/>
          </a:p>
        </p:txBody>
      </p:sp>
      <p:sp>
        <p:nvSpPr>
          <p:cNvPr id="53" name="Text 51"/>
          <p:cNvSpPr txBox="1"/>
          <p:nvPr/>
        </p:nvSpPr>
        <p:spPr>
          <a:xfrm>
            <a:off x="6766560" y="3785616"/>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Reinsurance</a:t>
            </a:r>
            <a:endParaRPr lang="en-US" sz="1500" dirty="0"/>
          </a:p>
        </p:txBody>
      </p:sp>
      <p:sp>
        <p:nvSpPr>
          <p:cNvPr id="54" name="Text 52"/>
          <p:cNvSpPr txBox="1"/>
          <p:nvPr/>
        </p:nvSpPr>
        <p:spPr>
          <a:xfrm>
            <a:off x="10698480" y="3785616"/>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6 screens</a:t>
            </a:r>
            <a:endParaRPr lang="en-US" sz="1100" dirty="0"/>
          </a:p>
        </p:txBody>
      </p:sp>
      <p:sp>
        <p:nvSpPr>
          <p:cNvPr id="55" name="Shape 53"/>
          <p:cNvSpPr/>
          <p:nvPr/>
        </p:nvSpPr>
        <p:spPr>
          <a:xfrm>
            <a:off x="6217920" y="4462272"/>
            <a:ext cx="384048" cy="384048"/>
          </a:xfrm>
          <a:prstGeom prst="ellipse">
            <a:avLst/>
          </a:prstGeom>
          <a:solidFill>
            <a:srgbClr val="FFC400"/>
          </a:solidFill>
          <a:ln w="12700">
            <a:solidFill>
              <a:srgbClr val="FFC400"/>
            </a:solidFill>
            <a:prstDash val="solid"/>
          </a:ln>
        </p:spPr>
      </p:sp>
      <p:sp>
        <p:nvSpPr>
          <p:cNvPr id="56" name="Text 54"/>
          <p:cNvSpPr txBox="1"/>
          <p:nvPr/>
        </p:nvSpPr>
        <p:spPr>
          <a:xfrm>
            <a:off x="6217920" y="4462272"/>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14</a:t>
            </a:r>
            <a:endParaRPr lang="en-US" sz="1200" dirty="0"/>
          </a:p>
        </p:txBody>
      </p:sp>
      <p:sp>
        <p:nvSpPr>
          <p:cNvPr id="57" name="Text 55"/>
          <p:cNvSpPr txBox="1"/>
          <p:nvPr/>
        </p:nvSpPr>
        <p:spPr>
          <a:xfrm>
            <a:off x="6766560" y="4389120"/>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Submitted Policies</a:t>
            </a:r>
            <a:endParaRPr lang="en-US" sz="1500" dirty="0"/>
          </a:p>
        </p:txBody>
      </p:sp>
      <p:sp>
        <p:nvSpPr>
          <p:cNvPr id="58" name="Text 56"/>
          <p:cNvSpPr txBox="1"/>
          <p:nvPr/>
        </p:nvSpPr>
        <p:spPr>
          <a:xfrm>
            <a:off x="10698480" y="4389120"/>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4 screens</a:t>
            </a:r>
            <a:endParaRPr lang="en-US" sz="1100" dirty="0"/>
          </a:p>
        </p:txBody>
      </p:sp>
      <p:sp>
        <p:nvSpPr>
          <p:cNvPr id="59" name="Shape 57"/>
          <p:cNvSpPr/>
          <p:nvPr/>
        </p:nvSpPr>
        <p:spPr>
          <a:xfrm>
            <a:off x="6217920" y="5065776"/>
            <a:ext cx="384048" cy="384048"/>
          </a:xfrm>
          <a:prstGeom prst="ellipse">
            <a:avLst/>
          </a:prstGeom>
          <a:solidFill>
            <a:srgbClr val="FFC400"/>
          </a:solidFill>
          <a:ln w="12700">
            <a:solidFill>
              <a:srgbClr val="FFC400"/>
            </a:solidFill>
            <a:prstDash val="solid"/>
          </a:ln>
        </p:spPr>
      </p:sp>
      <p:sp>
        <p:nvSpPr>
          <p:cNvPr id="60" name="Text 58"/>
          <p:cNvSpPr txBox="1"/>
          <p:nvPr/>
        </p:nvSpPr>
        <p:spPr>
          <a:xfrm>
            <a:off x="6217920" y="5065776"/>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15</a:t>
            </a:r>
            <a:endParaRPr lang="en-US" sz="1200" dirty="0"/>
          </a:p>
        </p:txBody>
      </p:sp>
      <p:sp>
        <p:nvSpPr>
          <p:cNvPr id="61" name="Text 59"/>
          <p:cNvSpPr txBox="1"/>
          <p:nvPr/>
        </p:nvSpPr>
        <p:spPr>
          <a:xfrm>
            <a:off x="6766560" y="4992624"/>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Employee Benefits</a:t>
            </a:r>
            <a:endParaRPr lang="en-US" sz="1500" dirty="0"/>
          </a:p>
        </p:txBody>
      </p:sp>
      <p:sp>
        <p:nvSpPr>
          <p:cNvPr id="62" name="Text 60"/>
          <p:cNvSpPr txBox="1"/>
          <p:nvPr/>
        </p:nvSpPr>
        <p:spPr>
          <a:xfrm>
            <a:off x="10698480" y="4992624"/>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5 screens</a:t>
            </a:r>
            <a:endParaRPr lang="en-US" sz="1100" dirty="0"/>
          </a:p>
        </p:txBody>
      </p:sp>
      <p:sp>
        <p:nvSpPr>
          <p:cNvPr id="63" name="Shape 61"/>
          <p:cNvSpPr/>
          <p:nvPr/>
        </p:nvSpPr>
        <p:spPr>
          <a:xfrm>
            <a:off x="6217920" y="5669280"/>
            <a:ext cx="384048" cy="384048"/>
          </a:xfrm>
          <a:prstGeom prst="ellipse">
            <a:avLst/>
          </a:prstGeom>
          <a:solidFill>
            <a:srgbClr val="FFC400"/>
          </a:solidFill>
          <a:ln w="12700">
            <a:solidFill>
              <a:srgbClr val="FFC400"/>
            </a:solidFill>
            <a:prstDash val="solid"/>
          </a:ln>
        </p:spPr>
      </p:sp>
      <p:sp>
        <p:nvSpPr>
          <p:cNvPr id="64" name="Text 62"/>
          <p:cNvSpPr txBox="1"/>
          <p:nvPr/>
        </p:nvSpPr>
        <p:spPr>
          <a:xfrm>
            <a:off x="6217920" y="5669280"/>
            <a:ext cx="384048" cy="384048"/>
          </a:xfrm>
          <a:prstGeom prst="rect">
            <a:avLst/>
          </a:prstGeom>
          <a:noFill/>
          <a:ln/>
        </p:spPr>
        <p:txBody>
          <a:bodyPr wrap="square" lIns="0" tIns="0" rIns="0" bIns="0" rtlCol="0" anchor="ctr"/>
          <a:lstStyle/>
          <a:p>
            <a:pPr algn="ctr" indent="0" marL="0">
              <a:buNone/>
            </a:pPr>
            <a:r>
              <a:rPr lang="en-US" sz="1200" b="1" dirty="0">
                <a:solidFill>
                  <a:srgbClr val="002B7F"/>
                </a:solidFill>
                <a:latin typeface="Calibri" pitchFamily="34" charset="0"/>
                <a:ea typeface="Calibri" pitchFamily="34" charset="-122"/>
                <a:cs typeface="Calibri" pitchFamily="34" charset="-120"/>
              </a:rPr>
              <a:t>16</a:t>
            </a:r>
            <a:endParaRPr lang="en-US" sz="1200" dirty="0"/>
          </a:p>
        </p:txBody>
      </p:sp>
      <p:sp>
        <p:nvSpPr>
          <p:cNvPr id="65" name="Text 63"/>
          <p:cNvSpPr txBox="1"/>
          <p:nvPr/>
        </p:nvSpPr>
        <p:spPr>
          <a:xfrm>
            <a:off x="6766560" y="5596128"/>
            <a:ext cx="3931920" cy="530352"/>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Product Maintenance (TSU)</a:t>
            </a:r>
            <a:endParaRPr lang="en-US" sz="1500" dirty="0"/>
          </a:p>
        </p:txBody>
      </p:sp>
      <p:sp>
        <p:nvSpPr>
          <p:cNvPr id="66" name="Text 64"/>
          <p:cNvSpPr txBox="1"/>
          <p:nvPr/>
        </p:nvSpPr>
        <p:spPr>
          <a:xfrm>
            <a:off x="10698480" y="5596128"/>
            <a:ext cx="1005840" cy="530352"/>
          </a:xfrm>
          <a:prstGeom prst="rect">
            <a:avLst/>
          </a:prstGeom>
          <a:noFill/>
          <a:ln/>
        </p:spPr>
        <p:txBody>
          <a:bodyPr wrap="square" lIns="0" tIns="0" rIns="0" bIns="0" rtlCol="0" anchor="ctr"/>
          <a:lstStyle/>
          <a:p>
            <a:pPr algn="r" indent="0" marL="0">
              <a:buNone/>
            </a:pPr>
            <a:r>
              <a:rPr lang="en-US" sz="1100" dirty="0">
                <a:solidFill>
                  <a:srgbClr val="5B6478"/>
                </a:solidFill>
                <a:latin typeface="Calibri" pitchFamily="34" charset="0"/>
                <a:ea typeface="Calibri" pitchFamily="34" charset="-122"/>
                <a:cs typeface="Calibri" pitchFamily="34" charset="-120"/>
              </a:rPr>
              <a:t>11 screens</a:t>
            </a:r>
            <a:endParaRPr lang="en-US" sz="1100" dirty="0"/>
          </a:p>
        </p:txBody>
      </p:sp>
      <p:sp>
        <p:nvSpPr>
          <p:cNvPr id="67" name="Text 65"/>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68" name="Text 66"/>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01</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BDOIR End-to-End</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The umbrella flow that chains new business, cashiering, collections, remittance, disbursement, the general ledger, renewal and claims. Each link is captured in detail in its own process below; these screens show the control points that tie the chain together.</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BDOIR E2E PROCESS FLOW.pdf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admin</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6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01.01   Executive dashboard: KPIs across the whole chain (in force, in placement, unapplied payments, pending approvals, disbursements in flight, past-TAT requests)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01.02   Single maker-checker queue for bookings, endorsements, journals, disbursements, CTE, claim settlements, EB awards and product changes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01.03   Production, collection and claims reports with CSV export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01.04   Client onboarding with sanctions screening, PEP flag and risk tiering feeding every process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01.05   Twelve personas with module entitlements and approver rights (segregation of duties)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01.06   Legacy data migration batches with load, reconciliation and disposition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BDOIR End-to-End  ·  step 1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01.01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Executive dashboard: KPIs across the whole chain (in force, in placement, unapplied payments, pending approvals, disbursements in flight, past-TAT requests)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Dashboard</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1-bdoir-e2e/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Dashboard</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BDOIR End-to-End  ·  step 2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01.02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Single maker-checker queue for bookings, endorsements, journals, disbursements, CTE, claim settlements, EB awards and product changes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All</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1-bdoir-e2e/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All</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BDOIR End-to-End  ·  step 3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01.03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Production, collection and claims reports with CSV export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Reports &amp; Analytics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1-bdoir-e2e/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Reports &amp; Analytics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BDOIR End-to-End  ·  step 4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01.04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Client onboarding with sanctions screening, PEP flag and risk tiering feeding every process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Sanction Screening &amp; Risk</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1-bdoir-e2e/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Sanction Screening &amp; Risk</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BDOIR End-to-End  ·  step 5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01.05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Twelve personas with module entitlements and approver rights (segregation of duties)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User Access Maintenance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1-bdoir-e2e/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User Access Maintenance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BDOIR End-to-End  ·  step 6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01.06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Legacy data migration batches with load, reconciliation and disposition</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Data Migration</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1-bdoir-e2e/0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Data Migration</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02</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New Business</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Client creation and screening, quotation, proposal, placement to the insurer, e-policy and booking under maker-checker.</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NEW BUSINESS.pdf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nb.officer → uw.head</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14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02.01   MAO creates the client in Broker; KYC details captured</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02.02   Client is sanction-screened automatically (clear / hit) and risk-tiered</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02.03   Quotation prepared with the rating engine (premium, VAT, DST, LGT, commission)</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02.04   Quotation created (status: quoted); hold cover can be requested from the insurer</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02.05   Proposal sent to the client by email (status: proposal sent)</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02.06   Client acceptance recorded (Y); a decline with reason is the N branch</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02.07   Placement requested: placement slip goes to the insurer via SFTP or email</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02.08   Placement board tracks slips awaiting the insurer, returns and e-policies</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02.09   Insurer placed the risk; e-policy received (COG via SFTP or PO email)</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02.10   Booking and invoicing raised for checker approval (maker-checker)</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02.11   Underwriting Head (checker) reviews the booking request</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02.12   Booking approved: invoice, journal and e-policy dispatch are posted automatically</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02.13   Policy register: the policy is in force with its invoice and e-policy channel</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02.14   Policy detail: placement history, e-policy status and the exception route to the contact centre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1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MAO creates the client in Broker; KYC details captured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Sanction Screening &amp; Risk</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New client form</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Sanction Screening &amp; Risk › New client form</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2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Client is sanction-screened automatically (clear / hit) and risk-tiered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Sanction Screening &amp; Risk</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Client register</a:t>
            </a:r>
            <a:endParaRPr lang="en-US" sz="1300" dirty="0"/>
          </a:p>
        </p:txBody>
      </p:sp>
      <p:sp>
        <p:nvSpPr>
          <p:cNvPr id="8" name="Text 6"/>
          <p:cNvSpPr txBox="1"/>
          <p:nvPr/>
        </p:nvSpPr>
        <p:spPr>
          <a:xfrm>
            <a:off x="457200" y="5577840"/>
            <a:ext cx="3749040" cy="731520"/>
          </a:xfrm>
          <a:prstGeom prst="rect">
            <a:avLst/>
          </a:prstGeom>
          <a:noFill/>
          <a:ln/>
        </p:spPr>
        <p:txBody>
          <a:bodyPr wrap="square" lIns="0" tIns="0" rIns="0" bIns="0" rtlCol="0" anchor="t">
            <a:normAutofit/>
          </a:bodyPr>
          <a:lstStyle/>
          <a:p>
            <a:pPr indent="0" marL="0">
              <a:buNone/>
            </a:pPr>
            <a:r>
              <a:rPr lang="en-US" sz="1100" i="1" dirty="0">
                <a:solidFill>
                  <a:srgbClr val="5B6478"/>
                </a:solidFill>
                <a:latin typeface="Calibri" pitchFamily="34" charset="0"/>
                <a:ea typeface="Calibri" pitchFamily="34" charset="-122"/>
                <a:cs typeface="Calibri" pitchFamily="34" charset="-120"/>
              </a:rPr>
              <a:t>Screening result and CDD level shown on the row</a:t>
            </a:r>
            <a:endParaRPr lang="en-US" sz="1100" dirty="0"/>
          </a:p>
        </p:txBody>
      </p:sp>
      <p:sp>
        <p:nvSpPr>
          <p:cNvPr id="9" name="Shape 7"/>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10" name="Image 0" descr="/home/user/Brokerverse/docs/process-walkthrough/shots/02-new-business/02.jpg">    </p:cNvPr>
          <p:cNvPicPr>
            <a:picLocks noChangeAspect="1"/>
          </p:cNvPicPr>
          <p:nvPr/>
        </p:nvPicPr>
        <p:blipFill>
          <a:blip r:embed="rId1"/>
          <a:stretch>
            <a:fillRect/>
          </a:stretch>
        </p:blipFill>
        <p:spPr>
          <a:xfrm>
            <a:off x="4480560" y="868680"/>
            <a:ext cx="7315200" cy="4572000"/>
          </a:xfrm>
          <a:prstGeom prst="rect">
            <a:avLst/>
          </a:prstGeom>
        </p:spPr>
      </p:pic>
      <p:sp>
        <p:nvSpPr>
          <p:cNvPr id="11" name="Text 8"/>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Sanction Screening &amp; Risk › Client register</a:t>
            </a:r>
            <a:endParaRPr lang="en-US" sz="1000" dirty="0"/>
          </a:p>
        </p:txBody>
      </p:sp>
      <p:sp>
        <p:nvSpPr>
          <p:cNvPr id="13" name="Text 9"/>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4" name="Text 10"/>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3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Quotation prepared with the rating engine (premium, VAT, DST, LGT, commission)</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Quotations &amp; proposals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New quotation form</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Quotations &amp; proposals › New quotation form</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4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Quotation created (status: quoted); hold cover can be requested from the insurer</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Quotations &amp; proposals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Quotations &amp; proposals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5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Proposal sent to the client by email (status: proposal sent)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Quotations &amp; proposals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Send proposal</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Quotations &amp; proposals › Send proposal</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6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02.06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Client acceptance recorded (Y); a decline with reason is the N branch</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Quotations &amp; proposals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Client accepted</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0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Quotations &amp; proposals › Client accepted</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7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02.07</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Placement requested: placement slip goes to the insurer via SFTP or email</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Policy drawer (placement requested)</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07.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Policy drawer (placement requested)</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8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02.08</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Placement board tracks slips awaiting the insurer, returns and e-policies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Placement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08.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Placement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9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02.09</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Insurer placed the risk; e-policy received (COG via SFTP or PO email)</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Placement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Placed / e-policy received</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09.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Placement › Placed / e-policy received</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10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02.10</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Booking and invoicing raised for checker approval (maker-checker)</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Placement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Book &amp; invoice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10.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Placement › Book &amp; invoice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11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02.11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Underwriting Head (checker) reviews the booking request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Pending</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1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Pending</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12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02.12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Booking approved: invoice, journal and e-policy dispatch are posted automatically</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Approve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1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Approve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13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02.13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Policy register: the policy is in force with its invoice and e-policy channel</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Policies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1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Policies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New Business  ·  step 14 of 14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02.14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Policy detail: placement history, e-policy status and the exception route to the contact centre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New Business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Policies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Policy detail</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2-new-business/1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New Business › Policies › Policy detail</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03</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Operations</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Cashiering channels, post-dated cheque hold, unapplied premium, direct payments with commission receivables, adjustments and production reconciliation.</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OPERATIONS PROCESS FLOW.pdf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cashier → checker</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17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03.01   Cashiering: open invoices (premium receivables) awaiting payment</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03.02   Receive payment: channel (bills payment, OTC cash/cheque, batch files, autopay) and reference</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03.03   Cheque payment recorded and held for the 4-day clearing period</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03.04   PDC register: held cheques, matured, bounced (exclusion list) and unapplied premium</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03.05   Held cheque shows Matured / Bounced actions once the 4-day hold lapses</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03.06   Cash / bills payment applied in full: official receipt issued and receivable cleared</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03.07   Payment with zero PR / payment greater than PR is recorded without an invoice</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03.08   The amount sits in Unapplied Premium (GL 2400) until applied to an invoice</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03.09   Direct payment to insurer identified for a booked policy</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03.10   Commission receivable (GL 1250) billed to the insurer; follow-up until collected</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03.11   Commission collected: commission official receipt issued</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03.12   Adjustment / cancellation validated by the Adjustment Team and routed to the checker-poster</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03.13   Endorsement pending checker approval; a refund creates a Refund Request Form (RRF) on approval</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03.14   Production reconciliation: insurer production file matched against booked policies</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03.15   Rows classified as matched, with discrepancies, or unbooked; each gets a disposition</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03.16   Checker-poster reviews the endorsement</a:t>
            </a: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03.17   Endorsement posted: premium and commission reversed, RRF raised for the refund</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1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Cashiering: open invoices (premium receivables) awaiting payment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Invoices &amp; cashiering</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Invoices &amp; cashiering</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2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Receive payment: channel (bills payment, OTC cash/cheque, batch files, autopay) and reference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Invoices &amp; cashiering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Receive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Invoices &amp; cashiering › Receive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3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Cheque payment recorded and held for the 4-day clearing period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Receive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Record payment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Receive › Record payment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4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PDC register: held cheques, matured, bounced (exclusion list) and unapplied premium</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Payments / PDC / UPP</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Payments / PDC / UPP</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5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Held cheque shows Matured / Bounced actions once the 4-day hold lapses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Payments / PDC / UPP</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Held cheque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Payments / PDC / UPP › Held cheque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6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03.06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Cash / bills payment applied in full: official receipt issued and receivable cleared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Receive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Official receipt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0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Receive › Official receipt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7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03.07</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Payment with zero PR / payment greater than PR is recorded without an invoice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Invoices &amp; cashiering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Payment without invoice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07.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Invoices &amp; cashiering › Payment without invoice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8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03.08</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The amount sits in Unapplied Premium (GL 2400) until applied to an invoice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Payments / PDC / UPP</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08.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Payments / PDC / UPP</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9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03.09</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Direct payment to insurer identified for a booked policy</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Direct payments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Identify</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09.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Direct payments › Identify</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10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03.10</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Commission receivable (GL 1250) billed to the insurer; follow-up until collected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Direct payments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Bill insurer</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10.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Direct payments › Bill insurer</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11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03.11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Commission collected: commission official receipt issued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Direct payments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Collect (commission OR)</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1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Direct payments › Collect (commission OR)</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12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03.12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Adjustment / cancellation validated by the Adjustment Team and routed to the checker-poster</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Adjustments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Endorsement form</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1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Adjustments › Endorsement form</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13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03.13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Endorsement pending checker approval; a refund creates a Refund Request Form (RRF) on approval</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Adjustments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1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Adjustments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14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03.14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Production reconciliation: insurer production file matched against booked policies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Production recon</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Upload</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1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Production recon › Upload</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15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03.15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Rows classified as matched, with discrepancies, or unbooked; each gets a disposition</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Operations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Production recon</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Result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1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Operations › Production recon › Result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16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03.16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Checker-poster reviews the endorsement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Pending</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1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Pending</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Operations  ·  step 17 of 17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03.17</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Endorsement posted: premium and commission reversed, RRF raised for the refund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Approve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3-operations/17.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Approve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04</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Marketing Collections</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Premium receivable list by stage, marketing diary, credit-term extension under approval and statement of account.</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MARKETING COLLECTIONS - Process Flow.pdf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collections → fin.head</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8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04.01   PR list: newly booked accounts to collect within 10–15 days; ageing and collection stage per invoice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04.02   Statement of account sent to the client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04.03   Marketing diary: when / where / how / what of each collection effort, commitment date and arrangement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04.04   Commitment beyond the 60-day credit term: MAO informed, tagged as committed</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04.05   Credit-term extension (CTE) requested for Unit Head approval</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04.06   Effort diary per invoice with category tagging</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04.07   Unit / Finance Head reviews the CTE request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04.08   CTE approved: due date extended and account stays within term</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Marketing Collections  ·  step 1 of 8</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04.01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PR list: newly booked accounts to collect within 10–15 days; ageing and collection stage per invoice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Collections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Outstanding premium</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4-marketing-collections/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Collections › Outstanding premium</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Marketing Collections  ·  step 2 of 8</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04.02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Statement of account sent to the client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Collections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SOA</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4-marketing-collections/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Collections › SOA</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Marketing Collections  ·  step 3 of 8</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04.03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Marketing diary: when / where / how / what of each collection effort, commitment date and arrangement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Collections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Log effort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4-marketing-collections/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Collections › Log effort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Marketing Collections  ·  step 4 of 8</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04.04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Commitment beyond the 60-day credit term: MAO informed, tagged as committed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Collections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Outstanding premium</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4-marketing-collections/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Collections › Outstanding premium</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Marketing Collections  ·  step 5 of 8</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04.05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Credit-term extension (CTE) requested for Unit Head approval</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Collections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CTE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4-marketing-collections/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Collections › CTE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Marketing Collections  ·  step 6 of 8</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04.06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Effort diary per invoice with category tagging</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Collections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Diary</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4-marketing-collections/0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Collections › Diary</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Marketing Collections  ·  step 7 of 8</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04.07</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Unit / Finance Head reviews the CTE request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Pending</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4-marketing-collections/07.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Pending</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Marketing Collections  ·  step 8 of 8</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04.08</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CTE approved: due date extended and account stays within term</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Approve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4-marketing-collections/08.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Approve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05</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FRBS Accounting</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Chart of accounts, system-generated journals, manual entries under review, trial balance, period and year-end closing.</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FRBS - ACCOUNTING.pdf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accountant → fin.head</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3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05.01   System-generated journals (booking, receipts, commissions) and manual entry form routed to the TL for posting</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05.02   Trial balance and financial reports generated from the ledger</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05.03   EOD / EOM / EOY: period close and reopen, fiscal-year close to retained earnings</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FRBS Accounting  ·  step 1 of 3</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05.01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System-generated journals (booking, receipts, commissions) and manual entry form routed to the TL for posting</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Journals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5-frbs-accounting/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Journals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FRBS Accounting  ·  step 2 of 3</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05.02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Trial balance and financial reports generated from the ledger</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Trial balance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5-frbs-accounting/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Trial balance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FRBS Accounting  ·  step 3 of 3</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05.03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EOD / EOM / EOY: period close and reopen, fiscal-year close to retained earnings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Periods &amp; year-end</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5-frbs-accounting/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Periods &amp; year-end</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06</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Disbursement</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Disbursement chain DPO → DTL → DSH → DUH with segregation of duties, payment posting and confirmation email; weekly remittance to insurers.</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DISBURSEMENT.pdf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accountant → admin (reviewer) → fin.head → accountant</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7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06.01   Weekly remittance extract of applied payments per insurer, sanitised and submitted to Disbursement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06.02   Disbursement request (DPO) with payee, amount, mode and bank details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06.03   Request awaits a reviewer other than the maker (segregation of duties)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06.04   Team lead review (DTL) OK; routed to the Finance Head for approval</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06.05   Finance Head (DSH / DUH) reviews the voucher</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06.06   Approved; ready for payment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06.07   Payment posted with cheque reference; status tagged paid and confirmation email sent</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Disbursement  ·  step 1 of 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06.01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Weekly remittance extract of applied payments per insurer, sanitised and submitted to Disbursement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Remittances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6-disbursement/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Remittances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Disbursement  ·  step 2 of 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06.02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Disbursement request (DPO) with payee, amount, mode and bank details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Disbursements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Request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6-disbursement/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Disbursements › Request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Disbursement  ·  step 3 of 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06.03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Request awaits a reviewer other than the maker (segregation of duties)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Disbursements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6-disbursement/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Disbursements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Disbursement  ·  step 4 of 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06.04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Team lead review (DTL) OK; routed to the Finance Head for approval</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Disbursements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Review OK</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6-disbursement/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Disbursements › Review OK</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Disbursement  ·  step 5 of 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06.05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Finance Head (DSH / DUH) reviews the voucher</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Pending</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6-disbursement/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Pending</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Disbursement  ·  step 6 of 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06.06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Approved; ready for payment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Approve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6-disbursement/0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Approve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Disbursement  ·  step 7 of 7</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06.07</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Payment posted with cheque reference; status tagged paid and confirmation email sent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Disbursements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Pay</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6-disbursement/07.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Disbursements › Pay</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07</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Refund Request</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Refund Request Form raised from a cancellation, TL review, Unit Head sign-off and hand-off to the disbursement chain.</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REFUND REQUEST.pdf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accountant (TL) → fin.head (UH)</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4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07.01   RRF register: refund raised by the endorsement with amount, mode and reason</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07.02   Marketing TL reviews the RRF</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07.03   Unit Head sign-off: a disbursement request is created for the refund</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07.04   Refund enters the disbursement chain (review → approve → pay)</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Refund Request  ·  step 1 of 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07.01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RRF register: refund raised by the endorsement with amount, mode and reason</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Refund requests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7-refund-request/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Refund requests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Refund Request  ·  step 2 of 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07.02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Marketing TL reviews the RRF</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Refund requests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TL review OK</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7-refund-request/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Refund requests › TL review OK</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Refund Request  ·  step 3 of 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07.03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Unit Head sign-off: a disbursement request is created for the refund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Refund requests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UH approve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7-refund-request/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Refund requests › UH approve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Refund Request  ·  step 4 of 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07.04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Refund enters the disbursement chain (review → approve → pay)</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Disbursements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7-refund-request/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Disbursements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08</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ACSL (Insurer SOA reconciliation)</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Insurer statement of account reconciled against the ledger; abnormal balances raise adjustment entries reviewed by the TL and posted by the FRBS approver.</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ACSL.pdf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accountant → fin.head</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2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08.01   Insurer SOA lines captured against the ledger</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08.02   Variances flagged (abnormal balances, unknown items) for manual subsidiary-ledger adjustment</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ACSL (Insurer SOA reconciliation)  ·  step 1 of 2</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08.01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Insurer SOA lines captured against the ledger</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ACSL / SOA recon</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8-acsl/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ACSL / SOA recon</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ACSL (Insurer SOA reconciliation)  ·  step 2 of 2</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08.02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Variances flagged (abnormal balances, unknown items) for manual subsidiary-ledger adjustment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Accounting &amp; Disbursement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ACSL / SOA recon</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Result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8-acsl/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Accounting &amp; Disbursement › ACSL / SOA recon › Result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09</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Claims</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Notice of loss, PLA, document checklist, FLA to the insurer, evaluation and offer, contest loop, settlement approval and closure.</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CLAIMS PROCESS FLOW.pdf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claims → fin.head</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11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09.01   Notice of loss registered against the policy (Claims Acceptance Control checks premium status)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09.02   Preliminary Loss Advice (PLA) sent; claim opened with reserve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09.03   Document checklist by line (motor / non-motor); FLA blocked until complete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09.04   All requirements received: documents complete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09.05   Formal Loss Advice sent to the insurer; adjuster inspection flagged</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09.06   Insurer evaluation and offer received</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09.07   Insured contests the offer; re-evaluation loop with the insurer</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09.08   Settlement by LOA to casa/dealer or cash requested for approval</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09.09   Approver reviews the settlement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09.10   Settlement approved</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09.11   Claim tagged settled / paid, then closed; declination is the alternative exit</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1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Notice of loss registered against the policy (Claims Acceptance Control checks premium status)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Claims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Register</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Claims › Register</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2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Preliminary Loss Advice (PLA) sent; claim opened with reserve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Claims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Register</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Claims › Register</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3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Document checklist by line (motor / non-motor); FLA blocked until complete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Claims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Claim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Document checklist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Claims › Claim detail › Document checklist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4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All requirements received: documents complete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Claims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Claim detail</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Claims › Claim detail</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5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Formal Loss Advice sent to the insurer; adjuster inspection flagged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Claims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Claim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Send FLA</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Claims › Claim detail › Send FLA</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6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09.06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Insurer evaluation and offer received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Claims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Claim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Offer received</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0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Claims › Claim detail › Offer received</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7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09.07</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Insured contests the offer; re-evaluation loop with the insurer</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Claims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Claim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Contest offer</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07.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Claims › Claim detail › Contest offer</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8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09.08</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Settlement by LOA to casa/dealer or cash requested for approval</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Claims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Claim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Request settlement approval</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08.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Claims › Claim detail › Request settlement approval</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9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09.09</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Approver reviews the settlement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Pending</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09.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Pending</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10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09.10</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Settlement approved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Approve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10.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Approve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Claims  ·  step 11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09.11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Claim tagged settled / paid, then closed; declination is the alternative exit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Claims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Claim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Mark settled</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09-claims/1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Claims › Claim detail › Mark settled</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10</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Case Management (To-Be)</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General vs account-related inquiries, positive identification, point-of-contact handling or referral to the fulfilment unit, TAT monitoring and return to CCC.</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CASE MANAGEMENT TO BE PROCESS FLOW_07152026.pdf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compliance</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6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10.01   Contact logged: general inquiry (no client) vs account-related concern</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10.02   General inquiry handled and closed at point of contact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10.03   Account-related concern: positive identification (PID) and routing to the owning unit with a TAT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10.04   Case referred to the fulfilment unit; TAT due time computed and past-TAT flagged</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10.05   Case returned to the Customer Contact Centre for re-logging with a reason</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10.06   Case re-logged and back in the open queue</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Case Management (To-Be)  ·  step 1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10.01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Contact logged: general inquiry (no client) vs account-related concern</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Customer Servicing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Cases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Log case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0-case-management/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Customer Servicing › Cases › Log case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Case Management (To-Be)  ·  step 2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10.02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General inquiry handled and closed at point of contact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Customer Servicing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Cases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0-case-management/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Customer Servicing › Cases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Case Management (To-Be)  ·  step 3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10.03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Account-related concern: positive identification (PID) and routing to the owning unit with a TAT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Customer Servicing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Cases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Log case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0-case-management/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Customer Servicing › Cases › Log case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Case Management (To-Be)  ·  step 4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10.04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Case referred to the fulfilment unit; TAT due time computed and past-TAT flagged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Customer Servicing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Cases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0-case-management/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Customer Servicing › Cases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Case Management (To-Be)  ·  step 5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10.05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Case returned to the Customer Contact Centre for re-logging with a reason</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Customer Servicing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Cases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Return to CCC</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0-case-management/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Customer Servicing › Cases › Return to CCC</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Case Management (To-Be)  ·  step 6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10.06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Case re-logged and back in the open queue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Customer Servicing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Cases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Re-log</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0-case-management/0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Customer Servicing › Cases › Re-log</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11</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Customer Servicing Facility</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Search by invoice, policy or client name; view policies, invoices and receipts; update contact details.</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CUSTOMER SERVICING FACILITY - Process Flow.pdf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compliance</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2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11.01   Servicing facility: search by invoice no., policy no. or client name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11.02   Client contact details updated from the facility</a:t>
            </a:r>
            <a:endParaRPr lang="en-US"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Customer Servicing Facility  ·  step 1 of 2</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11.01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Servicing facility: search by invoice no., policy no. or client name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Customer Servicing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Servicing facility</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1-customer-servicing-facility/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Customer Servicing › Servicing facility</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Customer Servicing Facility  ·  step 2 of 2</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11.02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Client contact details updated from the facility</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Customer Servicing</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Servicing facility</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Update contact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1-customer-servicing-facility/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Customer Servicing › Servicing facility › Update contact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12</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Renewal (RMEL)</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Renewal master expiry list 140 days out, sanitation and disposition, initial and final RA letters, client acceptance and renewal placement.</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RENEWAL (1).pdf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renewals</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5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12.01   RMEL: policies expiring within 140 days, pending sanitation</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12.02   Sanitation: disposition for renewal / remarket / not for renewal (NRNS letter)</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12.03   Initial renewal advice letter sent 70 days before expiry</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12.04   Final renewal advice letter sent 45 days before expiry</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12.05   Client accepted: renewal policy enters placement and the e-policy cycle</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Renewal (RMEL)  ·  step 1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12.01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RMEL: policies expiring within 140 days, pending sanitation</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Renewal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Pipeline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2-renewal/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Renewal › Pipeline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Renewal (RMEL)  ·  step 2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12.02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Sanitation: disposition for renewal / remarket / not for renewal (NRNS letter)</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Renewal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For renewal</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2-renewal/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Renewal › For renewal</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Renewal (RMEL)  ·  step 3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12.03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Initial renewal advice letter sent 70 days before expiry</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Renewal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Initial RA</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2-renewal/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Renewal › Initial RA</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Renewal (RMEL)  ·  step 4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12.04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Final renewal advice letter sent 45 days before expiry</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Renewal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Final RA</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2-renewal/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Renewal › Final RA</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Renewal (RMEL)  ·  step 5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12.05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Client accepted: renewal policy enters placement and the e-policy cycle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Renewal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Renew → placement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2-renewal/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Renewal › Renew → placement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13</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Reinsurance</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Facultative request with 24-hour acknowledgement and 3-day slip TAT, underwriting information loop, reinsurer security rating, signed slips, closing and debit note; treaties and cessions.</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RENISURANCE PROCESS FLOW.pdf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ri.officer</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6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13.01   Facultative placement request from marketing with the risk details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13.02   Request logged; acknowledgement due within 24 hours (TAT flag)</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13.03   Acknowledged; slip due within 3 working days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13.04   Slip: reinsurers approached with security rating, share and signed-slip evidence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13.05   Closing: placement closed and debit note issued to the cedant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13.06   Treaty register and cessions with capacity monitoring</a:t>
            </a:r>
            <a:endParaRPr lang="en-US"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Reinsurance  ·  step 1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13.01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Facultative placement request from marketing with the risk details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Reinsurance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Facultative placements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Request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3-reinsurance/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Reinsurance › Facultative placements › Request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Reinsurance  ·  step 2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13.02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Request logged; acknowledgement due within 24 hours (TAT flag)</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Reinsurance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Facultative placements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3-reinsurance/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Reinsurance › Facultative placements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Reinsurance  ·  step 3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13.03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Acknowledged; slip due within 3 working days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Reinsurance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Acknowledge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3-reinsurance/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Reinsurance › Acknowledge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Reinsurance  ·  step 4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13.04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Slip: reinsurers approached with security rating, share and signed-slip evidence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Reinsurance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Prepare slip</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3-reinsurance/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Reinsurance › Prepare slip</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Reinsurance  ·  step 5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13.05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Closing: placement closed and debit note issued to the cedant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Reinsurance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Close &amp; debit note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3-reinsurance/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Reinsurance › Close &amp; debit note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Reinsurance  ·  step 6 of 6</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13.06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Treaty register and cessions with capacity monitoring</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Reinsurance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Treaties &amp; cessions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3-reinsurance/0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Reinsurance › Treaties &amp; cessions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14</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Submitted Policies</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Masterlist validation, matching and consolidation, adequacy review with IAAF findings, and hand-off to sanitation 150 days from expiry.</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Submitted Policies_Process Flow.pdf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accountant</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4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14.01   Masterlist upload from the bank / insurer for validation and matching</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14.02   Rows validated, matched and consolidated; each reviewed for adequacy</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14.03   Findings recorded and an Insurance Adequacy Assessment Form (IAAF) issued</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14.04   Policies 150 days from expiry sent to the sanitation handler for renewal / conversion opportunity</a:t>
            </a:r>
            <a:endParaRPr lang="en-US" sz="1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Submitted Policies  ·  step 1 of 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14.01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Masterlist upload from the bank / insurer for validation and matching</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Submitted Policies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Masterlist batches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4-submitted-policies/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Submitted Policies › Masterlist batches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109</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Submitted Policies  ·  step 2 of 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14.02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Rows validated, matched and consolidated; each reviewed for adequacy</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Submitted Policies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Masterlist batches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Run pipeline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4-submitted-policies/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Submitted Policies › Masterlist batches › Run pipeline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Submitted Policies  ·  step 3 of 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14.03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Findings recorded and an Insurance Adequacy Assessment Form (IAAF) issued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Submitted Policies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Findings → IAAF</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4-submitted-policies/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Submitted Policies › Findings → IAAF</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Submitted Policies  ·  step 4 of 4</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14.04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Policies 150 days from expiry sent to the sanitation handler for renewal / conversion opportunity</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Submitted Policies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Expiring (150 days)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4-submitted-policies/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Submitted Policies › Expiring (150 days)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112</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15</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Employee Benefits</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Renewal advice, BOR, TOR with master list and utilisation released to insurers, comparative analysis, award with ISACOM for non-accredited providers, handoff.</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EMPLOYEE BENEFITS - Process Flow.pdf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eb.officer</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5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15.01   Prospect scheme created from the renewal advice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15.02   Broker of Record received, Terms of Reference prepared, member census uploaded</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15.03   TOR, master list and utilisation released to insurers (franchise)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15.04   Comparative analysis of proposals: premium, benefits and capabilities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15.05   Client confirmation and award; ISACOM approval when the provider is not accredited; handoff to processing and collections</a:t>
            </a:r>
            <a:endParaRPr lang="en-US" sz="12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Employee Benefits  ·  step 1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15.01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Prospect scheme created from the renewal advice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Employee Benefits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Create scheme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5-employee-benefits/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Employee Benefits › Create scheme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114</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Employee Benefits  ·  step 2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15.02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Broker of Record received, Terms of Reference prepared, member census uploaded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Employee Benefits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Scheme detail</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5-employee-benefits/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Employee Benefits › Scheme detail</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115</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Employee Benefits  ·  step 3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15.03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TOR, master list and utilisation released to insurers (franchise)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Employee Benefits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Release TOR to insurers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5-employee-benefits/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Employee Benefits › Release TOR to insurers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Employee Benefits  ·  step 4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15.04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Comparative analysis of proposals: premium, benefits and capabilities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Employee Benefits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Proposals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5-employee-benefits/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Employee Benefits › Proposals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117</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Employee Benefits  ·  step 5 of 5</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15.05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Client confirmation and award; ISACOM approval when the provider is not accredited; handoff to processing and collections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Employee Benefits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Award</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5-employee-benefits/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Employee Benefits › Award</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118</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002B7F"/>
        </a:solidFill>
      </p:bgPr>
    </p:bg>
    <p:spTree>
      <p:nvGrpSpPr>
        <p:cNvPr id="1" name=""/>
        <p:cNvGrpSpPr/>
        <p:nvPr/>
      </p:nvGrpSpPr>
      <p:grpSpPr>
        <a:xfrm>
          <a:off x="0" y="0"/>
          <a:ext cx="0" cy="0"/>
          <a:chOff x="0" y="0"/>
          <a:chExt cx="0" cy="0"/>
        </a:xfrm>
      </p:grpSpPr>
      <p:sp>
        <p:nvSpPr>
          <p:cNvPr id="2" name="Shape 0"/>
          <p:cNvSpPr/>
          <p:nvPr/>
        </p:nvSpPr>
        <p:spPr>
          <a:xfrm>
            <a:off x="640080" y="640080"/>
            <a:ext cx="822960" cy="822960"/>
          </a:xfrm>
          <a:prstGeom prst="ellipse">
            <a:avLst/>
          </a:prstGeom>
          <a:solidFill>
            <a:srgbClr val="FFC400"/>
          </a:solidFill>
          <a:ln w="12700">
            <a:solidFill>
              <a:srgbClr val="FFC400"/>
            </a:solidFill>
            <a:prstDash val="solid"/>
          </a:ln>
        </p:spPr>
      </p:sp>
      <p:sp>
        <p:nvSpPr>
          <p:cNvPr id="3" name="Text 1"/>
          <p:cNvSpPr txBox="1"/>
          <p:nvPr/>
        </p:nvSpPr>
        <p:spPr>
          <a:xfrm>
            <a:off x="640080" y="640080"/>
            <a:ext cx="822960" cy="822960"/>
          </a:xfrm>
          <a:prstGeom prst="rect">
            <a:avLst/>
          </a:prstGeom>
          <a:noFill/>
          <a:ln/>
        </p:spPr>
        <p:txBody>
          <a:bodyPr wrap="square" lIns="0" tIns="0" rIns="0" bIns="0" rtlCol="0" anchor="ctr"/>
          <a:lstStyle/>
          <a:p>
            <a:pPr algn="ctr" indent="0" marL="0">
              <a:buNone/>
            </a:pPr>
            <a:r>
              <a:rPr lang="en-US" sz="2600" b="1" dirty="0">
                <a:solidFill>
                  <a:srgbClr val="002B7F"/>
                </a:solidFill>
                <a:latin typeface="Calibri" pitchFamily="34" charset="0"/>
                <a:ea typeface="Calibri" pitchFamily="34" charset="-122"/>
                <a:cs typeface="Calibri" pitchFamily="34" charset="-120"/>
              </a:rPr>
              <a:t>16</a:t>
            </a:r>
            <a:endParaRPr lang="en-US" sz="2600" dirty="0"/>
          </a:p>
        </p:txBody>
      </p:sp>
      <p:sp>
        <p:nvSpPr>
          <p:cNvPr id="4" name="Text 2"/>
          <p:cNvSpPr txBox="1"/>
          <p:nvPr/>
        </p:nvSpPr>
        <p:spPr>
          <a:xfrm>
            <a:off x="1691640" y="457200"/>
            <a:ext cx="4206240" cy="11887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Product Maintenance (TSU)</a:t>
            </a:r>
            <a:endParaRPr lang="en-US" sz="3000" dirty="0"/>
          </a:p>
        </p:txBody>
      </p:sp>
      <p:sp>
        <p:nvSpPr>
          <p:cNvPr id="5" name="Text 3"/>
          <p:cNvSpPr txBox="1"/>
          <p:nvPr/>
        </p:nvSpPr>
        <p:spPr>
          <a:xfrm>
            <a:off x="640080" y="1828800"/>
            <a:ext cx="5120640" cy="23774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Technical Services Unit request for non-packaged risks: completeness and duplicate check, quotation slip, TL approval, RI referral, insurer responses, comparative table and proposal slip; package maintenance with release advisory.</a:t>
            </a:r>
            <a:endParaRPr lang="en-US" sz="1500" dirty="0"/>
          </a:p>
        </p:txBody>
      </p:sp>
      <p:sp>
        <p:nvSpPr>
          <p:cNvPr id="6" name="Text 4"/>
          <p:cNvSpPr txBox="1"/>
          <p:nvPr/>
        </p:nvSpPr>
        <p:spPr>
          <a:xfrm>
            <a:off x="640080" y="475488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Source flow  </a:t>
            </a:r>
            <a:pPr indent="0" marL="0">
              <a:buNone/>
            </a:pPr>
            <a:r>
              <a:rPr lang="en-US" sz="1200" dirty="0">
                <a:solidFill>
                  <a:srgbClr val="FFFFFF"/>
                </a:solidFill>
                <a:latin typeface="Calibri" pitchFamily="34" charset="0"/>
                <a:ea typeface="Calibri" pitchFamily="34" charset="-122"/>
                <a:cs typeface="Calibri" pitchFamily="34" charset="-120"/>
              </a:rPr>
              <a:t>PRODUCT MAINTENANCE TSU PROCESS_0709.pdf</a:t>
            </a:r>
            <a:endParaRPr lang="en-US" sz="1200" dirty="0"/>
          </a:p>
        </p:txBody>
      </p:sp>
      <p:sp>
        <p:nvSpPr>
          <p:cNvPr id="7" name="Text 5"/>
          <p:cNvSpPr txBox="1"/>
          <p:nvPr/>
        </p:nvSpPr>
        <p:spPr>
          <a:xfrm>
            <a:off x="640080" y="516636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Personas  </a:t>
            </a:r>
            <a:pPr indent="0" marL="0">
              <a:buNone/>
            </a:pPr>
            <a:r>
              <a:rPr lang="en-US" sz="1200" dirty="0">
                <a:solidFill>
                  <a:srgbClr val="FFFFFF"/>
                </a:solidFill>
                <a:latin typeface="Calibri" pitchFamily="34" charset="0"/>
                <a:ea typeface="Calibri" pitchFamily="34" charset="-122"/>
                <a:cs typeface="Calibri" pitchFamily="34" charset="-120"/>
              </a:rPr>
              <a:t>admin → uw.head</a:t>
            </a:r>
            <a:endParaRPr lang="en-US" sz="1200" dirty="0"/>
          </a:p>
        </p:txBody>
      </p:sp>
      <p:sp>
        <p:nvSpPr>
          <p:cNvPr id="8" name="Text 6"/>
          <p:cNvSpPr txBox="1"/>
          <p:nvPr/>
        </p:nvSpPr>
        <p:spPr>
          <a:xfrm>
            <a:off x="640080" y="5577840"/>
            <a:ext cx="5120640" cy="411480"/>
          </a:xfrm>
          <a:prstGeom prst="rect">
            <a:avLst/>
          </a:prstGeom>
          <a:noFill/>
          <a:ln/>
        </p:spPr>
        <p:txBody>
          <a:bodyPr wrap="square" lIns="0" tIns="0" rIns="0" bIns="0" rtlCol="0" anchor="ctr"/>
          <a:lstStyle/>
          <a:p>
            <a:pPr indent="0" marL="0">
              <a:buNone/>
            </a:pPr>
            <a:r>
              <a:rPr lang="en-US" sz="1200" b="1" dirty="0">
                <a:solidFill>
                  <a:srgbClr val="FFC400"/>
                </a:solidFill>
                <a:latin typeface="Calibri" pitchFamily="34" charset="0"/>
                <a:ea typeface="Calibri" pitchFamily="34" charset="-122"/>
                <a:cs typeface="Calibri" pitchFamily="34" charset="-120"/>
              </a:rPr>
              <a:t>Screens  </a:t>
            </a:r>
            <a:pPr indent="0" marL="0">
              <a:buNone/>
            </a:pPr>
            <a:r>
              <a:rPr lang="en-US" sz="1200" dirty="0">
                <a:solidFill>
                  <a:srgbClr val="FFFFFF"/>
                </a:solidFill>
                <a:latin typeface="Calibri" pitchFamily="34" charset="0"/>
                <a:ea typeface="Calibri" pitchFamily="34" charset="-122"/>
                <a:cs typeface="Calibri" pitchFamily="34" charset="-120"/>
              </a:rPr>
              <a:t>11 steps captured</a:t>
            </a:r>
            <a:endParaRPr lang="en-US" sz="1200" dirty="0"/>
          </a:p>
        </p:txBody>
      </p:sp>
      <p:sp>
        <p:nvSpPr>
          <p:cNvPr id="9" name="Shape 7"/>
          <p:cNvSpPr/>
          <p:nvPr/>
        </p:nvSpPr>
        <p:spPr>
          <a:xfrm>
            <a:off x="6126480" y="640080"/>
            <a:ext cx="5577840" cy="5577840"/>
          </a:xfrm>
          <a:prstGeom prst="roundRect">
            <a:avLst>
              <a:gd name="adj" fmla="val 1967"/>
            </a:avLst>
          </a:prstGeom>
          <a:solidFill>
            <a:srgbClr val="0A3A9E"/>
          </a:solidFill>
          <a:ln w="12700">
            <a:solidFill>
              <a:srgbClr val="0A3A9E"/>
            </a:solidFill>
            <a:prstDash val="solid"/>
          </a:ln>
        </p:spPr>
      </p:sp>
      <p:sp>
        <p:nvSpPr>
          <p:cNvPr id="10" name="Text 8"/>
          <p:cNvSpPr txBox="1"/>
          <p:nvPr/>
        </p:nvSpPr>
        <p:spPr>
          <a:xfrm>
            <a:off x="6355080" y="777240"/>
            <a:ext cx="5120640" cy="320040"/>
          </a:xfrm>
          <a:prstGeom prst="rect">
            <a:avLst/>
          </a:prstGeom>
          <a:noFill/>
          <a:ln/>
        </p:spPr>
        <p:txBody>
          <a:bodyPr wrap="square" lIns="0" tIns="0" rIns="0" bIns="0" rtlCol="0" anchor="ctr"/>
          <a:lstStyle/>
          <a:p>
            <a:pPr indent="0" marL="0">
              <a:buNone/>
            </a:pPr>
            <a:r>
              <a:rPr lang="en-US" sz="1100" b="1" spc="200" kern="0" dirty="0">
                <a:solidFill>
                  <a:srgbClr val="FFC400"/>
                </a:solidFill>
                <a:latin typeface="Calibri" pitchFamily="34" charset="0"/>
                <a:ea typeface="Calibri" pitchFamily="34" charset="-122"/>
                <a:cs typeface="Calibri" pitchFamily="34" charset="-120"/>
              </a:rPr>
              <a:t>Steps in this flow</a:t>
            </a:r>
            <a:endParaRPr lang="en-US" sz="1100" dirty="0"/>
          </a:p>
        </p:txBody>
      </p:sp>
      <p:sp>
        <p:nvSpPr>
          <p:cNvPr id="11" name="Text 9"/>
          <p:cNvSpPr txBox="1"/>
          <p:nvPr/>
        </p:nvSpPr>
        <p:spPr>
          <a:xfrm>
            <a:off x="6355080" y="1143000"/>
            <a:ext cx="5120640" cy="4937760"/>
          </a:xfrm>
          <a:prstGeom prst="rect">
            <a:avLst/>
          </a:prstGeom>
          <a:noFill/>
          <a:ln/>
        </p:spPr>
        <p:txBody>
          <a:bodyPr wrap="square" lIns="0" tIns="0" rIns="0" bIns="0" rtlCol="0" anchor="t">
            <a:normAutofit/>
          </a:bodyPr>
          <a:lstStyle/>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16.01   PRF / TSU request for a non-packaged risk with completeness and duplicate check</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16.02   TSU acknowledges the request (or returns it as incomplete)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16.03   Quotation slip prepared and approved by the TL</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16.04   RI referral cleared; quotation slip sent to insurers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16.05   Insurer responses recorded (accepted with evidence / declined / conditional); comparative table ready</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16.06   Proposal slip approved with the selected insurer; released to marketing and the client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16.07   Packaged product catalogue with rates, taxes and limits</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16.08   Package maintenance request raised for validation and approval</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16.09   Approver validates the product change</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16.10   Change applied and a release advisory published</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16.11   Insurer panel with accreditation and SFTP enrolment for placement channels</a:t>
            </a:r>
            <a:endParaRPr lang="en-US" sz="12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1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16.01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PRF / TSU request for a non-packaged risk with completeness and duplicate check</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Product Maintenance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TSU requests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Submit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0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Product Maintenance › TSU requests › Submit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120</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2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16.02</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TSU acknowledges the request (or returns it as incomplete)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Product Maintenance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TSU requests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Acknowledge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02.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Product Maintenance › TSU requests › Acknowledge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121</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3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16.03</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Quotation slip prepared and approved by the TL</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Product Maintenance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TSU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TL approve QS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03.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Product Maintenance › TSU detail › TL approve QS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122</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4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16.04</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RI referral cleared; quotation slip sent to insurers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Product Maintenance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TSU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Send QS to insurers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04.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Product Maintenance › TSU detail › Send QS to insurers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123</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5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16.05</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Insurer responses recorded (accepted with evidence / declined / conditional); comparative table ready</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Product Maintenance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TSU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Comparative table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05.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Product Maintenance › TSU detail › Comparative table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124</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6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16.06</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Proposal slip approved with the selected insurer; released to marketing and the client</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Product Maintenance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TSU detail</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Approve proposal slip</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06.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Product Maintenance › TSU detail › Approve proposal slip</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125</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7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16.07</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Packaged product catalogue with rates, taxes and limits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Product Maintenance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Packages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07.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Product Maintenance › Packages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126</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8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16.08</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Package maintenance request raised for validation and approval</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Product Maintenance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Packages</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Change request</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08.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Product Maintenance › Packages › Change request</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127</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9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16.09</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Approver validates the product change</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Pending</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09.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Pending</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128</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10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16.10</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Change applied and a release advisory published</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Approvals &amp; Audit</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Approve</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10.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Approvals &amp; Audit › Approve</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129</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7315200" cy="320040"/>
          </a:xfrm>
          <a:prstGeom prst="rect">
            <a:avLst/>
          </a:prstGeom>
          <a:noFill/>
          <a:ln/>
        </p:spPr>
        <p:txBody>
          <a:bodyPr wrap="square" lIns="0" tIns="0" rIns="0" bIns="0" rtlCol="0" anchor="ctr"/>
          <a:lstStyle/>
          <a:p>
            <a:pPr indent="0" marL="0">
              <a:buNone/>
            </a:pPr>
            <a:r>
              <a:rPr lang="en-US" sz="1100" b="1" spc="100" kern="0" dirty="0">
                <a:solidFill>
                  <a:srgbClr val="0A49B8"/>
                </a:solidFill>
                <a:latin typeface="Calibri" pitchFamily="34" charset="0"/>
                <a:ea typeface="Calibri" pitchFamily="34" charset="-122"/>
                <a:cs typeface="Calibri" pitchFamily="34" charset="-120"/>
              </a:rPr>
              <a:t>Product Maintenance (TSU)  ·  step 11 of 11</a:t>
            </a:r>
            <a:endParaRPr lang="en-US" sz="1100" dirty="0"/>
          </a:p>
        </p:txBody>
      </p:sp>
      <p:sp>
        <p:nvSpPr>
          <p:cNvPr id="3" name="Shape 1"/>
          <p:cNvSpPr/>
          <p:nvPr/>
        </p:nvSpPr>
        <p:spPr>
          <a:xfrm>
            <a:off x="457200" y="868680"/>
            <a:ext cx="457200" cy="457200"/>
          </a:xfrm>
          <a:prstGeom prst="ellipse">
            <a:avLst/>
          </a:prstGeom>
          <a:solidFill>
            <a:srgbClr val="FFC400"/>
          </a:solidFill>
          <a:ln w="12700">
            <a:solidFill>
              <a:srgbClr val="FFC400"/>
            </a:solidFill>
            <a:prstDash val="solid"/>
          </a:ln>
        </p:spPr>
      </p:sp>
      <p:sp>
        <p:nvSpPr>
          <p:cNvPr id="4" name="Text 2"/>
          <p:cNvSpPr txBox="1"/>
          <p:nvPr/>
        </p:nvSpPr>
        <p:spPr>
          <a:xfrm>
            <a:off x="457200" y="868680"/>
            <a:ext cx="457200" cy="457200"/>
          </a:xfrm>
          <a:prstGeom prst="rect">
            <a:avLst/>
          </a:prstGeom>
          <a:noFill/>
          <a:ln/>
        </p:spPr>
        <p:txBody>
          <a:bodyPr wrap="square" lIns="0" tIns="0" rIns="0" bIns="0" rtlCol="0" anchor="ctr"/>
          <a:lstStyle/>
          <a:p>
            <a:pPr algn="ctr" indent="0" marL="0">
              <a:buNone/>
            </a:pPr>
            <a:r>
              <a:rPr lang="en-US" sz="1000" b="1" dirty="0">
                <a:solidFill>
                  <a:srgbClr val="002B7F"/>
                </a:solidFill>
                <a:latin typeface="Calibri" pitchFamily="34" charset="0"/>
                <a:ea typeface="Calibri" pitchFamily="34" charset="-122"/>
                <a:cs typeface="Calibri" pitchFamily="34" charset="-120"/>
              </a:rPr>
              <a:t>16.11</a:t>
            </a:r>
            <a:endParaRPr lang="en-US" sz="1000" dirty="0"/>
          </a:p>
        </p:txBody>
      </p:sp>
      <p:sp>
        <p:nvSpPr>
          <p:cNvPr id="5" name="Text 3"/>
          <p:cNvSpPr txBox="1"/>
          <p:nvPr/>
        </p:nvSpPr>
        <p:spPr>
          <a:xfrm>
            <a:off x="457200" y="1463040"/>
            <a:ext cx="3749040" cy="2377440"/>
          </a:xfrm>
          <a:prstGeom prst="rect">
            <a:avLst/>
          </a:prstGeom>
          <a:noFill/>
          <a:ln/>
        </p:spPr>
        <p:txBody>
          <a:bodyPr wrap="square" lIns="0" tIns="0" rIns="0" bIns="0" rtlCol="0" anchor="t">
            <a:normAutofit/>
          </a:bodyPr>
          <a:lstStyle/>
          <a:p>
            <a:pPr indent="0" marL="0">
              <a:buNone/>
            </a:pPr>
            <a:r>
              <a:rPr lang="en-US" sz="2000" b="1" dirty="0">
                <a:solidFill>
                  <a:srgbClr val="14213D"/>
                </a:solidFill>
                <a:latin typeface="Cambria" pitchFamily="34" charset="0"/>
                <a:ea typeface="Cambria" pitchFamily="34" charset="-122"/>
                <a:cs typeface="Cambria" pitchFamily="34" charset="-120"/>
              </a:rPr>
              <a:t>Insurer panel with accreditation and SFTP enrolment for placement channels</a:t>
            </a:r>
            <a:endParaRPr lang="en-US" sz="2000" dirty="0"/>
          </a:p>
        </p:txBody>
      </p:sp>
      <p:sp>
        <p:nvSpPr>
          <p:cNvPr id="6" name="Text 4"/>
          <p:cNvSpPr txBox="1"/>
          <p:nvPr/>
        </p:nvSpPr>
        <p:spPr>
          <a:xfrm>
            <a:off x="457200" y="4023360"/>
            <a:ext cx="3749040" cy="274320"/>
          </a:xfrm>
          <a:prstGeom prst="rect">
            <a:avLst/>
          </a:prstGeom>
          <a:noFill/>
          <a:ln/>
        </p:spPr>
        <p:txBody>
          <a:bodyPr wrap="square" lIns="0" tIns="0" rIns="0" bIns="0" rtlCol="0" anchor="ctr"/>
          <a:lstStyle/>
          <a:p>
            <a:pPr indent="0" marL="0">
              <a:buNone/>
            </a:pPr>
            <a:r>
              <a:rPr lang="en-US" sz="1000" b="1" spc="200" kern="0" dirty="0">
                <a:solidFill>
                  <a:srgbClr val="5B6478"/>
                </a:solidFill>
                <a:latin typeface="Calibri" pitchFamily="34" charset="0"/>
                <a:ea typeface="Calibri" pitchFamily="34" charset="-122"/>
                <a:cs typeface="Calibri" pitchFamily="34" charset="-120"/>
              </a:rPr>
              <a:t>Screen</a:t>
            </a:r>
            <a:endParaRPr lang="en-US" sz="1000" dirty="0"/>
          </a:p>
        </p:txBody>
      </p:sp>
      <p:sp>
        <p:nvSpPr>
          <p:cNvPr id="7" name="Text 5"/>
          <p:cNvSpPr txBox="1"/>
          <p:nvPr/>
        </p:nvSpPr>
        <p:spPr>
          <a:xfrm>
            <a:off x="457200" y="4297680"/>
            <a:ext cx="3749040" cy="1280160"/>
          </a:xfrm>
          <a:prstGeom prst="rect">
            <a:avLst/>
          </a:prstGeom>
          <a:noFill/>
          <a:ln/>
        </p:spPr>
        <p:txBody>
          <a:bodyPr wrap="square" lIns="0" tIns="0" rIns="0" bIns="0" rtlCol="0" anchor="t">
            <a:normAutofit/>
          </a:bodyPr>
          <a:lstStyle/>
          <a:p>
            <a:pPr indent="0" marL="0">
              <a:buNone/>
            </a:pPr>
            <a:r>
              <a:rPr lang="en-US" sz="1300" b="1" dirty="0">
                <a:solidFill>
                  <a:srgbClr val="002B7F"/>
                </a:solidFill>
                <a:latin typeface="Calibri" pitchFamily="34" charset="0"/>
                <a:ea typeface="Calibri" pitchFamily="34" charset="-122"/>
                <a:cs typeface="Calibri" pitchFamily="34" charset="-120"/>
              </a:rPr>
              <a:t>Product Maintenance</a:t>
            </a:r>
            <a:endParaRPr lang="en-US" sz="1300" dirty="0"/>
          </a:p>
          <a:p>
            <a:pPr indent="0" marL="0">
              <a:buNone/>
            </a:pPr>
            <a:r>
              <a:rPr lang="en-US" sz="1300" dirty="0">
                <a:solidFill>
                  <a:srgbClr val="14213D"/>
                </a:solidFill>
                <a:latin typeface="Calibri" pitchFamily="34" charset="0"/>
                <a:ea typeface="Calibri" pitchFamily="34" charset="-122"/>
                <a:cs typeface="Calibri" pitchFamily="34" charset="-120"/>
              </a:rPr>
              <a:t>Insurers</a:t>
            </a:r>
            <a:endParaRPr lang="en-US" sz="1300" dirty="0"/>
          </a:p>
        </p:txBody>
      </p:sp>
      <p:sp>
        <p:nvSpPr>
          <p:cNvPr id="8" name="Shape 6"/>
          <p:cNvSpPr/>
          <p:nvPr/>
        </p:nvSpPr>
        <p:spPr>
          <a:xfrm>
            <a:off x="4480560" y="868680"/>
            <a:ext cx="7315200" cy="4572000"/>
          </a:xfrm>
          <a:prstGeom prst="rect">
            <a:avLst/>
          </a:prstGeom>
          <a:solidFill>
            <a:srgbClr val="FFFFFF"/>
          </a:solidFill>
          <a:ln w="9525">
            <a:solidFill>
              <a:srgbClr val="D9DFEA"/>
            </a:solidFill>
            <a:prstDash val="solid"/>
          </a:ln>
          <a:effectLst>
            <a:outerShdw sx="100000" sy="100000" kx="0" ky="0" algn="bl" rotWithShape="0" blurRad="76200" dist="25400" dir="5400000">
              <a:srgbClr val="002B7F">
                <a:alpha val="12000"/>
              </a:srgbClr>
            </a:outerShdw>
          </a:effectLst>
        </p:spPr>
      </p:sp>
      <p:pic>
        <p:nvPicPr>
          <p:cNvPr id="9" name="Image 0" descr="/home/user/Brokerverse/docs/process-walkthrough/shots/16-product-maintenance-tsu/11.jpg">    </p:cNvPr>
          <p:cNvPicPr>
            <a:picLocks noChangeAspect="1"/>
          </p:cNvPicPr>
          <p:nvPr/>
        </p:nvPicPr>
        <p:blipFill>
          <a:blip r:embed="rId1"/>
          <a:stretch>
            <a:fillRect/>
          </a:stretch>
        </p:blipFill>
        <p:spPr>
          <a:xfrm>
            <a:off x="4480560" y="868680"/>
            <a:ext cx="7315200" cy="4572000"/>
          </a:xfrm>
          <a:prstGeom prst="rect">
            <a:avLst/>
          </a:prstGeom>
        </p:spPr>
      </p:pic>
      <p:sp>
        <p:nvSpPr>
          <p:cNvPr id="10" name="Text 7"/>
          <p:cNvSpPr txBox="1"/>
          <p:nvPr/>
        </p:nvSpPr>
        <p:spPr>
          <a:xfrm>
            <a:off x="4480560" y="5532120"/>
            <a:ext cx="7315200" cy="320040"/>
          </a:xfrm>
          <a:prstGeom prst="rect">
            <a:avLst/>
          </a:prstGeom>
          <a:noFill/>
          <a:ln/>
        </p:spPr>
        <p:txBody>
          <a:bodyPr wrap="square" lIns="0" tIns="0" rIns="0" bIns="0" rtlCol="0" anchor="ctr">
            <a:normAutofit/>
          </a:bodyPr>
          <a:lstStyle/>
          <a:p>
            <a:pPr indent="0" marL="0">
              <a:buNone/>
            </a:pPr>
            <a:r>
              <a:rPr lang="en-US" sz="1000" dirty="0">
                <a:solidFill>
                  <a:srgbClr val="5B6478"/>
                </a:solidFill>
                <a:latin typeface="Calibri" pitchFamily="34" charset="0"/>
                <a:ea typeface="Calibri" pitchFamily="34" charset="-122"/>
                <a:cs typeface="Calibri" pitchFamily="34" charset="-120"/>
              </a:rPr>
              <a:t>Menu path: Product Maintenance › Insurers</a:t>
            </a:r>
            <a:endParaRPr lang="en-US" sz="1000" dirty="0"/>
          </a:p>
        </p:txBody>
      </p:sp>
      <p:sp>
        <p:nvSpPr>
          <p:cNvPr id="12" name="Text 8"/>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900" dirty="0">
                <a:solidFill>
                  <a:srgbClr val="5B6478"/>
                </a:solidFill>
                <a:latin typeface="Calibri" pitchFamily="34" charset="0"/>
                <a:ea typeface="Calibri" pitchFamily="34" charset="-122"/>
                <a:cs typeface="Calibri" pitchFamily="34" charset="-120"/>
              </a:rPr>
              <a:t>BrokerVerse  ·  BDO Insure  ·  delivered by iorta TechNXT</a:t>
            </a:r>
            <a:endParaRPr lang="en-US" sz="900" dirty="0"/>
          </a:p>
        </p:txBody>
      </p:sp>
      <p:sp>
        <p:nvSpPr>
          <p:cNvPr id="13" name="Text 9"/>
          <p:cNvSpPr txBox="1"/>
          <p:nvPr/>
        </p:nvSpPr>
        <p:spPr>
          <a:xfrm>
            <a:off x="10972800" y="6446520"/>
            <a:ext cx="758952"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130</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002B7F"/>
        </a:solidFill>
      </p:bgPr>
    </p:bg>
    <p:spTree>
      <p:nvGrpSpPr>
        <p:cNvPr id="1" name=""/>
        <p:cNvGrpSpPr/>
        <p:nvPr/>
      </p:nvGrpSpPr>
      <p:grpSpPr>
        <a:xfrm>
          <a:off x="0" y="0"/>
          <a:ext cx="0" cy="0"/>
          <a:chOff x="0" y="0"/>
          <a:chExt cx="0" cy="0"/>
        </a:xfrm>
      </p:grpSpPr>
      <p:sp>
        <p:nvSpPr>
          <p:cNvPr id="2" name="Text 0"/>
          <p:cNvSpPr txBox="1"/>
          <p:nvPr/>
        </p:nvSpPr>
        <p:spPr>
          <a:xfrm>
            <a:off x="640080" y="64008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Where to open BrokerVerse</a:t>
            </a:r>
            <a:endParaRPr lang="en-US" sz="3600" dirty="0"/>
          </a:p>
        </p:txBody>
      </p:sp>
      <p:sp>
        <p:nvSpPr>
          <p:cNvPr id="3" name="Shape 1"/>
          <p:cNvSpPr/>
          <p:nvPr/>
        </p:nvSpPr>
        <p:spPr>
          <a:xfrm>
            <a:off x="640080" y="1783080"/>
            <a:ext cx="411480" cy="411480"/>
          </a:xfrm>
          <a:prstGeom prst="ellipse">
            <a:avLst/>
          </a:prstGeom>
          <a:solidFill>
            <a:srgbClr val="FFC400"/>
          </a:solidFill>
          <a:ln w="12700">
            <a:solidFill>
              <a:srgbClr val="FFC400"/>
            </a:solidFill>
            <a:prstDash val="solid"/>
          </a:ln>
        </p:spPr>
      </p:sp>
      <p:sp>
        <p:nvSpPr>
          <p:cNvPr id="4" name="Text 2"/>
          <p:cNvSpPr txBox="1"/>
          <p:nvPr/>
        </p:nvSpPr>
        <p:spPr>
          <a:xfrm>
            <a:off x="640080" y="1783080"/>
            <a:ext cx="411480" cy="41148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280160" y="1737360"/>
            <a:ext cx="3840480" cy="457200"/>
          </a:xfrm>
          <a:prstGeom prst="rect">
            <a:avLst/>
          </a:prstGeom>
          <a:noFill/>
          <a:ln/>
        </p:spPr>
        <p:txBody>
          <a:bodyPr wrap="square" lIns="0" tIns="0" rIns="0" bIns="0" rtlCol="0" anchor="ctr"/>
          <a:lstStyle/>
          <a:p>
            <a:pPr indent="0" marL="0">
              <a:buNone/>
            </a:pPr>
            <a:r>
              <a:rPr lang="en-US" sz="1600" b="1" dirty="0">
                <a:solidFill>
                  <a:srgbClr val="FFC400"/>
                </a:solidFill>
                <a:latin typeface="Calibri" pitchFamily="34" charset="0"/>
                <a:ea typeface="Calibri" pitchFamily="34" charset="-122"/>
                <a:cs typeface="Calibri" pitchFamily="34" charset="-120"/>
              </a:rPr>
              <a:t>Demo with sample data</a:t>
            </a:r>
            <a:endParaRPr lang="en-US" sz="1600" dirty="0"/>
          </a:p>
        </p:txBody>
      </p:sp>
      <p:sp>
        <p:nvSpPr>
          <p:cNvPr id="6" name="Text 4"/>
          <p:cNvSpPr txBox="1"/>
          <p:nvPr/>
        </p:nvSpPr>
        <p:spPr>
          <a:xfrm>
            <a:off x="5212080" y="1737360"/>
            <a:ext cx="6400800" cy="45720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Courier New" pitchFamily="34" charset="0"/>
                <a:ea typeface="Courier New" pitchFamily="34" charset="-122"/>
                <a:cs typeface="Courier New" pitchFamily="34" charset="-120"/>
              </a:rPr>
              <a:t>https://claude.ai/artifact/J5CoEBTpXYt77pVyruPQ5v</a:t>
            </a:r>
            <a:endParaRPr lang="en-US" sz="1200" dirty="0"/>
          </a:p>
        </p:txBody>
      </p:sp>
      <p:sp>
        <p:nvSpPr>
          <p:cNvPr id="7" name="Text 5"/>
          <p:cNvSpPr txBox="1"/>
          <p:nvPr/>
        </p:nvSpPr>
        <p:spPr>
          <a:xfrm>
            <a:off x="1280160" y="2194560"/>
            <a:ext cx="10332720" cy="4572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Sign in as admin / Admin@123, or any persona with Broker@123. Actions are simulated.</a:t>
            </a:r>
            <a:endParaRPr lang="en-US" sz="1200" dirty="0"/>
          </a:p>
        </p:txBody>
      </p:sp>
      <p:sp>
        <p:nvSpPr>
          <p:cNvPr id="8" name="Shape 6"/>
          <p:cNvSpPr/>
          <p:nvPr/>
        </p:nvSpPr>
        <p:spPr>
          <a:xfrm>
            <a:off x="640080" y="2880360"/>
            <a:ext cx="411480" cy="411480"/>
          </a:xfrm>
          <a:prstGeom prst="ellipse">
            <a:avLst/>
          </a:prstGeom>
          <a:solidFill>
            <a:srgbClr val="FFC400"/>
          </a:solidFill>
          <a:ln w="12700">
            <a:solidFill>
              <a:srgbClr val="FFC400"/>
            </a:solidFill>
            <a:prstDash val="solid"/>
          </a:ln>
        </p:spPr>
      </p:sp>
      <p:sp>
        <p:nvSpPr>
          <p:cNvPr id="9" name="Text 7"/>
          <p:cNvSpPr txBox="1"/>
          <p:nvPr/>
        </p:nvSpPr>
        <p:spPr>
          <a:xfrm>
            <a:off x="640080" y="2880360"/>
            <a:ext cx="411480" cy="41148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280160" y="2834640"/>
            <a:ext cx="3840480" cy="457200"/>
          </a:xfrm>
          <a:prstGeom prst="rect">
            <a:avLst/>
          </a:prstGeom>
          <a:noFill/>
          <a:ln/>
        </p:spPr>
        <p:txBody>
          <a:bodyPr wrap="square" lIns="0" tIns="0" rIns="0" bIns="0" rtlCol="0" anchor="ctr"/>
          <a:lstStyle/>
          <a:p>
            <a:pPr indent="0" marL="0">
              <a:buNone/>
            </a:pPr>
            <a:r>
              <a:rPr lang="en-US" sz="1600" b="1" dirty="0">
                <a:solidFill>
                  <a:srgbClr val="FFC400"/>
                </a:solidFill>
                <a:latin typeface="Calibri" pitchFamily="34" charset="0"/>
                <a:ea typeface="Calibri" pitchFamily="34" charset="-122"/>
                <a:cs typeface="Calibri" pitchFamily="34" charset="-120"/>
              </a:rPr>
              <a:t>Illustrated walkthrough</a:t>
            </a:r>
            <a:endParaRPr lang="en-US" sz="1600" dirty="0"/>
          </a:p>
        </p:txBody>
      </p:sp>
      <p:sp>
        <p:nvSpPr>
          <p:cNvPr id="11" name="Text 9"/>
          <p:cNvSpPr txBox="1"/>
          <p:nvPr/>
        </p:nvSpPr>
        <p:spPr>
          <a:xfrm>
            <a:off x="5212080" y="2834640"/>
            <a:ext cx="6400800" cy="45720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Courier New" pitchFamily="34" charset="0"/>
                <a:ea typeface="Courier New" pitchFamily="34" charset="-122"/>
                <a:cs typeface="Courier New" pitchFamily="34" charset="-120"/>
              </a:rPr>
              <a:t>https://claude.ai/artifact/EFoSW1GzSezVPJ8QhgeKvi</a:t>
            </a:r>
            <a:endParaRPr lang="en-US" sz="1200" dirty="0"/>
          </a:p>
        </p:txBody>
      </p:sp>
      <p:sp>
        <p:nvSpPr>
          <p:cNvPr id="12" name="Text 10"/>
          <p:cNvSpPr txBox="1"/>
          <p:nvPr/>
        </p:nvSpPr>
        <p:spPr>
          <a:xfrm>
            <a:off x="1280160" y="3291840"/>
            <a:ext cx="10332720" cy="4572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same screens as this deck, with full-size captures.</a:t>
            </a:r>
            <a:endParaRPr lang="en-US" sz="1200" dirty="0"/>
          </a:p>
        </p:txBody>
      </p:sp>
      <p:sp>
        <p:nvSpPr>
          <p:cNvPr id="13" name="Shape 11"/>
          <p:cNvSpPr/>
          <p:nvPr/>
        </p:nvSpPr>
        <p:spPr>
          <a:xfrm>
            <a:off x="640080" y="3977640"/>
            <a:ext cx="411480" cy="411480"/>
          </a:xfrm>
          <a:prstGeom prst="ellipse">
            <a:avLst/>
          </a:prstGeom>
          <a:solidFill>
            <a:srgbClr val="FFC400"/>
          </a:solidFill>
          <a:ln w="12700">
            <a:solidFill>
              <a:srgbClr val="FFC400"/>
            </a:solidFill>
            <a:prstDash val="solid"/>
          </a:ln>
        </p:spPr>
      </p:sp>
      <p:sp>
        <p:nvSpPr>
          <p:cNvPr id="14" name="Text 12"/>
          <p:cNvSpPr txBox="1"/>
          <p:nvPr/>
        </p:nvSpPr>
        <p:spPr>
          <a:xfrm>
            <a:off x="640080" y="3977640"/>
            <a:ext cx="411480" cy="41148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280160" y="3931920"/>
            <a:ext cx="3840480" cy="457200"/>
          </a:xfrm>
          <a:prstGeom prst="rect">
            <a:avLst/>
          </a:prstGeom>
          <a:noFill/>
          <a:ln/>
        </p:spPr>
        <p:txBody>
          <a:bodyPr wrap="square" lIns="0" tIns="0" rIns="0" bIns="0" rtlCol="0" anchor="ctr"/>
          <a:lstStyle/>
          <a:p>
            <a:pPr indent="0" marL="0">
              <a:buNone/>
            </a:pPr>
            <a:r>
              <a:rPr lang="en-US" sz="1600" b="1" dirty="0">
                <a:solidFill>
                  <a:srgbClr val="FFC400"/>
                </a:solidFill>
                <a:latin typeface="Calibri" pitchFamily="34" charset="0"/>
                <a:ea typeface="Calibri" pitchFamily="34" charset="-122"/>
                <a:cs typeface="Calibri" pitchFamily="34" charset="-120"/>
              </a:rPr>
              <a:t>Full platform on your machine</a:t>
            </a:r>
            <a:endParaRPr lang="en-US" sz="1600" dirty="0"/>
          </a:p>
        </p:txBody>
      </p:sp>
      <p:sp>
        <p:nvSpPr>
          <p:cNvPr id="16" name="Text 14"/>
          <p:cNvSpPr txBox="1"/>
          <p:nvPr/>
        </p:nvSpPr>
        <p:spPr>
          <a:xfrm>
            <a:off x="5212080" y="3931920"/>
            <a:ext cx="6400800" cy="45720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Courier New" pitchFamily="34" charset="0"/>
                <a:ea typeface="Courier New" pitchFamily="34" charset="-122"/>
                <a:cs typeface="Courier New" pitchFamily="34" charset="-120"/>
              </a:rPr>
              <a:t>npm install  ·  npm run setup  ·  npm run dev</a:t>
            </a:r>
            <a:endParaRPr lang="en-US" sz="1200" dirty="0"/>
          </a:p>
        </p:txBody>
      </p:sp>
      <p:sp>
        <p:nvSpPr>
          <p:cNvPr id="17" name="Text 15"/>
          <p:cNvSpPr txBox="1"/>
          <p:nvPr/>
        </p:nvSpPr>
        <p:spPr>
          <a:xfrm>
            <a:off x="1280160" y="4389120"/>
            <a:ext cx="10332720" cy="4572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Then browse to http://localhost:5173. Docker: docker compose up --build serves http://localhost:8080.</a:t>
            </a:r>
            <a:endParaRPr lang="en-US" sz="1200" dirty="0"/>
          </a:p>
        </p:txBody>
      </p:sp>
      <p:sp>
        <p:nvSpPr>
          <p:cNvPr id="18" name="Shape 16"/>
          <p:cNvSpPr/>
          <p:nvPr/>
        </p:nvSpPr>
        <p:spPr>
          <a:xfrm>
            <a:off x="640080" y="5074920"/>
            <a:ext cx="411480" cy="411480"/>
          </a:xfrm>
          <a:prstGeom prst="ellipse">
            <a:avLst/>
          </a:prstGeom>
          <a:solidFill>
            <a:srgbClr val="FFC400"/>
          </a:solidFill>
          <a:ln w="12700">
            <a:solidFill>
              <a:srgbClr val="FFC400"/>
            </a:solidFill>
            <a:prstDash val="solid"/>
          </a:ln>
        </p:spPr>
      </p:sp>
      <p:sp>
        <p:nvSpPr>
          <p:cNvPr id="19" name="Text 17"/>
          <p:cNvSpPr txBox="1"/>
          <p:nvPr/>
        </p:nvSpPr>
        <p:spPr>
          <a:xfrm>
            <a:off x="640080" y="5074920"/>
            <a:ext cx="411480" cy="411480"/>
          </a:xfrm>
          <a:prstGeom prst="rect">
            <a:avLst/>
          </a:prstGeom>
          <a:noFill/>
          <a:ln/>
        </p:spPr>
        <p:txBody>
          <a:bodyPr wrap="square" lIns="0" tIns="0" rIns="0" bIns="0" rtlCol="0" anchor="ctr"/>
          <a:lstStyle/>
          <a:p>
            <a:pPr algn="ctr" indent="0" marL="0">
              <a:buNone/>
            </a:pPr>
            <a:r>
              <a:rPr lang="en-US" sz="1400" b="1" dirty="0">
                <a:solidFill>
                  <a:srgbClr val="002B7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280160" y="5029200"/>
            <a:ext cx="3840480" cy="457200"/>
          </a:xfrm>
          <a:prstGeom prst="rect">
            <a:avLst/>
          </a:prstGeom>
          <a:noFill/>
          <a:ln/>
        </p:spPr>
        <p:txBody>
          <a:bodyPr wrap="square" lIns="0" tIns="0" rIns="0" bIns="0" rtlCol="0" anchor="ctr"/>
          <a:lstStyle/>
          <a:p>
            <a:pPr indent="0" marL="0">
              <a:buNone/>
            </a:pPr>
            <a:r>
              <a:rPr lang="en-US" sz="1600" b="1" dirty="0">
                <a:solidFill>
                  <a:srgbClr val="FFC400"/>
                </a:solidFill>
                <a:latin typeface="Calibri" pitchFamily="34" charset="0"/>
                <a:ea typeface="Calibri" pitchFamily="34" charset="-122"/>
                <a:cs typeface="Calibri" pitchFamily="34" charset="-120"/>
              </a:rPr>
              <a:t>Regenerate the screens</a:t>
            </a:r>
            <a:endParaRPr lang="en-US" sz="1600" dirty="0"/>
          </a:p>
        </p:txBody>
      </p:sp>
      <p:sp>
        <p:nvSpPr>
          <p:cNvPr id="21" name="Text 19"/>
          <p:cNvSpPr txBox="1"/>
          <p:nvPr/>
        </p:nvSpPr>
        <p:spPr>
          <a:xfrm>
            <a:off x="5212080" y="5029200"/>
            <a:ext cx="6400800" cy="457200"/>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Courier New" pitchFamily="34" charset="0"/>
                <a:ea typeface="Courier New" pitchFamily="34" charset="-122"/>
                <a:cs typeface="Courier New" pitchFamily="34" charset="-120"/>
              </a:rPr>
              <a:t>npm run walkthrough</a:t>
            </a:r>
            <a:endParaRPr lang="en-US" sz="1200" dirty="0"/>
          </a:p>
        </p:txBody>
      </p:sp>
      <p:sp>
        <p:nvSpPr>
          <p:cNvPr id="22" name="Text 20"/>
          <p:cNvSpPr txBox="1"/>
          <p:nvPr/>
        </p:nvSpPr>
        <p:spPr>
          <a:xfrm>
            <a:off x="1280160" y="5486400"/>
            <a:ext cx="10332720" cy="4572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Re-runs every process in a browser against a running local stack and rebuilds the page.</a:t>
            </a:r>
            <a:endParaRPr lang="en-US" sz="1200" dirty="0"/>
          </a:p>
        </p:txBody>
      </p:sp>
      <p:sp>
        <p:nvSpPr>
          <p:cNvPr id="23" name="Shape 21"/>
          <p:cNvSpPr/>
          <p:nvPr/>
        </p:nvSpPr>
        <p:spPr>
          <a:xfrm>
            <a:off x="9052560" y="5852160"/>
            <a:ext cx="2514600" cy="777240"/>
          </a:xfrm>
          <a:prstGeom prst="roundRect">
            <a:avLst>
              <a:gd name="adj" fmla="val 11765"/>
            </a:avLst>
          </a:prstGeom>
          <a:solidFill>
            <a:srgbClr val="FFFFFF"/>
          </a:solidFill>
          <a:ln w="12700">
            <a:solidFill>
              <a:srgbClr val="FFFFFF"/>
            </a:solidFill>
            <a:prstDash val="solid"/>
          </a:ln>
        </p:spPr>
      </p:sp>
      <p:pic>
        <p:nvPicPr>
          <p:cNvPr id="24" name="Image 0" descr="/home/user/Brokerverse/web/public/iorta-technxt-logo.png">    </p:cNvPr>
          <p:cNvPicPr>
            <a:picLocks noChangeAspect="1"/>
          </p:cNvPicPr>
          <p:nvPr/>
        </p:nvPicPr>
        <p:blipFill>
          <a:blip r:embed="rId1"/>
          <a:stretch>
            <a:fillRect/>
          </a:stretch>
        </p:blipFill>
        <p:spPr>
          <a:xfrm>
            <a:off x="9189720" y="5943600"/>
            <a:ext cx="2011680" cy="6035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131</Slides>
  <Notes>131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131</vt:i4>
      </vt:variant>
    </vt:vector>
  </HeadingPairs>
  <TitlesOfParts>
    <vt:vector size="1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vector>
  </TitlesOfParts>
  <Company>BDO Insurance and Reinsurance Brokers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BrokerVerse Process Walkthrough</dc:title>
  <dc:subject>PptxGenJS Presentation</dc:subject>
  <dc:creator>iorta TechNXT</dc:creator>
  <cp:lastModifiedBy>iorta TechNXT</cp:lastModifiedBy>
  <cp:revision>1</cp:revision>
  <dcterms:created xsi:type="dcterms:W3CDTF">2026-09-23T10:50:52Z</dcterms:created>
  <dcterms:modified xsi:type="dcterms:W3CDTF">2026-09-23T10:50:52Z</dcterms:modified>
</cp:coreProperties>
</file>