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 stands between BDO clients and the insurance market: it onboards and screens the client, quotes and places the risk, books and invoices, collects, retains commission and remits net premium, accounts for every peso, services the client, handles claims and renews the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each lane is a unit or counterparty, each column a stage. Gold boxes are the client’s own steps; dashed arrows are conditional branches (non-packaged risk to TSU, large risk to reinsurance, claim accepted only when premium is paid). The BDOIR end-to-end flow integrated with the New Business, TSU, Reinsurance, Operations, Collections, Disbursement, FRBS, ACSL, Refund, Claims, Case Management and Renewal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Gross premium arrives through the cashiering channels and is applied to the invoice; the weekly remittance extract pays insurers the net premium through the disbursement chain. When a client pays the insurer directly, BDOI bills the insurer for its commission. Refunds go back only through a Refund Request Form and the disbursement chain. Claims money never passes through BDOI. As cedant, BDOI remits reinsurance premium and collects reinsurance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Collections start 10–15 days after booking and the credit term is 60 days; a commitment beyond it needs a credit-term extension. Claims are accepted only while the policy is in force and the premium is paid. The renewal master expiry list opens 140 days before expiry, with renewal advices at 70 and 45 days; an accepted renewal is placed and booked like new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&amp; screening. Units: Marketing Account Officer (MAO) · Compliance. Starts when A prospect walks in, a BDO branch or loan unit refers a client (CBG home / motor loans, CLPC), or a corporate account is prospected. Client created with KYC details and TIN Automatic sanctions and PEP screening; hit → Compliance clears or declines Risk score and tier set the customer due-diligence level Produces: Client record (CLT-no.), screening result, CDD level. Control: No quotation without a screened client; declined clients cannot transact.. Clock: Immediate. Screen: Sanction Screening &amp;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Quotation &amp; proposal. Units: MAO · Marketing TL · TSU (non-packaged) · Reinsurance. Starts when Screened client requests cover, or a renewal/conversion opportunity is opened. Packaged product: rating engine prices premium, VAT, DST, LGT, FST and commission from the product table Non-packaged risk: TSU request → completeness and duplicate check → quotation slip → TL approval → RI referral if needed → sent to insurers → responses with evidence → comparative table → proposal slip approved Proposal emailed; client accepts or declines with reason; hold cover can be requested from the insurer Produces: Quotation (QT-no.), proposal, TSU proposal slip, hold-cover request. Control: Non-packaged products cannot be quoted without an approved TSU proposal; acceptance limits and survey threshold checked at quotation.. Clock: TSU SLA escalation on breach; insurer follow-up until all quotes are in. Screen: New Business › Quotations &amp; proposals · Product Maintenance › TSU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with the insurer. Units: Processing Team / Officer (PT/PO) · Insurer. Starts when Client acceptance recorded. Policy shell created in status placement requested Placement slip sent by SFTP when the insurer is enrolled, otherwise by email Insurer returns (reason routed to marketing, resubmitted) or places the risk and issues the policy Produces: Policy (POL-no.), placement slip, insurer policy reference. Control: Channel decided by the insurer record; returns carry a reason and can be resubmitted.. Clock: Facultative RI: acknowledge within 24 hours, slip within 3 working days. Screen: New Business › Placement · Reinsurance › Facultative 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invoicing &amp; e-policy. Units: PO (maker) · Underwriting Head (checker) · COG-OPRM · Contact centre. Starts when Risk placed and e-policy received. Book &amp; invoice raises a policy_issue approval; the checker approves On approval: policy in force, invoice (premium receivable) generated, booking journal posted E-policy delivered to the client via COG (SFTP) or PO email; fall-outs go to the contact centre with the exception reason Produces: Invoice (INV-no.), booking journal, e-policy, exception report. Control: Maker-checker with segregation of duties; only in-force, renewed or expired policies can carry claims.. Clock: Same day once placed. Screen: Approvals &amp; Audit · New Business ›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Cashiering &amp; payment application. Units: Cashiering Team · UPP handler · Marketing (direct payments). Starts when Client pays: bills payment, OTC cash or cheque, CLPC / PMS / trade batch files, direct credit, autopay, or directly to the insurer. Payment applied to the invoice; official receipt issued; cash and premium journals posted Post-dated / OTC cheques held 4 days, then matured and applied, or tagged bounced (exclusion list) Zero-PR or excess payments become unapplied premium (GL 2400) until matched Direct payment to insurer: commission receivable (GL 1250) identified → billed → approved → collected with a commission OR Produces: Official receipt (OR-no.), PDC register, unapplied list, commission billing. Control: Cheques cannot mature before the clearing date; unapplied premium never sits against an invoice.. Clock: 4-day cheque hold. Screen: Operations › Invoices &amp; cashiering · Payments / PDC / UPP · Direct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Units: Collection Handler · MAO · Unit / Finance Head. Starts when Invoice unpaid after booking. PR list by market segment with ageing and stage: newly booked → within credit term → committed → overdue → escalate Marketing diary records when, where, how and what of every effort; SOA and reminders sent Commitment beyond the 60-day credit term emails the MAO; a credit-term extension (CTE) needs Unit Head approval Produces: Statement of account, effort diary, CTE request. Control: Collect within 10–15 days of booking; CTE extends the due date only after approval.. Clock: 60-day credit term. Screen: Collections.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Remittance &amp; disbursement. Units: Operations (extract) · Disbursement DPO → DTL → DSH → DUH · Insurer. Starts when Applied payments accumulate; weekly cycle (Monday to Friday coverage). Weekly remittance extract per insurer, sanitised (direct-paid and already-remitted policies excluded, endorsements and knock-offs removed) Submission creates a disbursement voucher; reviewer, section head and unit head sign in sequence Payment posted with cheque or transaction reference; confirmation email to the requestor; GL batch posted The same chain pays refunds, suppliers, reimbursements and cash advances Produces: Remittance schedule, disbursement voucher, payment journal, confirmation email. Control: Requester, reviewer, approver and payer are different people; nothing is paid without the approval chain.. Clock: Weekly extract; end-of-day processing. Screen: Accounting &amp; Disbursement › Remittances · Disbursements.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FRBS ledger &amp; reconciliation. Units: FRBS Accounting Assistant · TL · Team Head · Accounting Processor (ACSL). Starts when Every transaction above posts a journal automatically; month and year ends. Chart of accounts maintained; system journals for booking, receipts, commissions, remittances and refunds Manual journals drafted, reviewed by the TL and posted by the FRBS approver ACSL: insurer statement of account reconciled with the subsidiary ledger; abnormal balances raise adjustment entries Period close and reopen; fiscal-year close moves nominal balances to retained earnings; trial balance and financial reports Produces: Journals, trial balance, financial reports, SOA reconciliation runs. Control: Double-entry ledger; closed periods reject postings; only the Finance Head reopens a period.. Clock: Monthly on an agreed date; year-end. Screen: Accounting &amp; Disbursement › Journals · Trial balance · Periods &amp; year-end · ACSL / SOA recon.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Adjustments, cancellations &amp; refunds. Units: Adjustment Team · Operations checker-poster · MAO · Marketing TL · Unit Head. Starts when Client requests a change or cancellation; production register shows a discrepancy; unapplied premium to be returned. Endorsement (adjustment or cancellation) validated and posted under checker-poster; premium delta journaled; cancellation sets the policy cancelled Production reconciliation classifies insurer register rows as matched, with discrepancies or unbooked, each dispositioned Refund Request Form raised from the endorsement or UPP → Marketing TL review → Unit Head sign-off → refund disbursement voucher Produces: Endorsement (END-no.), production recon run, RRF and refund voucher. Control: Refunds only originate from endorsements or unapplied premium and are paid only through the disbursement chain.. Clock: Per disbursement chain. Screen: Operations › Adjustments · Production recon · Accounting &amp; Disbursement › Refund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Units: Claim handler · Insurer / adjuster · Assured · Casa / dealer. Starts when Client, account officer or branch sends notice of loss. Claims Acceptance Control checks the policy is in force and premium paid; Preliminary Loss Advice sent Document checklist by line (motor; non-motor via Claims Reporting Form); Formal Loss Advice to the insurer once complete; adjuster flagged Insurer evaluates and offers; assured accepts or contests (re-evaluation loop, more documents may be requested) Settlement by Letter of Authority to the preferred casa/dealer or by cash cheque; settlement approved; claim tagged settled and closed, or declined with reason Produces: PLA, FLA, offer, LOA, settlement. Control: FLA blocked until documents complete; settlement is maker-checker; every stage has a declination exit.. Clock: Age in days tracked per claim. Screen: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servicing &amp; case management. Units: BDO Contact Centre (CCC) · BDO Insure agent · Fulfilment units. Starts when Customer contacts the contact centre by phone, email or digital channel. General inquiry handled and closed at point of contact Account-related concern: positive identification (registered TIN or email) then handled at point of contact or referred to the owning unit with a TAT Fulfilment unit resolves and closes; mis-routed cases returned to the CCC with a reason and re-logged Servicing facility: search by invoice, policy or name; view accounts; update contact details Produces: Case (SR-no.), TAT, contact update. Control: Failed PID blocks the case; past-TAT cases are flagged on the dashboard.. Clock: Per category (hours). Screen: Customer Servicing › Cases · Servicing facility.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(automated RMEL). Units: Sanitation Handler · Marketing TL / Team Head · PO · Insurer. Starts when Policy enters the 140-day window before expiry. Renewal Master Expiry List generated; sanitation dispositions each account: for renewal, remarket, or not for renewal (NRNS letter) Renewal advice letters: initial at −70 days, final at −45 days Client accepts: renewal policy created and enters placement → booking → e-policy like new business Bank-submitted policies feed the sanitation handler 150 days from expiry (conversion opportunity) Produces: RMEL, RA letters, NRNS letter, renewal policy. Control: RA timings and order enforced; conversion proceeds through New Business.. Clock: −140 / −70 / −45 days. Screen: Renewal · Submitted Policies › Expiring (150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548640"/>
            <a:ext cx="3291840" cy="868680"/>
          </a:xfrm>
          <a:prstGeom prst="roundRect">
            <a:avLst>
              <a:gd name="adj" fmla="val 12632"/>
            </a:avLst>
          </a:prstGeom>
          <a:solidFill>
            <a:srgbClr val="FFFFFF"/>
          </a:solidFill>
          <a:ln w="12700">
            <a:solidFill>
              <a:srgbClr val="FFFFFF"/>
            </a:solidFill>
            <a:prstDash val="solid"/>
          </a:ln>
        </p:spPr>
      </p:sp>
      <p:pic>
        <p:nvPicPr>
          <p:cNvPr id="3" name="Image 0" descr="/home/user/Brokerverse/web/public/bdo-insure.png">    </p:cNvPr>
          <p:cNvPicPr>
            <a:picLocks noChangeAspect="1"/>
          </p:cNvPicPr>
          <p:nvPr/>
        </p:nvPicPr>
        <p:blipFill>
          <a:blip r:embed="rId1"/>
          <a:stretch>
            <a:fillRect/>
          </a:stretch>
        </p:blipFill>
        <p:spPr>
          <a:xfrm>
            <a:off x="822960" y="685800"/>
            <a:ext cx="2926080" cy="585216"/>
          </a:xfrm>
          <a:prstGeom prst="rect">
            <a:avLst/>
          </a:prstGeom>
        </p:spPr>
      </p:pic>
      <p:sp>
        <p:nvSpPr>
          <p:cNvPr id="4" name="Text 1"/>
          <p:cNvSpPr txBox="1"/>
          <p:nvPr/>
        </p:nvSpPr>
        <p:spPr>
          <a:xfrm>
            <a:off x="640080" y="2011680"/>
            <a:ext cx="10972800" cy="548640"/>
          </a:xfrm>
          <a:prstGeom prst="rect">
            <a:avLst/>
          </a:prstGeom>
          <a:noFill/>
          <a:ln/>
        </p:spPr>
        <p:txBody>
          <a:bodyPr wrap="square" lIns="0" tIns="0" rIns="0" bIns="0" rtlCol="0" anchor="ctr"/>
          <a:lstStyle/>
          <a:p>
            <a:pPr indent="0" marL="0">
              <a:buNone/>
            </a:pPr>
            <a:r>
              <a:rPr lang="en-US" sz="2000" b="1" dirty="0">
                <a:solidFill>
                  <a:srgbClr val="FFC400"/>
                </a:solidFill>
                <a:latin typeface="Calibri" pitchFamily="34" charset="0"/>
                <a:ea typeface="Calibri" pitchFamily="34" charset="-122"/>
                <a:cs typeface="Calibri" pitchFamily="34" charset="-120"/>
              </a:rPr>
              <a:t>BDO Insurance &amp; Reinsurance Brokers</a:t>
            </a:r>
            <a:endParaRPr lang="en-US" sz="2000" dirty="0"/>
          </a:p>
        </p:txBody>
      </p:sp>
      <p:sp>
        <p:nvSpPr>
          <p:cNvPr id="5" name="Text 2"/>
          <p:cNvSpPr txBox="1"/>
          <p:nvPr/>
        </p:nvSpPr>
        <p:spPr>
          <a:xfrm>
            <a:off x="640080" y="2560320"/>
            <a:ext cx="105156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How BDOI works, end to end</a:t>
            </a:r>
            <a:endParaRPr lang="en-US" sz="4400" dirty="0"/>
          </a:p>
        </p:txBody>
      </p:sp>
      <p:sp>
        <p:nvSpPr>
          <p:cNvPr id="6" name="Text 3"/>
          <p:cNvSpPr txBox="1"/>
          <p:nvPr/>
        </p:nvSpPr>
        <p:spPr>
          <a:xfrm>
            <a:off x="640080" y="3749040"/>
            <a:ext cx="8412480" cy="13716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sixteen signed-off process flows in HL_Process_Overview integrated into one operating model: the whole chain on one picture, where the money goes, the life of one policy, twelve stages with their BrokerVerse screens, the satellite processes, hand-offs, controls and clocks.</a:t>
            </a:r>
            <a:endParaRPr lang="en-US" sz="1500" dirty="0"/>
          </a:p>
        </p:txBody>
      </p:sp>
      <p:sp>
        <p:nvSpPr>
          <p:cNvPr id="7" name="Shape 4"/>
          <p:cNvSpPr/>
          <p:nvPr/>
        </p:nvSpPr>
        <p:spPr>
          <a:xfrm>
            <a:off x="9052560" y="5349240"/>
            <a:ext cx="2514600" cy="914400"/>
          </a:xfrm>
          <a:prstGeom prst="roundRect">
            <a:avLst>
              <a:gd name="adj" fmla="val 10000"/>
            </a:avLst>
          </a:prstGeom>
          <a:solidFill>
            <a:srgbClr val="FFFFFF"/>
          </a:solidFill>
          <a:ln w="12700">
            <a:solidFill>
              <a:srgbClr val="FFFFFF"/>
            </a:solidFill>
            <a:prstDash val="solid"/>
          </a:ln>
        </p:spPr>
      </p:sp>
      <p:sp>
        <p:nvSpPr>
          <p:cNvPr id="8" name="Text 5"/>
          <p:cNvSpPr txBox="1"/>
          <p:nvPr/>
        </p:nvSpPr>
        <p:spPr>
          <a:xfrm>
            <a:off x="9144000" y="5394960"/>
            <a:ext cx="2286000" cy="22860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delivered by</a:t>
            </a:r>
            <a:endParaRPr lang="en-US" sz="900" dirty="0"/>
          </a:p>
        </p:txBody>
      </p:sp>
      <p:pic>
        <p:nvPicPr>
          <p:cNvPr id="9" name="Image 1" descr="/home/user/Brokerverse/web/public/iorta-technxt-logo.png">    </p:cNvPr>
          <p:cNvPicPr>
            <a:picLocks noChangeAspect="1"/>
          </p:cNvPicPr>
          <p:nvPr/>
        </p:nvPicPr>
        <p:blipFill>
          <a:blip r:embed="rId2"/>
          <a:stretch>
            <a:fillRect/>
          </a:stretch>
        </p:blipFill>
        <p:spPr>
          <a:xfrm>
            <a:off x="9189720" y="5596128"/>
            <a:ext cx="2011680"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What BDOI does</a:t>
            </a:r>
            <a:endParaRPr lang="en-US" sz="3000" dirty="0"/>
          </a:p>
        </p:txBody>
      </p:sp>
      <p:sp>
        <p:nvSpPr>
          <p:cNvPr id="3" name="Text 1"/>
          <p:cNvSpPr txBox="1"/>
          <p:nvPr/>
        </p:nvSpPr>
        <p:spPr>
          <a:xfrm>
            <a:off x="457200" y="1005840"/>
            <a:ext cx="11247120" cy="457200"/>
          </a:xfrm>
          <a:prstGeom prst="rect">
            <a:avLst/>
          </a:prstGeom>
          <a:noFill/>
          <a:ln/>
        </p:spPr>
        <p:txBody>
          <a:bodyPr wrap="square" lIns="0" tIns="0" rIns="0" bIns="0" rtlCol="0" anchor="ctr">
            <a:normAutofit/>
          </a:bodyPr>
          <a:lstStyle/>
          <a:p>
            <a:pPr indent="0" marL="0">
              <a:buNone/>
            </a:pPr>
            <a:r>
              <a:rPr lang="en-US" sz="1300" dirty="0">
                <a:solidFill>
                  <a:srgbClr val="5B6478"/>
                </a:solidFill>
                <a:latin typeface="Calibri" pitchFamily="34" charset="0"/>
                <a:ea typeface="Calibri" pitchFamily="34" charset="-122"/>
                <a:cs typeface="Calibri" pitchFamily="34" charset="-120"/>
              </a:rPr>
              <a:t>A broker between BDO’s clients and the insurance market. Revenue is commission on premium placed, plus reinsurance commission as cedant.</a:t>
            </a:r>
            <a:endParaRPr lang="en-US" sz="1300" dirty="0"/>
          </a:p>
        </p:txBody>
      </p:sp>
      <p:sp>
        <p:nvSpPr>
          <p:cNvPr id="4" name="Shape 2"/>
          <p:cNvSpPr/>
          <p:nvPr/>
        </p:nvSpPr>
        <p:spPr>
          <a:xfrm>
            <a:off x="457200" y="1600200"/>
            <a:ext cx="5440680" cy="914400"/>
          </a:xfrm>
          <a:prstGeom prst="roundRect">
            <a:avLst>
              <a:gd name="adj" fmla="val 10000"/>
            </a:avLst>
          </a:prstGeom>
          <a:solidFill>
            <a:srgbClr val="F5F7FB"/>
          </a:solidFill>
          <a:ln w="12700">
            <a:solidFill>
              <a:srgbClr val="D9DFEA"/>
            </a:solidFill>
            <a:prstDash val="solid"/>
          </a:ln>
        </p:spPr>
      </p:sp>
      <p:sp>
        <p:nvSpPr>
          <p:cNvPr id="5" name="Text 3"/>
          <p:cNvSpPr txBox="1"/>
          <p:nvPr/>
        </p:nvSpPr>
        <p:spPr>
          <a:xfrm>
            <a:off x="658368" y="1691640"/>
            <a:ext cx="5029200" cy="274320"/>
          </a:xfrm>
          <a:prstGeom prst="rect">
            <a:avLst/>
          </a:prstGeom>
          <a:noFill/>
          <a:ln/>
        </p:spPr>
        <p:txBody>
          <a:bodyPr wrap="square" lIns="0" tIns="0" rIns="0" bIns="0" rtlCol="0" anchor="ctr"/>
          <a:lstStyle/>
          <a:p>
            <a:pPr indent="0" marL="0">
              <a:buNone/>
            </a:pPr>
            <a:r>
              <a:rPr lang="en-US" sz="1300" b="1" dirty="0">
                <a:solidFill>
                  <a:srgbClr val="002B7F"/>
                </a:solidFill>
                <a:latin typeface="Calibri" pitchFamily="34" charset="0"/>
                <a:ea typeface="Calibri" pitchFamily="34" charset="-122"/>
                <a:cs typeface="Calibri" pitchFamily="34" charset="-120"/>
              </a:rPr>
              <a:t>Clients</a:t>
            </a:r>
            <a:endParaRPr lang="en-US" sz="1300" dirty="0"/>
          </a:p>
        </p:txBody>
      </p:sp>
      <p:sp>
        <p:nvSpPr>
          <p:cNvPr id="6" name="Text 4"/>
          <p:cNvSpPr txBox="1"/>
          <p:nvPr/>
        </p:nvSpPr>
        <p:spPr>
          <a:xfrm>
            <a:off x="658368" y="1965960"/>
            <a:ext cx="5029200" cy="502920"/>
          </a:xfrm>
          <a:prstGeom prst="rect">
            <a:avLst/>
          </a:prstGeom>
          <a:noFill/>
          <a:ln/>
        </p:spPr>
        <p:txBody>
          <a:bodyPr wrap="square" lIns="0" tIns="0" rIns="0" bIns="0" rtlCol="0" anchor="t">
            <a:normAutofit/>
          </a:bodyPr>
          <a:lstStyle/>
          <a:p>
            <a:pPr indent="0" marL="0">
              <a:buNone/>
            </a:pPr>
            <a:r>
              <a:rPr lang="en-US" sz="1150" dirty="0">
                <a:solidFill>
                  <a:srgbClr val="14213D"/>
                </a:solidFill>
                <a:latin typeface="Calibri" pitchFamily="34" charset="0"/>
                <a:ea typeface="Calibri" pitchFamily="34" charset="-122"/>
                <a:cs typeface="Calibri" pitchFamily="34" charset="-120"/>
              </a:rPr>
              <a:t>Bank-referred consumer accounts (CBG home, motor, fire), corporate, branches, retail, group employee benefits</a:t>
            </a:r>
            <a:endParaRPr lang="en-US" sz="1150" dirty="0"/>
          </a:p>
        </p:txBody>
      </p:sp>
      <p:sp>
        <p:nvSpPr>
          <p:cNvPr id="7" name="Shape 5"/>
          <p:cNvSpPr/>
          <p:nvPr/>
        </p:nvSpPr>
        <p:spPr>
          <a:xfrm>
            <a:off x="6217920" y="1600200"/>
            <a:ext cx="5440680" cy="914400"/>
          </a:xfrm>
          <a:prstGeom prst="roundRect">
            <a:avLst>
              <a:gd name="adj" fmla="val 10000"/>
            </a:avLst>
          </a:prstGeom>
          <a:solidFill>
            <a:srgbClr val="F5F7FB"/>
          </a:solidFill>
          <a:ln w="12700">
            <a:solidFill>
              <a:srgbClr val="D9DFEA"/>
            </a:solidFill>
            <a:prstDash val="solid"/>
          </a:ln>
        </p:spPr>
      </p:sp>
      <p:sp>
        <p:nvSpPr>
          <p:cNvPr id="8" name="Text 6"/>
          <p:cNvSpPr txBox="1"/>
          <p:nvPr/>
        </p:nvSpPr>
        <p:spPr>
          <a:xfrm>
            <a:off x="6419088" y="1691640"/>
            <a:ext cx="5029200" cy="274320"/>
          </a:xfrm>
          <a:prstGeom prst="rect">
            <a:avLst/>
          </a:prstGeom>
          <a:noFill/>
          <a:ln/>
        </p:spPr>
        <p:txBody>
          <a:bodyPr wrap="square" lIns="0" tIns="0" rIns="0" bIns="0" rtlCol="0" anchor="ctr"/>
          <a:lstStyle/>
          <a:p>
            <a:pPr indent="0" marL="0">
              <a:buNone/>
            </a:pPr>
            <a:r>
              <a:rPr lang="en-US" sz="1300" b="1" dirty="0">
                <a:solidFill>
                  <a:srgbClr val="002B7F"/>
                </a:solidFill>
                <a:latin typeface="Calibri" pitchFamily="34" charset="0"/>
                <a:ea typeface="Calibri" pitchFamily="34" charset="-122"/>
                <a:cs typeface="Calibri" pitchFamily="34" charset="-120"/>
              </a:rPr>
              <a:t>Counterparties</a:t>
            </a:r>
            <a:endParaRPr lang="en-US" sz="1300" dirty="0"/>
          </a:p>
        </p:txBody>
      </p:sp>
      <p:sp>
        <p:nvSpPr>
          <p:cNvPr id="9" name="Text 7"/>
          <p:cNvSpPr txBox="1"/>
          <p:nvPr/>
        </p:nvSpPr>
        <p:spPr>
          <a:xfrm>
            <a:off x="6419088" y="1965960"/>
            <a:ext cx="5029200" cy="502920"/>
          </a:xfrm>
          <a:prstGeom prst="rect">
            <a:avLst/>
          </a:prstGeom>
          <a:noFill/>
          <a:ln/>
        </p:spPr>
        <p:txBody>
          <a:bodyPr wrap="square" lIns="0" tIns="0" rIns="0" bIns="0" rtlCol="0" anchor="t">
            <a:normAutofit/>
          </a:bodyPr>
          <a:lstStyle/>
          <a:p>
            <a:pPr indent="0" marL="0">
              <a:buNone/>
            </a:pPr>
            <a:r>
              <a:rPr lang="en-US" sz="1150" dirty="0">
                <a:solidFill>
                  <a:srgbClr val="14213D"/>
                </a:solidFill>
                <a:latin typeface="Calibri" pitchFamily="34" charset="0"/>
                <a:ea typeface="Calibri" pitchFamily="34" charset="-122"/>
                <a:cs typeface="Calibri" pitchFamily="34" charset="-120"/>
              </a:rPr>
              <a:t>Accredited insurers (SFTP-enrolled or email), reinsurers and RI brokers</a:t>
            </a:r>
            <a:endParaRPr lang="en-US" sz="1150" dirty="0"/>
          </a:p>
        </p:txBody>
      </p:sp>
      <p:sp>
        <p:nvSpPr>
          <p:cNvPr id="10" name="Shape 8"/>
          <p:cNvSpPr/>
          <p:nvPr/>
        </p:nvSpPr>
        <p:spPr>
          <a:xfrm>
            <a:off x="457200" y="2697480"/>
            <a:ext cx="5440680" cy="914400"/>
          </a:xfrm>
          <a:prstGeom prst="roundRect">
            <a:avLst>
              <a:gd name="adj" fmla="val 10000"/>
            </a:avLst>
          </a:prstGeom>
          <a:solidFill>
            <a:srgbClr val="F5F7FB"/>
          </a:solidFill>
          <a:ln w="12700">
            <a:solidFill>
              <a:srgbClr val="D9DFEA"/>
            </a:solidFill>
            <a:prstDash val="solid"/>
          </a:ln>
        </p:spPr>
      </p:sp>
      <p:sp>
        <p:nvSpPr>
          <p:cNvPr id="11" name="Text 9"/>
          <p:cNvSpPr txBox="1"/>
          <p:nvPr/>
        </p:nvSpPr>
        <p:spPr>
          <a:xfrm>
            <a:off x="658368" y="2788920"/>
            <a:ext cx="5029200" cy="274320"/>
          </a:xfrm>
          <a:prstGeom prst="rect">
            <a:avLst/>
          </a:prstGeom>
          <a:noFill/>
          <a:ln/>
        </p:spPr>
        <p:txBody>
          <a:bodyPr wrap="square" lIns="0" tIns="0" rIns="0" bIns="0" rtlCol="0" anchor="ctr"/>
          <a:lstStyle/>
          <a:p>
            <a:pPr indent="0" marL="0">
              <a:buNone/>
            </a:pPr>
            <a:r>
              <a:rPr lang="en-US" sz="1300" b="1" dirty="0">
                <a:solidFill>
                  <a:srgbClr val="002B7F"/>
                </a:solidFill>
                <a:latin typeface="Calibri" pitchFamily="34" charset="0"/>
                <a:ea typeface="Calibri" pitchFamily="34" charset="-122"/>
                <a:cs typeface="Calibri" pitchFamily="34" charset="-120"/>
              </a:rPr>
              <a:t>Units</a:t>
            </a:r>
            <a:endParaRPr lang="en-US" sz="1300" dirty="0"/>
          </a:p>
        </p:txBody>
      </p:sp>
      <p:sp>
        <p:nvSpPr>
          <p:cNvPr id="12" name="Text 10"/>
          <p:cNvSpPr txBox="1"/>
          <p:nvPr/>
        </p:nvSpPr>
        <p:spPr>
          <a:xfrm>
            <a:off x="658368" y="3063240"/>
            <a:ext cx="5029200" cy="502920"/>
          </a:xfrm>
          <a:prstGeom prst="rect">
            <a:avLst/>
          </a:prstGeom>
          <a:noFill/>
          <a:ln/>
        </p:spPr>
        <p:txBody>
          <a:bodyPr wrap="square" lIns="0" tIns="0" rIns="0" bIns="0" rtlCol="0" anchor="t">
            <a:normAutofit/>
          </a:bodyPr>
          <a:lstStyle/>
          <a:p>
            <a:pPr indent="0" marL="0">
              <a:buNone/>
            </a:pPr>
            <a:r>
              <a:rPr lang="en-US" sz="1150" dirty="0">
                <a:solidFill>
                  <a:srgbClr val="14213D"/>
                </a:solidFill>
                <a:latin typeface="Calibri" pitchFamily="34" charset="0"/>
                <a:ea typeface="Calibri" pitchFamily="34" charset="-122"/>
                <a:cs typeface="Calibri" pitchFamily="34" charset="-120"/>
              </a:rPr>
              <a:t>Marketing, TSU, Reinsurance, Processing, Cashiering, Collections, Disbursement, FRBS, Claims, Contact Centre, Compliance</a:t>
            </a:r>
            <a:endParaRPr lang="en-US" sz="1150" dirty="0"/>
          </a:p>
        </p:txBody>
      </p:sp>
      <p:sp>
        <p:nvSpPr>
          <p:cNvPr id="13" name="Shape 11"/>
          <p:cNvSpPr/>
          <p:nvPr/>
        </p:nvSpPr>
        <p:spPr>
          <a:xfrm>
            <a:off x="6217920" y="2697480"/>
            <a:ext cx="5440680" cy="914400"/>
          </a:xfrm>
          <a:prstGeom prst="roundRect">
            <a:avLst>
              <a:gd name="adj" fmla="val 10000"/>
            </a:avLst>
          </a:prstGeom>
          <a:solidFill>
            <a:srgbClr val="F5F7FB"/>
          </a:solidFill>
          <a:ln w="12700">
            <a:solidFill>
              <a:srgbClr val="D9DFEA"/>
            </a:solidFill>
            <a:prstDash val="solid"/>
          </a:ln>
        </p:spPr>
      </p:sp>
      <p:sp>
        <p:nvSpPr>
          <p:cNvPr id="14" name="Text 12"/>
          <p:cNvSpPr txBox="1"/>
          <p:nvPr/>
        </p:nvSpPr>
        <p:spPr>
          <a:xfrm>
            <a:off x="6419088" y="2788920"/>
            <a:ext cx="5029200" cy="274320"/>
          </a:xfrm>
          <a:prstGeom prst="rect">
            <a:avLst/>
          </a:prstGeom>
          <a:noFill/>
          <a:ln/>
        </p:spPr>
        <p:txBody>
          <a:bodyPr wrap="square" lIns="0" tIns="0" rIns="0" bIns="0" rtlCol="0" anchor="ctr"/>
          <a:lstStyle/>
          <a:p>
            <a:pPr indent="0" marL="0">
              <a:buNone/>
            </a:pPr>
            <a:r>
              <a:rPr lang="en-US" sz="1300" b="1" dirty="0">
                <a:solidFill>
                  <a:srgbClr val="002B7F"/>
                </a:solidFill>
                <a:latin typeface="Calibri" pitchFamily="34" charset="0"/>
                <a:ea typeface="Calibri" pitchFamily="34" charset="-122"/>
                <a:cs typeface="Calibri" pitchFamily="34" charset="-120"/>
              </a:rPr>
              <a:t>Controls</a:t>
            </a:r>
            <a:endParaRPr lang="en-US" sz="1300" dirty="0"/>
          </a:p>
        </p:txBody>
      </p:sp>
      <p:sp>
        <p:nvSpPr>
          <p:cNvPr id="15" name="Text 13"/>
          <p:cNvSpPr txBox="1"/>
          <p:nvPr/>
        </p:nvSpPr>
        <p:spPr>
          <a:xfrm>
            <a:off x="6419088" y="3063240"/>
            <a:ext cx="5029200" cy="502920"/>
          </a:xfrm>
          <a:prstGeom prst="rect">
            <a:avLst/>
          </a:prstGeom>
          <a:noFill/>
          <a:ln/>
        </p:spPr>
        <p:txBody>
          <a:bodyPr wrap="square" lIns="0" tIns="0" rIns="0" bIns="0" rtlCol="0" anchor="t">
            <a:normAutofit/>
          </a:bodyPr>
          <a:lstStyle/>
          <a:p>
            <a:pPr indent="0" marL="0">
              <a:buNone/>
            </a:pPr>
            <a:r>
              <a:rPr lang="en-US" sz="1150" dirty="0">
                <a:solidFill>
                  <a:srgbClr val="14213D"/>
                </a:solidFill>
                <a:latin typeface="Calibri" pitchFamily="34" charset="0"/>
                <a:ea typeface="Calibri" pitchFamily="34" charset="-122"/>
                <a:cs typeface="Calibri" pitchFamily="34" charset="-120"/>
              </a:rPr>
              <a:t>Maker-checker wherever money or cover changes; segregation of duties; audit trail on every decision</a:t>
            </a:r>
            <a:endParaRPr lang="en-US" sz="1150" dirty="0"/>
          </a:p>
        </p:txBody>
      </p:sp>
      <p:sp>
        <p:nvSpPr>
          <p:cNvPr id="16" name="Text 14"/>
          <p:cNvSpPr txBox="1"/>
          <p:nvPr/>
        </p:nvSpPr>
        <p:spPr>
          <a:xfrm>
            <a:off x="457200" y="3931920"/>
            <a:ext cx="365760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THE CHAIN</a:t>
            </a:r>
            <a:endParaRPr lang="en-US" sz="1000" dirty="0"/>
          </a:p>
        </p:txBody>
      </p:sp>
      <p:sp>
        <p:nvSpPr>
          <p:cNvPr id="17" name="Shape 15"/>
          <p:cNvSpPr/>
          <p:nvPr/>
        </p:nvSpPr>
        <p:spPr>
          <a:xfrm>
            <a:off x="457200" y="4297680"/>
            <a:ext cx="1251585" cy="685800"/>
          </a:xfrm>
          <a:prstGeom prst="chevron">
            <a:avLst/>
          </a:prstGeom>
          <a:solidFill>
            <a:srgbClr val="002B7F"/>
          </a:solidFill>
          <a:ln w="12700">
            <a:solidFill>
              <a:srgbClr val="FFFFFF"/>
            </a:solidFill>
            <a:prstDash val="solid"/>
          </a:ln>
        </p:spPr>
      </p:sp>
      <p:sp>
        <p:nvSpPr>
          <p:cNvPr id="18" name="Shape 16"/>
          <p:cNvSpPr/>
          <p:nvPr/>
        </p:nvSpPr>
        <p:spPr>
          <a:xfrm>
            <a:off x="1365885" y="4297680"/>
            <a:ext cx="1251585" cy="685800"/>
          </a:xfrm>
          <a:prstGeom prst="chevron">
            <a:avLst/>
          </a:prstGeom>
          <a:solidFill>
            <a:srgbClr val="0A49B8"/>
          </a:solidFill>
          <a:ln w="12700">
            <a:solidFill>
              <a:srgbClr val="FFFFFF"/>
            </a:solidFill>
            <a:prstDash val="solid"/>
          </a:ln>
        </p:spPr>
      </p:sp>
      <p:sp>
        <p:nvSpPr>
          <p:cNvPr id="19" name="Shape 17"/>
          <p:cNvSpPr/>
          <p:nvPr/>
        </p:nvSpPr>
        <p:spPr>
          <a:xfrm>
            <a:off x="2274570" y="4297680"/>
            <a:ext cx="1251585" cy="685800"/>
          </a:xfrm>
          <a:prstGeom prst="chevron">
            <a:avLst/>
          </a:prstGeom>
          <a:solidFill>
            <a:srgbClr val="002B7F"/>
          </a:solidFill>
          <a:ln w="12700">
            <a:solidFill>
              <a:srgbClr val="FFFFFF"/>
            </a:solidFill>
            <a:prstDash val="solid"/>
          </a:ln>
        </p:spPr>
      </p:sp>
      <p:sp>
        <p:nvSpPr>
          <p:cNvPr id="20" name="Shape 18"/>
          <p:cNvSpPr/>
          <p:nvPr/>
        </p:nvSpPr>
        <p:spPr>
          <a:xfrm>
            <a:off x="3183255" y="4297680"/>
            <a:ext cx="1251585" cy="685800"/>
          </a:xfrm>
          <a:prstGeom prst="chevron">
            <a:avLst/>
          </a:prstGeom>
          <a:solidFill>
            <a:srgbClr val="0A49B8"/>
          </a:solidFill>
          <a:ln w="12700">
            <a:solidFill>
              <a:srgbClr val="FFFFFF"/>
            </a:solidFill>
            <a:prstDash val="solid"/>
          </a:ln>
        </p:spPr>
      </p:sp>
      <p:sp>
        <p:nvSpPr>
          <p:cNvPr id="21" name="Shape 19"/>
          <p:cNvSpPr/>
          <p:nvPr/>
        </p:nvSpPr>
        <p:spPr>
          <a:xfrm>
            <a:off x="4091940" y="4297680"/>
            <a:ext cx="1251585" cy="685800"/>
          </a:xfrm>
          <a:prstGeom prst="chevron">
            <a:avLst/>
          </a:prstGeom>
          <a:solidFill>
            <a:srgbClr val="002B7F"/>
          </a:solidFill>
          <a:ln w="12700">
            <a:solidFill>
              <a:srgbClr val="FFFFFF"/>
            </a:solidFill>
            <a:prstDash val="solid"/>
          </a:ln>
        </p:spPr>
      </p:sp>
      <p:sp>
        <p:nvSpPr>
          <p:cNvPr id="22" name="Shape 20"/>
          <p:cNvSpPr/>
          <p:nvPr/>
        </p:nvSpPr>
        <p:spPr>
          <a:xfrm>
            <a:off x="5000625" y="4297680"/>
            <a:ext cx="1251585" cy="685800"/>
          </a:xfrm>
          <a:prstGeom prst="chevron">
            <a:avLst/>
          </a:prstGeom>
          <a:solidFill>
            <a:srgbClr val="0A49B8"/>
          </a:solidFill>
          <a:ln w="12700">
            <a:solidFill>
              <a:srgbClr val="FFFFFF"/>
            </a:solidFill>
            <a:prstDash val="solid"/>
          </a:ln>
        </p:spPr>
      </p:sp>
      <p:sp>
        <p:nvSpPr>
          <p:cNvPr id="23" name="Shape 21"/>
          <p:cNvSpPr/>
          <p:nvPr/>
        </p:nvSpPr>
        <p:spPr>
          <a:xfrm>
            <a:off x="5909310" y="4297680"/>
            <a:ext cx="1251585" cy="685800"/>
          </a:xfrm>
          <a:prstGeom prst="chevron">
            <a:avLst/>
          </a:prstGeom>
          <a:solidFill>
            <a:srgbClr val="002B7F"/>
          </a:solidFill>
          <a:ln w="12700">
            <a:solidFill>
              <a:srgbClr val="FFFFFF"/>
            </a:solidFill>
            <a:prstDash val="solid"/>
          </a:ln>
        </p:spPr>
      </p:sp>
      <p:sp>
        <p:nvSpPr>
          <p:cNvPr id="24" name="Shape 22"/>
          <p:cNvSpPr/>
          <p:nvPr/>
        </p:nvSpPr>
        <p:spPr>
          <a:xfrm>
            <a:off x="6817995" y="4297680"/>
            <a:ext cx="1251585" cy="685800"/>
          </a:xfrm>
          <a:prstGeom prst="chevron">
            <a:avLst/>
          </a:prstGeom>
          <a:solidFill>
            <a:srgbClr val="0A49B8"/>
          </a:solidFill>
          <a:ln w="12700">
            <a:solidFill>
              <a:srgbClr val="FFFFFF"/>
            </a:solidFill>
            <a:prstDash val="solid"/>
          </a:ln>
        </p:spPr>
      </p:sp>
      <p:sp>
        <p:nvSpPr>
          <p:cNvPr id="25" name="Shape 23"/>
          <p:cNvSpPr/>
          <p:nvPr/>
        </p:nvSpPr>
        <p:spPr>
          <a:xfrm>
            <a:off x="7726680" y="4297680"/>
            <a:ext cx="1251585" cy="685800"/>
          </a:xfrm>
          <a:prstGeom prst="chevron">
            <a:avLst/>
          </a:prstGeom>
          <a:solidFill>
            <a:srgbClr val="002B7F"/>
          </a:solidFill>
          <a:ln w="12700">
            <a:solidFill>
              <a:srgbClr val="FFFFFF"/>
            </a:solidFill>
            <a:prstDash val="solid"/>
          </a:ln>
        </p:spPr>
      </p:sp>
      <p:sp>
        <p:nvSpPr>
          <p:cNvPr id="26" name="Shape 24"/>
          <p:cNvSpPr/>
          <p:nvPr/>
        </p:nvSpPr>
        <p:spPr>
          <a:xfrm>
            <a:off x="8635365" y="4297680"/>
            <a:ext cx="1251585" cy="685800"/>
          </a:xfrm>
          <a:prstGeom prst="chevron">
            <a:avLst/>
          </a:prstGeom>
          <a:solidFill>
            <a:srgbClr val="0A49B8"/>
          </a:solidFill>
          <a:ln w="12700">
            <a:solidFill>
              <a:srgbClr val="FFFFFF"/>
            </a:solidFill>
            <a:prstDash val="solid"/>
          </a:ln>
        </p:spPr>
      </p:sp>
      <p:sp>
        <p:nvSpPr>
          <p:cNvPr id="27" name="Shape 25"/>
          <p:cNvSpPr/>
          <p:nvPr/>
        </p:nvSpPr>
        <p:spPr>
          <a:xfrm>
            <a:off x="9544050" y="4297680"/>
            <a:ext cx="1251585" cy="685800"/>
          </a:xfrm>
          <a:prstGeom prst="chevron">
            <a:avLst/>
          </a:prstGeom>
          <a:solidFill>
            <a:srgbClr val="002B7F"/>
          </a:solidFill>
          <a:ln w="12700">
            <a:solidFill>
              <a:srgbClr val="FFFFFF"/>
            </a:solidFill>
            <a:prstDash val="solid"/>
          </a:ln>
        </p:spPr>
      </p:sp>
      <p:sp>
        <p:nvSpPr>
          <p:cNvPr id="28" name="Shape 26"/>
          <p:cNvSpPr/>
          <p:nvPr/>
        </p:nvSpPr>
        <p:spPr>
          <a:xfrm>
            <a:off x="10452735" y="4297680"/>
            <a:ext cx="1251585" cy="685800"/>
          </a:xfrm>
          <a:prstGeom prst="chevron">
            <a:avLst/>
          </a:prstGeom>
          <a:solidFill>
            <a:srgbClr val="0A49B8"/>
          </a:solidFill>
          <a:ln w="12700">
            <a:solidFill>
              <a:srgbClr val="FFFFFF"/>
            </a:solidFill>
            <a:prstDash val="solid"/>
          </a:ln>
        </p:spPr>
      </p:sp>
      <p:sp>
        <p:nvSpPr>
          <p:cNvPr id="29" name="Text 27"/>
          <p:cNvSpPr txBox="1"/>
          <p:nvPr/>
        </p:nvSpPr>
        <p:spPr>
          <a:xfrm>
            <a:off x="836676"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Onboard</a:t>
            </a:r>
            <a:endParaRPr lang="en-US" sz="1000" dirty="0"/>
          </a:p>
        </p:txBody>
      </p:sp>
      <p:sp>
        <p:nvSpPr>
          <p:cNvPr id="30" name="Text 28"/>
          <p:cNvSpPr txBox="1"/>
          <p:nvPr/>
        </p:nvSpPr>
        <p:spPr>
          <a:xfrm>
            <a:off x="1745361"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Quote</a:t>
            </a:r>
            <a:endParaRPr lang="en-US" sz="1000" dirty="0"/>
          </a:p>
        </p:txBody>
      </p:sp>
      <p:sp>
        <p:nvSpPr>
          <p:cNvPr id="31" name="Text 29"/>
          <p:cNvSpPr txBox="1"/>
          <p:nvPr/>
        </p:nvSpPr>
        <p:spPr>
          <a:xfrm>
            <a:off x="2654046"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Place</a:t>
            </a:r>
            <a:endParaRPr lang="en-US" sz="1000" dirty="0"/>
          </a:p>
        </p:txBody>
      </p:sp>
      <p:sp>
        <p:nvSpPr>
          <p:cNvPr id="32" name="Text 30"/>
          <p:cNvSpPr txBox="1"/>
          <p:nvPr/>
        </p:nvSpPr>
        <p:spPr>
          <a:xfrm>
            <a:off x="3562731"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Book</a:t>
            </a:r>
            <a:endParaRPr lang="en-US" sz="1000" dirty="0"/>
          </a:p>
        </p:txBody>
      </p:sp>
      <p:sp>
        <p:nvSpPr>
          <p:cNvPr id="33" name="Text 31"/>
          <p:cNvSpPr txBox="1"/>
          <p:nvPr/>
        </p:nvSpPr>
        <p:spPr>
          <a:xfrm>
            <a:off x="4471416"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Pay</a:t>
            </a:r>
            <a:endParaRPr lang="en-US" sz="1000" dirty="0"/>
          </a:p>
        </p:txBody>
      </p:sp>
      <p:sp>
        <p:nvSpPr>
          <p:cNvPr id="34" name="Text 32"/>
          <p:cNvSpPr txBox="1"/>
          <p:nvPr/>
        </p:nvSpPr>
        <p:spPr>
          <a:xfrm>
            <a:off x="5380101"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Collect</a:t>
            </a:r>
            <a:endParaRPr lang="en-US" sz="1000" dirty="0"/>
          </a:p>
        </p:txBody>
      </p:sp>
      <p:sp>
        <p:nvSpPr>
          <p:cNvPr id="35" name="Text 33"/>
          <p:cNvSpPr txBox="1"/>
          <p:nvPr/>
        </p:nvSpPr>
        <p:spPr>
          <a:xfrm>
            <a:off x="6288786"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Remit</a:t>
            </a:r>
            <a:endParaRPr lang="en-US" sz="1000" dirty="0"/>
          </a:p>
        </p:txBody>
      </p:sp>
      <p:sp>
        <p:nvSpPr>
          <p:cNvPr id="36" name="Text 34"/>
          <p:cNvSpPr txBox="1"/>
          <p:nvPr/>
        </p:nvSpPr>
        <p:spPr>
          <a:xfrm>
            <a:off x="7197471"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Ledger</a:t>
            </a:r>
            <a:endParaRPr lang="en-US" sz="1000" dirty="0"/>
          </a:p>
        </p:txBody>
      </p:sp>
      <p:sp>
        <p:nvSpPr>
          <p:cNvPr id="37" name="Text 35"/>
          <p:cNvSpPr txBox="1"/>
          <p:nvPr/>
        </p:nvSpPr>
        <p:spPr>
          <a:xfrm>
            <a:off x="8106156"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Adjust</a:t>
            </a:r>
            <a:endParaRPr lang="en-US" sz="1000" dirty="0"/>
          </a:p>
        </p:txBody>
      </p:sp>
      <p:sp>
        <p:nvSpPr>
          <p:cNvPr id="38" name="Text 36"/>
          <p:cNvSpPr txBox="1"/>
          <p:nvPr/>
        </p:nvSpPr>
        <p:spPr>
          <a:xfrm>
            <a:off x="9014841"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p>
        </p:txBody>
      </p:sp>
      <p:sp>
        <p:nvSpPr>
          <p:cNvPr id="39" name="Text 37"/>
          <p:cNvSpPr txBox="1"/>
          <p:nvPr/>
        </p:nvSpPr>
        <p:spPr>
          <a:xfrm>
            <a:off x="9923526"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Service</a:t>
            </a:r>
            <a:endParaRPr lang="en-US" sz="1000" dirty="0"/>
          </a:p>
        </p:txBody>
      </p:sp>
      <p:sp>
        <p:nvSpPr>
          <p:cNvPr id="40" name="Text 38"/>
          <p:cNvSpPr txBox="1"/>
          <p:nvPr/>
        </p:nvSpPr>
        <p:spPr>
          <a:xfrm>
            <a:off x="10832211" y="4297680"/>
            <a:ext cx="565785" cy="685800"/>
          </a:xfrm>
          <a:prstGeom prst="rect">
            <a:avLst/>
          </a:prstGeom>
          <a:noFill/>
          <a:ln/>
        </p:spPr>
        <p:txBody>
          <a:bodyPr wrap="non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Renew</a:t>
            </a:r>
            <a:endParaRPr lang="en-US" sz="1000" dirty="0"/>
          </a:p>
        </p:txBody>
      </p:sp>
      <p:sp>
        <p:nvSpPr>
          <p:cNvPr id="41" name="Shape 39"/>
          <p:cNvSpPr/>
          <p:nvPr/>
        </p:nvSpPr>
        <p:spPr>
          <a:xfrm>
            <a:off x="457200" y="5257800"/>
            <a:ext cx="11247120" cy="960120"/>
          </a:xfrm>
          <a:prstGeom prst="roundRect">
            <a:avLst>
              <a:gd name="adj" fmla="val 9524"/>
            </a:avLst>
          </a:prstGeom>
          <a:solidFill>
            <a:srgbClr val="FFFFFF"/>
          </a:solidFill>
          <a:ln w="25400">
            <a:solidFill>
              <a:srgbClr val="FFC400"/>
            </a:solidFill>
            <a:prstDash val="solid"/>
          </a:ln>
        </p:spPr>
      </p:sp>
      <p:sp>
        <p:nvSpPr>
          <p:cNvPr id="42" name="Text 40"/>
          <p:cNvSpPr txBox="1"/>
          <p:nvPr/>
        </p:nvSpPr>
        <p:spPr>
          <a:xfrm>
            <a:off x="685800" y="5349240"/>
            <a:ext cx="10789920" cy="777240"/>
          </a:xfrm>
          <a:prstGeom prst="rect">
            <a:avLst/>
          </a:prstGeom>
          <a:noFill/>
          <a:ln/>
        </p:spPr>
        <p:txBody>
          <a:bodyPr wrap="square" lIns="0" tIns="0" rIns="0" bIns="0" rtlCol="0" anchor="ctr"/>
          <a:lstStyle/>
          <a:p>
            <a:pPr indent="0" marL="0">
              <a:buNone/>
            </a:pPr>
            <a:r>
              <a:rPr lang="en-US" sz="1250" b="1" dirty="0">
                <a:solidFill>
                  <a:srgbClr val="002B7F"/>
                </a:solidFill>
                <a:latin typeface="Calibri" pitchFamily="34" charset="0"/>
                <a:ea typeface="Calibri" pitchFamily="34" charset="-122"/>
                <a:cs typeface="Calibri" pitchFamily="34" charset="-120"/>
              </a:rPr>
              <a:t>One loop. </a:t>
            </a:r>
            <a:pPr indent="0" marL="0">
              <a:buNone/>
            </a:pPr>
            <a:r>
              <a:rPr lang="en-US" sz="1250" dirty="0">
                <a:solidFill>
                  <a:srgbClr val="14213D"/>
                </a:solidFill>
                <a:latin typeface="Calibri" pitchFamily="34" charset="0"/>
                <a:ea typeface="Calibri" pitchFamily="34" charset="-122"/>
                <a:cs typeface="Calibri" pitchFamily="34" charset="-120"/>
              </a:rPr>
              <a:t>Renewal opens 140 days before expiry and an accepted renewal re-enters placement, so a policy that is cared for never leaves the chain. Claims and servicing run beside it while the policy is in force; the ledger records every step.</a:t>
            </a:r>
            <a:endParaRPr lang="en-US" sz="1250" dirty="0"/>
          </a:p>
        </p:txBody>
      </p:sp>
      <p:sp>
        <p:nvSpPr>
          <p:cNvPr id="43" name="Text 4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4" name="Text 42"/>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The whole chain on one picture</a:t>
            </a:r>
            <a:endParaRPr lang="en-US" sz="3000" dirty="0"/>
          </a:p>
        </p:txBody>
      </p:sp>
      <p:sp>
        <p:nvSpPr>
          <p:cNvPr id="3" name="Shape 1"/>
          <p:cNvSpPr/>
          <p:nvPr/>
        </p:nvSpPr>
        <p:spPr>
          <a:xfrm>
            <a:off x="1302772" y="1097280"/>
            <a:ext cx="9555977" cy="429768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4" name="Image 0" descr="/home/user/Brokerverse/docs/bdoi-operating-model/img/diagram-chain.png">    </p:cNvPr>
          <p:cNvPicPr>
            <a:picLocks noChangeAspect="1"/>
          </p:cNvPicPr>
          <p:nvPr/>
        </p:nvPicPr>
        <p:blipFill>
          <a:blip r:embed="rId1"/>
          <a:stretch>
            <a:fillRect/>
          </a:stretch>
        </p:blipFill>
        <p:spPr>
          <a:xfrm>
            <a:off x="1302772" y="1097280"/>
            <a:ext cx="9555977" cy="4297680"/>
          </a:xfrm>
          <a:prstGeom prst="rect">
            <a:avLst/>
          </a:prstGeom>
        </p:spPr>
      </p:pic>
      <p:sp>
        <p:nvSpPr>
          <p:cNvPr id="5" name="Text 2"/>
          <p:cNvSpPr txBox="1"/>
          <p:nvPr/>
        </p:nvSpPr>
        <p:spPr>
          <a:xfrm>
            <a:off x="457200" y="5486400"/>
            <a:ext cx="11247120" cy="914400"/>
          </a:xfrm>
          <a:prstGeom prst="rect">
            <a:avLst/>
          </a:prstGeom>
          <a:noFill/>
          <a:ln/>
        </p:spPr>
        <p:txBody>
          <a:bodyPr wrap="square" lIns="0" tIns="0" rIns="0" bIns="0" rtlCol="0" anchor="t">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Read left to right: each lane is a unit or counterparty, each column a stage. Gold boxes are the client’s own steps; dashed arrows are conditional branches (non-packaged risk to TSU, large risk to reinsurance, claim accepted only when premium is paid). The BDOIR end-to-end flow integrated with the New Business, TSU, Reinsurance, Operations, Collections, Disbursement, FRBS, ACSL, Refund, Claims, Case Management and Renewal flows.</a:t>
            </a:r>
            <a:endParaRPr lang="en-US" sz="1100" dirty="0"/>
          </a:p>
        </p:txBody>
      </p:sp>
      <p:sp>
        <p:nvSpPr>
          <p:cNvPr id="7" name="Text 3"/>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8" name="Text 4"/>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Where the money goes</a:t>
            </a:r>
            <a:endParaRPr lang="en-US" sz="3000" dirty="0"/>
          </a:p>
        </p:txBody>
      </p:sp>
      <p:sp>
        <p:nvSpPr>
          <p:cNvPr id="3" name="Shape 1"/>
          <p:cNvSpPr/>
          <p:nvPr/>
        </p:nvSpPr>
        <p:spPr>
          <a:xfrm>
            <a:off x="1156268" y="1097280"/>
            <a:ext cx="9848985" cy="429768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4" name="Image 0" descr="/home/user/Brokerverse/docs/bdoi-operating-model/img/diagram-money.png">    </p:cNvPr>
          <p:cNvPicPr>
            <a:picLocks noChangeAspect="1"/>
          </p:cNvPicPr>
          <p:nvPr/>
        </p:nvPicPr>
        <p:blipFill>
          <a:blip r:embed="rId1"/>
          <a:stretch>
            <a:fillRect/>
          </a:stretch>
        </p:blipFill>
        <p:spPr>
          <a:xfrm>
            <a:off x="1156268" y="1097280"/>
            <a:ext cx="9848985" cy="4297680"/>
          </a:xfrm>
          <a:prstGeom prst="rect">
            <a:avLst/>
          </a:prstGeom>
        </p:spPr>
      </p:pic>
      <p:sp>
        <p:nvSpPr>
          <p:cNvPr id="5" name="Text 2"/>
          <p:cNvSpPr txBox="1"/>
          <p:nvPr/>
        </p:nvSpPr>
        <p:spPr>
          <a:xfrm>
            <a:off x="457200" y="5486400"/>
            <a:ext cx="11247120" cy="914400"/>
          </a:xfrm>
          <a:prstGeom prst="rect">
            <a:avLst/>
          </a:prstGeom>
          <a:noFill/>
          <a:ln/>
        </p:spPr>
        <p:txBody>
          <a:bodyPr wrap="square" lIns="0" tIns="0" rIns="0" bIns="0" rtlCol="0" anchor="t">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Gross premium arrives through the cashiering channels and is applied to the invoice; the weekly remittance extract pays insurers the net premium through the disbursement chain. When a client pays the insurer directly, BDOI bills the insurer for its commission. Refunds go back only through a Refund Request Form and the disbursement chain. Claims money never passes through BDOI. As cedant, BDOI remits reinsurance premium and collects reinsurance commission.</a:t>
            </a:r>
            <a:endParaRPr lang="en-US" sz="1100" dirty="0"/>
          </a:p>
        </p:txBody>
      </p:sp>
      <p:sp>
        <p:nvSpPr>
          <p:cNvPr id="7" name="Text 3"/>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8" name="Text 4"/>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The life of one policy</a:t>
            </a:r>
            <a:endParaRPr lang="en-US" sz="3000" dirty="0"/>
          </a:p>
        </p:txBody>
      </p:sp>
      <p:sp>
        <p:nvSpPr>
          <p:cNvPr id="3" name="Shape 1"/>
          <p:cNvSpPr/>
          <p:nvPr/>
        </p:nvSpPr>
        <p:spPr>
          <a:xfrm>
            <a:off x="1203960" y="1097280"/>
            <a:ext cx="9753600" cy="219456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4" name="Image 0" descr="/home/user/Brokerverse/docs/bdoi-operating-model/img/diagram-timeline.png">    </p:cNvPr>
          <p:cNvPicPr>
            <a:picLocks noChangeAspect="1"/>
          </p:cNvPicPr>
          <p:nvPr/>
        </p:nvPicPr>
        <p:blipFill>
          <a:blip r:embed="rId1"/>
          <a:stretch>
            <a:fillRect/>
          </a:stretch>
        </p:blipFill>
        <p:spPr>
          <a:xfrm>
            <a:off x="1203960" y="1097280"/>
            <a:ext cx="9753600" cy="2194560"/>
          </a:xfrm>
          <a:prstGeom prst="rect">
            <a:avLst/>
          </a:prstGeom>
        </p:spPr>
      </p:pic>
      <p:sp>
        <p:nvSpPr>
          <p:cNvPr id="5" name="Text 2"/>
          <p:cNvSpPr txBox="1"/>
          <p:nvPr/>
        </p:nvSpPr>
        <p:spPr>
          <a:xfrm>
            <a:off x="457200" y="3383280"/>
            <a:ext cx="11247120" cy="3017520"/>
          </a:xfrm>
          <a:prstGeom prst="rect">
            <a:avLst/>
          </a:prstGeom>
          <a:noFill/>
          <a:ln/>
        </p:spPr>
        <p:txBody>
          <a:bodyPr wrap="square" lIns="0" tIns="0" rIns="0" bIns="0" rtlCol="0" anchor="t">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Collections start 10–15 days after booking and the credit term is 60 days; a commitment beyond it needs a credit-term extension. Claims are accepted only while the policy is in force and the premium is paid. The renewal master expiry list opens 140 days before expiry, with renewal advices at 70 and 45 days; an accepted renewal is placed and booked like new business.</a:t>
            </a:r>
            <a:endParaRPr lang="en-US" sz="1100" dirty="0"/>
          </a:p>
        </p:txBody>
      </p:sp>
      <p:sp>
        <p:nvSpPr>
          <p:cNvPr id="7" name="Text 3"/>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8" name="Text 4"/>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Twelve stages</a:t>
            </a:r>
            <a:endParaRPr lang="en-US" sz="3000" dirty="0"/>
          </a:p>
        </p:txBody>
      </p:sp>
      <p:sp>
        <p:nvSpPr>
          <p:cNvPr id="3" name="Text 1"/>
          <p:cNvSpPr txBox="1"/>
          <p:nvPr/>
        </p:nvSpPr>
        <p:spPr>
          <a:xfrm>
            <a:off x="457200" y="1005840"/>
            <a:ext cx="11247120" cy="457200"/>
          </a:xfrm>
          <a:prstGeom prst="rect">
            <a:avLst/>
          </a:prstGeom>
          <a:noFill/>
          <a:ln/>
        </p:spPr>
        <p:txBody>
          <a:bodyPr wrap="square" lIns="0" tIns="0" rIns="0" bIns="0" rtlCol="0" anchor="ctr">
            <a:normAutofit/>
          </a:bodyPr>
          <a:lstStyle/>
          <a:p>
            <a:pPr indent="0" marL="0">
              <a:buNone/>
            </a:pPr>
            <a:r>
              <a:rPr lang="en-US" sz="1300" dirty="0">
                <a:solidFill>
                  <a:srgbClr val="5B6478"/>
                </a:solidFill>
                <a:latin typeface="Calibri" pitchFamily="34" charset="0"/>
                <a:ea typeface="Calibri" pitchFamily="34" charset="-122"/>
                <a:cs typeface="Calibri" pitchFamily="34" charset="-120"/>
              </a:rPr>
              <a:t>Each stage has its units, a trigger, activities, outputs, a control, a clock and a BrokerVerse screen. The following slides take them one by one.</a:t>
            </a:r>
            <a:endParaRPr lang="en-US" sz="1300" dirty="0"/>
          </a:p>
        </p:txBody>
      </p:sp>
      <p:sp>
        <p:nvSpPr>
          <p:cNvPr id="4" name="Shape 2"/>
          <p:cNvSpPr/>
          <p:nvPr/>
        </p:nvSpPr>
        <p:spPr>
          <a:xfrm>
            <a:off x="457200" y="1600200"/>
            <a:ext cx="2697480" cy="1417320"/>
          </a:xfrm>
          <a:prstGeom prst="roundRect">
            <a:avLst>
              <a:gd name="adj" fmla="val 6452"/>
            </a:avLst>
          </a:prstGeom>
          <a:solidFill>
            <a:srgbClr val="F5F7FB"/>
          </a:solidFill>
          <a:ln w="12700">
            <a:solidFill>
              <a:srgbClr val="D9DFEA"/>
            </a:solidFill>
            <a:prstDash val="solid"/>
          </a:ln>
        </p:spPr>
      </p:sp>
      <p:sp>
        <p:nvSpPr>
          <p:cNvPr id="5" name="Shape 3"/>
          <p:cNvSpPr/>
          <p:nvPr/>
        </p:nvSpPr>
        <p:spPr>
          <a:xfrm>
            <a:off x="594360" y="1737360"/>
            <a:ext cx="384048" cy="384048"/>
          </a:xfrm>
          <a:prstGeom prst="ellipse">
            <a:avLst/>
          </a:prstGeom>
          <a:solidFill>
            <a:srgbClr val="FFC400"/>
          </a:solidFill>
          <a:ln w="12700">
            <a:solidFill>
              <a:srgbClr val="FFC400"/>
            </a:solidFill>
            <a:prstDash val="solid"/>
          </a:ln>
        </p:spPr>
      </p:sp>
      <p:sp>
        <p:nvSpPr>
          <p:cNvPr id="6" name="Text 4"/>
          <p:cNvSpPr txBox="1"/>
          <p:nvPr/>
        </p:nvSpPr>
        <p:spPr>
          <a:xfrm>
            <a:off x="594360" y="173736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78992" y="169164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Onboarding &amp; screening</a:t>
            </a:r>
            <a:endParaRPr lang="en-US" sz="1250" dirty="0"/>
          </a:p>
        </p:txBody>
      </p:sp>
      <p:sp>
        <p:nvSpPr>
          <p:cNvPr id="8" name="Text 6"/>
          <p:cNvSpPr txBox="1"/>
          <p:nvPr/>
        </p:nvSpPr>
        <p:spPr>
          <a:xfrm>
            <a:off x="594360" y="225856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Marketing Account Officer (MAO) · Compliance</a:t>
            </a:r>
            <a:endParaRPr lang="en-US" sz="950" dirty="0"/>
          </a:p>
        </p:txBody>
      </p:sp>
      <p:sp>
        <p:nvSpPr>
          <p:cNvPr id="9" name="Shape 7"/>
          <p:cNvSpPr/>
          <p:nvPr/>
        </p:nvSpPr>
        <p:spPr>
          <a:xfrm>
            <a:off x="3291840" y="1600200"/>
            <a:ext cx="2697480" cy="1417320"/>
          </a:xfrm>
          <a:prstGeom prst="roundRect">
            <a:avLst>
              <a:gd name="adj" fmla="val 6452"/>
            </a:avLst>
          </a:prstGeom>
          <a:solidFill>
            <a:srgbClr val="F5F7FB"/>
          </a:solidFill>
          <a:ln w="12700">
            <a:solidFill>
              <a:srgbClr val="D9DFEA"/>
            </a:solidFill>
            <a:prstDash val="solid"/>
          </a:ln>
        </p:spPr>
      </p:sp>
      <p:sp>
        <p:nvSpPr>
          <p:cNvPr id="10" name="Shape 8"/>
          <p:cNvSpPr/>
          <p:nvPr/>
        </p:nvSpPr>
        <p:spPr>
          <a:xfrm>
            <a:off x="3429000" y="1737360"/>
            <a:ext cx="384048" cy="384048"/>
          </a:xfrm>
          <a:prstGeom prst="ellipse">
            <a:avLst/>
          </a:prstGeom>
          <a:solidFill>
            <a:srgbClr val="FFC400"/>
          </a:solidFill>
          <a:ln w="12700">
            <a:solidFill>
              <a:srgbClr val="FFC400"/>
            </a:solidFill>
            <a:prstDash val="solid"/>
          </a:ln>
        </p:spPr>
      </p:sp>
      <p:sp>
        <p:nvSpPr>
          <p:cNvPr id="11" name="Text 9"/>
          <p:cNvSpPr txBox="1"/>
          <p:nvPr/>
        </p:nvSpPr>
        <p:spPr>
          <a:xfrm>
            <a:off x="3429000" y="173736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3913632" y="169164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Quotation &amp; proposal</a:t>
            </a:r>
            <a:endParaRPr lang="en-US" sz="1250" dirty="0"/>
          </a:p>
        </p:txBody>
      </p:sp>
      <p:sp>
        <p:nvSpPr>
          <p:cNvPr id="13" name="Text 11"/>
          <p:cNvSpPr txBox="1"/>
          <p:nvPr/>
        </p:nvSpPr>
        <p:spPr>
          <a:xfrm>
            <a:off x="3429000" y="225856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MAO · Marketing TL · TSU (non-packaged) · Reinsurance</a:t>
            </a:r>
            <a:endParaRPr lang="en-US" sz="950" dirty="0"/>
          </a:p>
        </p:txBody>
      </p:sp>
      <p:sp>
        <p:nvSpPr>
          <p:cNvPr id="14" name="Shape 12"/>
          <p:cNvSpPr/>
          <p:nvPr/>
        </p:nvSpPr>
        <p:spPr>
          <a:xfrm>
            <a:off x="6126480" y="1600200"/>
            <a:ext cx="2697480" cy="1417320"/>
          </a:xfrm>
          <a:prstGeom prst="roundRect">
            <a:avLst>
              <a:gd name="adj" fmla="val 6452"/>
            </a:avLst>
          </a:prstGeom>
          <a:solidFill>
            <a:srgbClr val="F5F7FB"/>
          </a:solidFill>
          <a:ln w="12700">
            <a:solidFill>
              <a:srgbClr val="D9DFEA"/>
            </a:solidFill>
            <a:prstDash val="solid"/>
          </a:ln>
        </p:spPr>
      </p:sp>
      <p:sp>
        <p:nvSpPr>
          <p:cNvPr id="15" name="Shape 13"/>
          <p:cNvSpPr/>
          <p:nvPr/>
        </p:nvSpPr>
        <p:spPr>
          <a:xfrm>
            <a:off x="6263640" y="1737360"/>
            <a:ext cx="384048" cy="384048"/>
          </a:xfrm>
          <a:prstGeom prst="ellipse">
            <a:avLst/>
          </a:prstGeom>
          <a:solidFill>
            <a:srgbClr val="FFC400"/>
          </a:solidFill>
          <a:ln w="12700">
            <a:solidFill>
              <a:srgbClr val="FFC400"/>
            </a:solidFill>
            <a:prstDash val="solid"/>
          </a:ln>
        </p:spPr>
      </p:sp>
      <p:sp>
        <p:nvSpPr>
          <p:cNvPr id="16" name="Text 14"/>
          <p:cNvSpPr txBox="1"/>
          <p:nvPr/>
        </p:nvSpPr>
        <p:spPr>
          <a:xfrm>
            <a:off x="6263640" y="173736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6748272" y="169164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Placement with the insurer</a:t>
            </a:r>
            <a:endParaRPr lang="en-US" sz="1250" dirty="0"/>
          </a:p>
        </p:txBody>
      </p:sp>
      <p:sp>
        <p:nvSpPr>
          <p:cNvPr id="18" name="Text 16"/>
          <p:cNvSpPr txBox="1"/>
          <p:nvPr/>
        </p:nvSpPr>
        <p:spPr>
          <a:xfrm>
            <a:off x="6263640" y="225856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Processing Team / Officer (PT/PO) · Insurer</a:t>
            </a:r>
            <a:endParaRPr lang="en-US" sz="950" dirty="0"/>
          </a:p>
        </p:txBody>
      </p:sp>
      <p:sp>
        <p:nvSpPr>
          <p:cNvPr id="19" name="Shape 17"/>
          <p:cNvSpPr/>
          <p:nvPr/>
        </p:nvSpPr>
        <p:spPr>
          <a:xfrm>
            <a:off x="8961120" y="1600200"/>
            <a:ext cx="2697480" cy="1417320"/>
          </a:xfrm>
          <a:prstGeom prst="roundRect">
            <a:avLst>
              <a:gd name="adj" fmla="val 6452"/>
            </a:avLst>
          </a:prstGeom>
          <a:solidFill>
            <a:srgbClr val="F5F7FB"/>
          </a:solidFill>
          <a:ln w="12700">
            <a:solidFill>
              <a:srgbClr val="D9DFEA"/>
            </a:solidFill>
            <a:prstDash val="solid"/>
          </a:ln>
        </p:spPr>
      </p:sp>
      <p:sp>
        <p:nvSpPr>
          <p:cNvPr id="20" name="Shape 18"/>
          <p:cNvSpPr/>
          <p:nvPr/>
        </p:nvSpPr>
        <p:spPr>
          <a:xfrm>
            <a:off x="9098280" y="1737360"/>
            <a:ext cx="384048" cy="384048"/>
          </a:xfrm>
          <a:prstGeom prst="ellipse">
            <a:avLst/>
          </a:prstGeom>
          <a:solidFill>
            <a:srgbClr val="FFC400"/>
          </a:solidFill>
          <a:ln w="12700">
            <a:solidFill>
              <a:srgbClr val="FFC400"/>
            </a:solidFill>
            <a:prstDash val="solid"/>
          </a:ln>
        </p:spPr>
      </p:sp>
      <p:sp>
        <p:nvSpPr>
          <p:cNvPr id="21" name="Text 19"/>
          <p:cNvSpPr txBox="1"/>
          <p:nvPr/>
        </p:nvSpPr>
        <p:spPr>
          <a:xfrm>
            <a:off x="9098280" y="173736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9582912" y="169164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Booking, invoicing &amp; e-policy</a:t>
            </a:r>
            <a:endParaRPr lang="en-US" sz="1250" dirty="0"/>
          </a:p>
        </p:txBody>
      </p:sp>
      <p:sp>
        <p:nvSpPr>
          <p:cNvPr id="23" name="Text 21"/>
          <p:cNvSpPr txBox="1"/>
          <p:nvPr/>
        </p:nvSpPr>
        <p:spPr>
          <a:xfrm>
            <a:off x="9098280" y="225856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PO (maker) · Underwriting Head (checker) · COG-OPRM · Contact centre</a:t>
            </a:r>
            <a:endParaRPr lang="en-US" sz="950" dirty="0"/>
          </a:p>
        </p:txBody>
      </p:sp>
      <p:sp>
        <p:nvSpPr>
          <p:cNvPr id="24" name="Shape 22"/>
          <p:cNvSpPr/>
          <p:nvPr/>
        </p:nvSpPr>
        <p:spPr>
          <a:xfrm>
            <a:off x="457200" y="3154680"/>
            <a:ext cx="2697480" cy="1417320"/>
          </a:xfrm>
          <a:prstGeom prst="roundRect">
            <a:avLst>
              <a:gd name="adj" fmla="val 6452"/>
            </a:avLst>
          </a:prstGeom>
          <a:solidFill>
            <a:srgbClr val="F5F7FB"/>
          </a:solidFill>
          <a:ln w="12700">
            <a:solidFill>
              <a:srgbClr val="D9DFEA"/>
            </a:solidFill>
            <a:prstDash val="solid"/>
          </a:ln>
        </p:spPr>
      </p:sp>
      <p:sp>
        <p:nvSpPr>
          <p:cNvPr id="25" name="Shape 23"/>
          <p:cNvSpPr/>
          <p:nvPr/>
        </p:nvSpPr>
        <p:spPr>
          <a:xfrm>
            <a:off x="594360" y="3291840"/>
            <a:ext cx="384048" cy="384048"/>
          </a:xfrm>
          <a:prstGeom prst="ellipse">
            <a:avLst/>
          </a:prstGeom>
          <a:solidFill>
            <a:srgbClr val="FFC400"/>
          </a:solidFill>
          <a:ln w="12700">
            <a:solidFill>
              <a:srgbClr val="FFC400"/>
            </a:solidFill>
            <a:prstDash val="solid"/>
          </a:ln>
        </p:spPr>
      </p:sp>
      <p:sp>
        <p:nvSpPr>
          <p:cNvPr id="26" name="Text 24"/>
          <p:cNvSpPr txBox="1"/>
          <p:nvPr/>
        </p:nvSpPr>
        <p:spPr>
          <a:xfrm>
            <a:off x="594360" y="329184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1078992" y="324612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Cashiering &amp; payment application</a:t>
            </a:r>
            <a:endParaRPr lang="en-US" sz="1250" dirty="0"/>
          </a:p>
        </p:txBody>
      </p:sp>
      <p:sp>
        <p:nvSpPr>
          <p:cNvPr id="28" name="Text 26"/>
          <p:cNvSpPr txBox="1"/>
          <p:nvPr/>
        </p:nvSpPr>
        <p:spPr>
          <a:xfrm>
            <a:off x="594360" y="381304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Cashiering Team · UPP handler · Marketing (direct payments)</a:t>
            </a:r>
            <a:endParaRPr lang="en-US" sz="950" dirty="0"/>
          </a:p>
        </p:txBody>
      </p:sp>
      <p:sp>
        <p:nvSpPr>
          <p:cNvPr id="29" name="Shape 27"/>
          <p:cNvSpPr/>
          <p:nvPr/>
        </p:nvSpPr>
        <p:spPr>
          <a:xfrm>
            <a:off x="3291840" y="3154680"/>
            <a:ext cx="2697480" cy="1417320"/>
          </a:xfrm>
          <a:prstGeom prst="roundRect">
            <a:avLst>
              <a:gd name="adj" fmla="val 6452"/>
            </a:avLst>
          </a:prstGeom>
          <a:solidFill>
            <a:srgbClr val="F5F7FB"/>
          </a:solidFill>
          <a:ln w="12700">
            <a:solidFill>
              <a:srgbClr val="D9DFEA"/>
            </a:solidFill>
            <a:prstDash val="solid"/>
          </a:ln>
        </p:spPr>
      </p:sp>
      <p:sp>
        <p:nvSpPr>
          <p:cNvPr id="30" name="Shape 28"/>
          <p:cNvSpPr/>
          <p:nvPr/>
        </p:nvSpPr>
        <p:spPr>
          <a:xfrm>
            <a:off x="3429000" y="3291840"/>
            <a:ext cx="384048" cy="384048"/>
          </a:xfrm>
          <a:prstGeom prst="ellipse">
            <a:avLst/>
          </a:prstGeom>
          <a:solidFill>
            <a:srgbClr val="FFC400"/>
          </a:solidFill>
          <a:ln w="12700">
            <a:solidFill>
              <a:srgbClr val="FFC400"/>
            </a:solidFill>
            <a:prstDash val="solid"/>
          </a:ln>
        </p:spPr>
      </p:sp>
      <p:sp>
        <p:nvSpPr>
          <p:cNvPr id="31" name="Text 29"/>
          <p:cNvSpPr txBox="1"/>
          <p:nvPr/>
        </p:nvSpPr>
        <p:spPr>
          <a:xfrm>
            <a:off x="3429000" y="329184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6</a:t>
            </a:r>
            <a:endParaRPr lang="en-US" sz="1100" dirty="0"/>
          </a:p>
        </p:txBody>
      </p:sp>
      <p:sp>
        <p:nvSpPr>
          <p:cNvPr id="32" name="Text 30"/>
          <p:cNvSpPr txBox="1"/>
          <p:nvPr/>
        </p:nvSpPr>
        <p:spPr>
          <a:xfrm>
            <a:off x="3913632" y="324612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Marketing collections</a:t>
            </a:r>
            <a:endParaRPr lang="en-US" sz="1250" dirty="0"/>
          </a:p>
        </p:txBody>
      </p:sp>
      <p:sp>
        <p:nvSpPr>
          <p:cNvPr id="33" name="Text 31"/>
          <p:cNvSpPr txBox="1"/>
          <p:nvPr/>
        </p:nvSpPr>
        <p:spPr>
          <a:xfrm>
            <a:off x="3429000" y="381304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Collection Handler · MAO · Unit / Finance Head</a:t>
            </a:r>
            <a:endParaRPr lang="en-US" sz="950" dirty="0"/>
          </a:p>
        </p:txBody>
      </p:sp>
      <p:sp>
        <p:nvSpPr>
          <p:cNvPr id="34" name="Shape 32"/>
          <p:cNvSpPr/>
          <p:nvPr/>
        </p:nvSpPr>
        <p:spPr>
          <a:xfrm>
            <a:off x="6126480" y="3154680"/>
            <a:ext cx="2697480" cy="1417320"/>
          </a:xfrm>
          <a:prstGeom prst="roundRect">
            <a:avLst>
              <a:gd name="adj" fmla="val 6452"/>
            </a:avLst>
          </a:prstGeom>
          <a:solidFill>
            <a:srgbClr val="F5F7FB"/>
          </a:solidFill>
          <a:ln w="12700">
            <a:solidFill>
              <a:srgbClr val="D9DFEA"/>
            </a:solidFill>
            <a:prstDash val="solid"/>
          </a:ln>
        </p:spPr>
      </p:sp>
      <p:sp>
        <p:nvSpPr>
          <p:cNvPr id="35" name="Shape 33"/>
          <p:cNvSpPr/>
          <p:nvPr/>
        </p:nvSpPr>
        <p:spPr>
          <a:xfrm>
            <a:off x="6263640" y="3291840"/>
            <a:ext cx="384048" cy="384048"/>
          </a:xfrm>
          <a:prstGeom prst="ellipse">
            <a:avLst/>
          </a:prstGeom>
          <a:solidFill>
            <a:srgbClr val="FFC400"/>
          </a:solidFill>
          <a:ln w="12700">
            <a:solidFill>
              <a:srgbClr val="FFC400"/>
            </a:solidFill>
            <a:prstDash val="solid"/>
          </a:ln>
        </p:spPr>
      </p:sp>
      <p:sp>
        <p:nvSpPr>
          <p:cNvPr id="36" name="Text 34"/>
          <p:cNvSpPr txBox="1"/>
          <p:nvPr/>
        </p:nvSpPr>
        <p:spPr>
          <a:xfrm>
            <a:off x="6263640" y="329184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7</a:t>
            </a:r>
            <a:endParaRPr lang="en-US" sz="1100" dirty="0"/>
          </a:p>
        </p:txBody>
      </p:sp>
      <p:sp>
        <p:nvSpPr>
          <p:cNvPr id="37" name="Text 35"/>
          <p:cNvSpPr txBox="1"/>
          <p:nvPr/>
        </p:nvSpPr>
        <p:spPr>
          <a:xfrm>
            <a:off x="6748272" y="324612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Remittance &amp; disbursement</a:t>
            </a:r>
            <a:endParaRPr lang="en-US" sz="1250" dirty="0"/>
          </a:p>
        </p:txBody>
      </p:sp>
      <p:sp>
        <p:nvSpPr>
          <p:cNvPr id="38" name="Text 36"/>
          <p:cNvSpPr txBox="1"/>
          <p:nvPr/>
        </p:nvSpPr>
        <p:spPr>
          <a:xfrm>
            <a:off x="6263640" y="381304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Operations (extract) · Disbursement DPO → DTL → DSH → DUH · Insurer</a:t>
            </a:r>
            <a:endParaRPr lang="en-US" sz="950" dirty="0"/>
          </a:p>
        </p:txBody>
      </p:sp>
      <p:sp>
        <p:nvSpPr>
          <p:cNvPr id="39" name="Shape 37"/>
          <p:cNvSpPr/>
          <p:nvPr/>
        </p:nvSpPr>
        <p:spPr>
          <a:xfrm>
            <a:off x="8961120" y="3154680"/>
            <a:ext cx="2697480" cy="1417320"/>
          </a:xfrm>
          <a:prstGeom prst="roundRect">
            <a:avLst>
              <a:gd name="adj" fmla="val 6452"/>
            </a:avLst>
          </a:prstGeom>
          <a:solidFill>
            <a:srgbClr val="F5F7FB"/>
          </a:solidFill>
          <a:ln w="12700">
            <a:solidFill>
              <a:srgbClr val="D9DFEA"/>
            </a:solidFill>
            <a:prstDash val="solid"/>
          </a:ln>
        </p:spPr>
      </p:sp>
      <p:sp>
        <p:nvSpPr>
          <p:cNvPr id="40" name="Shape 38"/>
          <p:cNvSpPr/>
          <p:nvPr/>
        </p:nvSpPr>
        <p:spPr>
          <a:xfrm>
            <a:off x="9098280" y="3291840"/>
            <a:ext cx="384048" cy="384048"/>
          </a:xfrm>
          <a:prstGeom prst="ellipse">
            <a:avLst/>
          </a:prstGeom>
          <a:solidFill>
            <a:srgbClr val="FFC400"/>
          </a:solidFill>
          <a:ln w="12700">
            <a:solidFill>
              <a:srgbClr val="FFC400"/>
            </a:solidFill>
            <a:prstDash val="solid"/>
          </a:ln>
        </p:spPr>
      </p:sp>
      <p:sp>
        <p:nvSpPr>
          <p:cNvPr id="41" name="Text 39"/>
          <p:cNvSpPr txBox="1"/>
          <p:nvPr/>
        </p:nvSpPr>
        <p:spPr>
          <a:xfrm>
            <a:off x="9098280" y="329184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8</a:t>
            </a:r>
            <a:endParaRPr lang="en-US" sz="1100" dirty="0"/>
          </a:p>
        </p:txBody>
      </p:sp>
      <p:sp>
        <p:nvSpPr>
          <p:cNvPr id="42" name="Text 40"/>
          <p:cNvSpPr txBox="1"/>
          <p:nvPr/>
        </p:nvSpPr>
        <p:spPr>
          <a:xfrm>
            <a:off x="9582912" y="324612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FRBS ledger &amp; reconciliation</a:t>
            </a:r>
            <a:endParaRPr lang="en-US" sz="1250" dirty="0"/>
          </a:p>
        </p:txBody>
      </p:sp>
      <p:sp>
        <p:nvSpPr>
          <p:cNvPr id="43" name="Text 41"/>
          <p:cNvSpPr txBox="1"/>
          <p:nvPr/>
        </p:nvSpPr>
        <p:spPr>
          <a:xfrm>
            <a:off x="9098280" y="381304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FRBS Accounting Assistant · TL · Team Head · Accounting Processor (ACSL)</a:t>
            </a:r>
            <a:endParaRPr lang="en-US" sz="950" dirty="0"/>
          </a:p>
        </p:txBody>
      </p:sp>
      <p:sp>
        <p:nvSpPr>
          <p:cNvPr id="44" name="Shape 42"/>
          <p:cNvSpPr/>
          <p:nvPr/>
        </p:nvSpPr>
        <p:spPr>
          <a:xfrm>
            <a:off x="457200" y="4709160"/>
            <a:ext cx="2697480" cy="1417320"/>
          </a:xfrm>
          <a:prstGeom prst="roundRect">
            <a:avLst>
              <a:gd name="adj" fmla="val 6452"/>
            </a:avLst>
          </a:prstGeom>
          <a:solidFill>
            <a:srgbClr val="F5F7FB"/>
          </a:solidFill>
          <a:ln w="12700">
            <a:solidFill>
              <a:srgbClr val="D9DFEA"/>
            </a:solidFill>
            <a:prstDash val="solid"/>
          </a:ln>
        </p:spPr>
      </p:sp>
      <p:sp>
        <p:nvSpPr>
          <p:cNvPr id="45" name="Shape 43"/>
          <p:cNvSpPr/>
          <p:nvPr/>
        </p:nvSpPr>
        <p:spPr>
          <a:xfrm>
            <a:off x="594360" y="4846320"/>
            <a:ext cx="384048" cy="384048"/>
          </a:xfrm>
          <a:prstGeom prst="ellipse">
            <a:avLst/>
          </a:prstGeom>
          <a:solidFill>
            <a:srgbClr val="FFC400"/>
          </a:solidFill>
          <a:ln w="12700">
            <a:solidFill>
              <a:srgbClr val="FFC400"/>
            </a:solidFill>
            <a:prstDash val="solid"/>
          </a:ln>
        </p:spPr>
      </p:sp>
      <p:sp>
        <p:nvSpPr>
          <p:cNvPr id="46" name="Text 44"/>
          <p:cNvSpPr txBox="1"/>
          <p:nvPr/>
        </p:nvSpPr>
        <p:spPr>
          <a:xfrm>
            <a:off x="594360" y="484632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9</a:t>
            </a:r>
            <a:endParaRPr lang="en-US" sz="1100" dirty="0"/>
          </a:p>
        </p:txBody>
      </p:sp>
      <p:sp>
        <p:nvSpPr>
          <p:cNvPr id="47" name="Text 45"/>
          <p:cNvSpPr txBox="1"/>
          <p:nvPr/>
        </p:nvSpPr>
        <p:spPr>
          <a:xfrm>
            <a:off x="1078992" y="480060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Adjustments, cancellations &amp; refunds</a:t>
            </a:r>
            <a:endParaRPr lang="en-US" sz="1250" dirty="0"/>
          </a:p>
        </p:txBody>
      </p:sp>
      <p:sp>
        <p:nvSpPr>
          <p:cNvPr id="48" name="Text 46"/>
          <p:cNvSpPr txBox="1"/>
          <p:nvPr/>
        </p:nvSpPr>
        <p:spPr>
          <a:xfrm>
            <a:off x="594360" y="536752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Adjustment Team · Operations checker-poster · MAO · Marketing TL · Unit Head</a:t>
            </a:r>
            <a:endParaRPr lang="en-US" sz="950" dirty="0"/>
          </a:p>
        </p:txBody>
      </p:sp>
      <p:sp>
        <p:nvSpPr>
          <p:cNvPr id="49" name="Shape 47"/>
          <p:cNvSpPr/>
          <p:nvPr/>
        </p:nvSpPr>
        <p:spPr>
          <a:xfrm>
            <a:off x="3291840" y="4709160"/>
            <a:ext cx="2697480" cy="1417320"/>
          </a:xfrm>
          <a:prstGeom prst="roundRect">
            <a:avLst>
              <a:gd name="adj" fmla="val 6452"/>
            </a:avLst>
          </a:prstGeom>
          <a:solidFill>
            <a:srgbClr val="F5F7FB"/>
          </a:solidFill>
          <a:ln w="12700">
            <a:solidFill>
              <a:srgbClr val="D9DFEA"/>
            </a:solidFill>
            <a:prstDash val="solid"/>
          </a:ln>
        </p:spPr>
      </p:sp>
      <p:sp>
        <p:nvSpPr>
          <p:cNvPr id="50" name="Shape 48"/>
          <p:cNvSpPr/>
          <p:nvPr/>
        </p:nvSpPr>
        <p:spPr>
          <a:xfrm>
            <a:off x="3429000" y="4846320"/>
            <a:ext cx="384048" cy="384048"/>
          </a:xfrm>
          <a:prstGeom prst="ellipse">
            <a:avLst/>
          </a:prstGeom>
          <a:solidFill>
            <a:srgbClr val="FFC400"/>
          </a:solidFill>
          <a:ln w="12700">
            <a:solidFill>
              <a:srgbClr val="FFC400"/>
            </a:solidFill>
            <a:prstDash val="solid"/>
          </a:ln>
        </p:spPr>
      </p:sp>
      <p:sp>
        <p:nvSpPr>
          <p:cNvPr id="51" name="Text 49"/>
          <p:cNvSpPr txBox="1"/>
          <p:nvPr/>
        </p:nvSpPr>
        <p:spPr>
          <a:xfrm>
            <a:off x="3429000" y="484632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10</a:t>
            </a:r>
            <a:endParaRPr lang="en-US" sz="1100" dirty="0"/>
          </a:p>
        </p:txBody>
      </p:sp>
      <p:sp>
        <p:nvSpPr>
          <p:cNvPr id="52" name="Text 50"/>
          <p:cNvSpPr txBox="1"/>
          <p:nvPr/>
        </p:nvSpPr>
        <p:spPr>
          <a:xfrm>
            <a:off x="3913632" y="480060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Claims</a:t>
            </a:r>
            <a:endParaRPr lang="en-US" sz="1250" dirty="0"/>
          </a:p>
        </p:txBody>
      </p:sp>
      <p:sp>
        <p:nvSpPr>
          <p:cNvPr id="53" name="Text 51"/>
          <p:cNvSpPr txBox="1"/>
          <p:nvPr/>
        </p:nvSpPr>
        <p:spPr>
          <a:xfrm>
            <a:off x="3429000" y="536752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Claim handler · Insurer / adjuster · Assured · Casa / dealer</a:t>
            </a:r>
            <a:endParaRPr lang="en-US" sz="950" dirty="0"/>
          </a:p>
        </p:txBody>
      </p:sp>
      <p:sp>
        <p:nvSpPr>
          <p:cNvPr id="54" name="Shape 52"/>
          <p:cNvSpPr/>
          <p:nvPr/>
        </p:nvSpPr>
        <p:spPr>
          <a:xfrm>
            <a:off x="6126480" y="4709160"/>
            <a:ext cx="2697480" cy="1417320"/>
          </a:xfrm>
          <a:prstGeom prst="roundRect">
            <a:avLst>
              <a:gd name="adj" fmla="val 6452"/>
            </a:avLst>
          </a:prstGeom>
          <a:solidFill>
            <a:srgbClr val="F5F7FB"/>
          </a:solidFill>
          <a:ln w="12700">
            <a:solidFill>
              <a:srgbClr val="D9DFEA"/>
            </a:solidFill>
            <a:prstDash val="solid"/>
          </a:ln>
        </p:spPr>
      </p:sp>
      <p:sp>
        <p:nvSpPr>
          <p:cNvPr id="55" name="Shape 53"/>
          <p:cNvSpPr/>
          <p:nvPr/>
        </p:nvSpPr>
        <p:spPr>
          <a:xfrm>
            <a:off x="6263640" y="4846320"/>
            <a:ext cx="384048" cy="384048"/>
          </a:xfrm>
          <a:prstGeom prst="ellipse">
            <a:avLst/>
          </a:prstGeom>
          <a:solidFill>
            <a:srgbClr val="FFC400"/>
          </a:solidFill>
          <a:ln w="12700">
            <a:solidFill>
              <a:srgbClr val="FFC400"/>
            </a:solidFill>
            <a:prstDash val="solid"/>
          </a:ln>
        </p:spPr>
      </p:sp>
      <p:sp>
        <p:nvSpPr>
          <p:cNvPr id="56" name="Text 54"/>
          <p:cNvSpPr txBox="1"/>
          <p:nvPr/>
        </p:nvSpPr>
        <p:spPr>
          <a:xfrm>
            <a:off x="6263640" y="484632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11</a:t>
            </a:r>
            <a:endParaRPr lang="en-US" sz="1100" dirty="0"/>
          </a:p>
        </p:txBody>
      </p:sp>
      <p:sp>
        <p:nvSpPr>
          <p:cNvPr id="57" name="Text 55"/>
          <p:cNvSpPr txBox="1"/>
          <p:nvPr/>
        </p:nvSpPr>
        <p:spPr>
          <a:xfrm>
            <a:off x="6748272" y="480060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Customer servicing &amp; case management</a:t>
            </a:r>
            <a:endParaRPr lang="en-US" sz="1250" dirty="0"/>
          </a:p>
        </p:txBody>
      </p:sp>
      <p:sp>
        <p:nvSpPr>
          <p:cNvPr id="58" name="Text 56"/>
          <p:cNvSpPr txBox="1"/>
          <p:nvPr/>
        </p:nvSpPr>
        <p:spPr>
          <a:xfrm>
            <a:off x="6263640" y="536752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BDO Contact Centre (CCC) · BDO Insure agent · Fulfilment units</a:t>
            </a:r>
            <a:endParaRPr lang="en-US" sz="950" dirty="0"/>
          </a:p>
        </p:txBody>
      </p:sp>
      <p:sp>
        <p:nvSpPr>
          <p:cNvPr id="59" name="Shape 57"/>
          <p:cNvSpPr/>
          <p:nvPr/>
        </p:nvSpPr>
        <p:spPr>
          <a:xfrm>
            <a:off x="8961120" y="4709160"/>
            <a:ext cx="2697480" cy="1417320"/>
          </a:xfrm>
          <a:prstGeom prst="roundRect">
            <a:avLst>
              <a:gd name="adj" fmla="val 6452"/>
            </a:avLst>
          </a:prstGeom>
          <a:solidFill>
            <a:srgbClr val="F5F7FB"/>
          </a:solidFill>
          <a:ln w="12700">
            <a:solidFill>
              <a:srgbClr val="D9DFEA"/>
            </a:solidFill>
            <a:prstDash val="solid"/>
          </a:ln>
        </p:spPr>
      </p:sp>
      <p:sp>
        <p:nvSpPr>
          <p:cNvPr id="60" name="Shape 58"/>
          <p:cNvSpPr/>
          <p:nvPr/>
        </p:nvSpPr>
        <p:spPr>
          <a:xfrm>
            <a:off x="9098280" y="4846320"/>
            <a:ext cx="384048" cy="384048"/>
          </a:xfrm>
          <a:prstGeom prst="ellipse">
            <a:avLst/>
          </a:prstGeom>
          <a:solidFill>
            <a:srgbClr val="FFC400"/>
          </a:solidFill>
          <a:ln w="12700">
            <a:solidFill>
              <a:srgbClr val="FFC400"/>
            </a:solidFill>
            <a:prstDash val="solid"/>
          </a:ln>
        </p:spPr>
      </p:sp>
      <p:sp>
        <p:nvSpPr>
          <p:cNvPr id="61" name="Text 59"/>
          <p:cNvSpPr txBox="1"/>
          <p:nvPr/>
        </p:nvSpPr>
        <p:spPr>
          <a:xfrm>
            <a:off x="9098280" y="4846320"/>
            <a:ext cx="384048" cy="384048"/>
          </a:xfrm>
          <a:prstGeom prst="rect">
            <a:avLst/>
          </a:prstGeom>
          <a:noFill/>
          <a:ln/>
        </p:spPr>
        <p:txBody>
          <a:bodyPr wrap="square" lIns="0" tIns="0" rIns="0" bIns="0" rtlCol="0" anchor="ctr"/>
          <a:lstStyle/>
          <a:p>
            <a:pPr algn="ctr" indent="0" marL="0">
              <a:buNone/>
            </a:pPr>
            <a:r>
              <a:rPr lang="en-US" sz="1100" b="1" dirty="0">
                <a:solidFill>
                  <a:srgbClr val="002B7F"/>
                </a:solidFill>
                <a:latin typeface="Calibri" pitchFamily="34" charset="0"/>
                <a:ea typeface="Calibri" pitchFamily="34" charset="-122"/>
                <a:cs typeface="Calibri" pitchFamily="34" charset="-120"/>
              </a:rPr>
              <a:t>12</a:t>
            </a:r>
            <a:endParaRPr lang="en-US" sz="1100" dirty="0"/>
          </a:p>
        </p:txBody>
      </p:sp>
      <p:sp>
        <p:nvSpPr>
          <p:cNvPr id="62" name="Text 60"/>
          <p:cNvSpPr txBox="1"/>
          <p:nvPr/>
        </p:nvSpPr>
        <p:spPr>
          <a:xfrm>
            <a:off x="9582912" y="4800600"/>
            <a:ext cx="2011680" cy="502920"/>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Calibri" pitchFamily="34" charset="0"/>
                <a:ea typeface="Calibri" pitchFamily="34" charset="-122"/>
                <a:cs typeface="Calibri" pitchFamily="34" charset="-120"/>
              </a:rPr>
              <a:t>Renewal (automated RMEL)</a:t>
            </a:r>
            <a:endParaRPr lang="en-US" sz="1250" dirty="0"/>
          </a:p>
        </p:txBody>
      </p:sp>
      <p:sp>
        <p:nvSpPr>
          <p:cNvPr id="63" name="Text 61"/>
          <p:cNvSpPr txBox="1"/>
          <p:nvPr/>
        </p:nvSpPr>
        <p:spPr>
          <a:xfrm>
            <a:off x="9098280" y="5367528"/>
            <a:ext cx="2468880" cy="685800"/>
          </a:xfrm>
          <a:prstGeom prst="rect">
            <a:avLst/>
          </a:prstGeom>
          <a:noFill/>
          <a:ln/>
        </p:spPr>
        <p:txBody>
          <a:bodyPr wrap="square" lIns="0" tIns="0" rIns="0" bIns="0" rtlCol="0" anchor="t">
            <a:normAutofit/>
          </a:bodyPr>
          <a:lstStyle/>
          <a:p>
            <a:pPr indent="0" marL="0">
              <a:buNone/>
            </a:pPr>
            <a:r>
              <a:rPr lang="en-US" sz="950" dirty="0">
                <a:solidFill>
                  <a:srgbClr val="5B6478"/>
                </a:solidFill>
                <a:latin typeface="Calibri" pitchFamily="34" charset="0"/>
                <a:ea typeface="Calibri" pitchFamily="34" charset="-122"/>
                <a:cs typeface="Calibri" pitchFamily="34" charset="-120"/>
              </a:rPr>
              <a:t>Sanitation Handler · Marketing TL / Team Head · PO · Insurer</a:t>
            </a:r>
            <a:endParaRPr lang="en-US" sz="950" dirty="0"/>
          </a:p>
        </p:txBody>
      </p:sp>
      <p:sp>
        <p:nvSpPr>
          <p:cNvPr id="64" name="Text 62"/>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65" name="Text 63"/>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1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Onboarding &amp; screening</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Marketing Account Officer (MAO) · Compliance</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A prospect walks in, a BDO branch or loan unit refers a client (CBG home / motor loans, CLPC), or a corporate account is prospected.</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Client created with KYC details and TIN</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Automatic sanctions and PEP screening; hit → Compliance clears or declines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Risk score and tier set the customer due-diligence level</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Client record (CLT-no.), screening result, CDD level</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No quotation without a screened client; declined clients cannot transact.</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Immediate</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NEW BUSINESS · BDOIR E2E</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Sanction Screening &amp; Risk</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2-new-business-02.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Sanction Screening &amp; Risk</a:t>
            </a:r>
            <a:endParaRPr lang="en-US" sz="1000" dirty="0"/>
          </a:p>
        </p:txBody>
      </p:sp>
      <p:sp>
        <p:nvSpPr>
          <p:cNvPr id="23" name="Shape 20"/>
          <p:cNvSpPr/>
          <p:nvPr/>
        </p:nvSpPr>
        <p:spPr>
          <a:xfrm>
            <a:off x="6583680" y="5532120"/>
            <a:ext cx="577596" cy="329184"/>
          </a:xfrm>
          <a:prstGeom prst="chevron">
            <a:avLst/>
          </a:prstGeom>
          <a:solidFill>
            <a:srgbClr val="FFC400"/>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2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2</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Quotation &amp; proposal</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MAO · Marketing TL · TSU (non-packaged) · Reinsurance</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Screened client requests cover, or a renewal/conversion opportunity is opened.</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Packaged product: rating engine prices premium, VAT, DST, LGT, FST and commission from the product table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Non-packaged risk: TSU request → completeness and duplicate check → quotation slip → TL approval → RI referral if needed → sent to insurers → responses with evidence → comparative table → proposal slip approved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Proposal emailed; client accepts or declines with reason; hold cover can be requested from the insurer</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Quotation (QT-no.), proposal, TSU proposal slip, hold-cover request</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Non-packaged products cannot be quoted without an approved TSU proposal; acceptance limits and survey threshold checked at quotation.</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TSU SLA escalation on breach; insurer follow-up until all quotes are in</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NEW BUSINESS · PRODUCT MAINTENANCE TSU · RENISURANCE</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New Business › Quotations &amp; proposals · Product Maintenance › TSU requests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2-new-business-03.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New Business › Quotations &amp; proposals · Product Maintenance › TSU requests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FFC400"/>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3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3</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Placement with the insurer</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Processing Team / Officer (PT/PO) · Insurer</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Client acceptance recorded.</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Policy shell created in status placement requested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Placement slip sent by SFTP when the insurer is enrolled, otherwise by email</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Insurer returns (reason routed to marketing, resubmitted) or places the risk and issues the policy</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Policy (POL-no.), placement slip, insurer policy reference</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Channel decided by the insurer record; returns carry a reason and can be resubmitted.</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Facultative RI: acknowledge within 24 hours, slip within 3 working days</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NEW BUSINESS · RENISURANCE</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New Business › Placement · Reinsurance › Facultative placements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2-new-business-09.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New Business › Placement · Reinsurance › Facultative placements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FFC400"/>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4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4</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Booking, invoicing &amp; e-policy</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PO (maker) · Underwriting Head (checker) · COG-OPRM · Contact centre</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Risk placed and e-policy received.</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Book &amp; invoice raises a policy_issue approval; the checker approves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On approval: policy in force, invoice (premium receivable) generated, booking journal posted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E-policy delivered to the client via COG (SFTP) or PO email; fall-outs go to the contact centre with the exception reason</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Invoice (INV-no.), booking journal, e-policy, exception report</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Maker-checker with segregation of duties; only in-force, renewed or expired policies can carry claims.</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Same day once placed</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NEW BUSINESS · BDOIR E2E</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Approvals &amp; Audit · New Business › Policies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2-new-business-12.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Approvals &amp; Audit · New Business › Policies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FFC400"/>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5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5</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Cashiering &amp; payment application</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Cashiering Team · UPP handler · Marketing (direct payments)</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Client pays: bills payment, OTC cash or cheque, CLPC / PMS / trade batch files, direct credit, autopay, or directly to the insurer.</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Payment applied to the invoice; official receipt issued; cash and premium journals posted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Post-dated / OTC cheques held 4 days, then matured and applied, or tagged bounced (exclusion list)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Zero-PR or excess payments become unapplied premium (GL 2400) until matched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Direct payment to insurer: commission receivable (GL 1250) identified → billed → approved → collected with a commission OR</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Official receipt (OR-no.), PDC register, unapplied list, commission billing</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Cheques cannot mature before the clearing date; unapplied premium never sits against an invoice.</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4-day cheque hold</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OPERATIONS · BDOIR E2E</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Operations › Invoices &amp; cashiering · Payments / PDC / UPP · Direct payments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3-operations-03.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Operations › Invoices &amp; cashiering · Payments / PDC / UPP · Direct payments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FFC400"/>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6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6</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Marketing collections</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Collection Handler · MAO · Unit / Finance Head</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Invoice unpaid after booking.</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PR list by market segment with ageing and stage: newly booked → within credit term → committed → overdue → escalate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Marketing diary records when, where, how and what of every effort; SOA and reminders sent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Commitment beyond the 60-day credit term emails the MAO; a credit-term extension (CTE) needs Unit Head approval</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Statement of account, effort diary, CTE request</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Collect within 10–15 days of booking; CTE extends the due date only after approval.</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60-day credit term</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MARKETING COLLECTIONS</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Collections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4-marketing-collections-03.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Collections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FFC400"/>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7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7</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Remittance &amp; disbursement</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Operations (extract) · Disbursement DPO → DTL → DSH → DUH · Insurer</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Applied payments accumulate; weekly cycle (Monday to Friday coverage).</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Weekly remittance extract per insurer, sanitised (direct-paid and already-remitted policies excluded, endorsements and knock-offs removed)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Submission creates a disbursement voucher; reviewer, section head and unit head sign in sequence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Payment posted with cheque or transaction reference; confirmation email to the requestor; GL batch posted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The same chain pays refunds, suppliers, reimbursements and cash advances</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Remittance schedule, disbursement voucher, payment journal, confirmation email</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Requester, reviewer, approver and payer are different people; nothing is paid without the approval chain.</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Weekly extract; end-of-day processing</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OPERATIONS · DISBURSEMENT</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Accounting &amp; Disbursement › Remittances · Disbursements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6-disbursement-07.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Accounting &amp; Disbursement › Remittances · Disbursements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FFC400"/>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8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8</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FRBS ledger &amp; reconciliation</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FRBS Accounting Assistant · TL · Team Head · Accounting Processor (ACSL)</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Every transaction above posts a journal automatically; month and year ends.</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Chart of accounts maintained; system journals for booking, receipts, commissions, remittances and refunds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Manual journals drafted, reviewed by the TL and posted by the FRBS approver</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ACSL: insurer statement of account reconciled with the subsidiary ledger; abnormal balances raise adjustment entries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Period close and reopen; fiscal-year close moves nominal balances to retained earnings; trial balance and financial reports</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Journals, trial balance, financial reports, SOA reconciliation runs</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Double-entry ledger; closed periods reject postings; only the Finance Head reopens a period.</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Monthly on an agreed date; year-end</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FRBS - ACCOUNTING · ACSL</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Accounting &amp; Disbursement › Journals · Trial balance · Periods &amp; year-end · ACSL / SOA recon</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8-acsl-02.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Accounting &amp; Disbursement › Journals · Trial balance · Periods &amp; year-end · ACSL / SOA recon</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FFC400"/>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9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9</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Adjustments, cancellations &amp; refunds</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Adjustment Team · Operations checker-poster · MAO · Marketing TL · Unit Head</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Client requests a change or cancellation; production register shows a discrepancy; unapplied premium to be returned.</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Endorsement (adjustment or cancellation) validated and posted under checker-poster; premium delta journaled; cancellation sets the policy cancelled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Production reconciliation classifies insurer register rows as matched, with discrepancies or unbooked, each dispositioned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Refund Request Form raised from the endorsement or UPP → Marketing TL review → Unit Head sign-off → refund disbursement voucher</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Endorsement (END-no.), production recon run, RRF and refund voucher</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Refunds only originate from endorsements or unapplied premium and are paid only through the disbursement chain.</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Per disbursement chain</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OPERATIONS · REFUND REQUEST · BDOIR E2E</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Operations › Adjustments · Production recon · Accounting &amp; Disbursement › Refund requests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7-refund-request-03.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Operations › Adjustments · Production recon · Accounting &amp; Disbursement › Refund requests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FFC400"/>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10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10</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Claims</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Claim handler · Insurer / adjuster · Assured · Casa / dealer</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Client, account officer or branch sends notice of loss.</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Claims Acceptance Control checks the policy is in force and premium paid; Preliminary Loss Advice sent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Document checklist by line (motor; non-motor via Claims Reporting Form); Formal Loss Advice to the insurer once complete; adjuster flagged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Insurer evaluates and offers; assured accepts or contests (re-evaluation loop, more documents may be requested)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Settlement by Letter of Authority to the preferred casa/dealer or by cash cheque; settlement approved; claim tagged settled and closed, or declined with reason</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PLA, FLA, offer, LOA, settlement</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FLA blocked until documents complete; settlement is maker-checker; every stage has a declination exit.</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Age in days tracked per claim</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CLAIMS PROCESS FLOW</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Claims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09-claims-03.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Claims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FFC400"/>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11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11</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Customer servicing &amp; case management</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BDO Contact Centre (CCC) · BDO Insure agent · Fulfilment units</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Customer contacts the contact centre by phone, email or digital channel.</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General inquiry handled and closed at point of contact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Account-related concern: positive identification (registered TIN or email) then handled at point of contact or referred to the owning unit with a TAT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Fulfilment unit resolves and closes; mis-routed cases returned to the CCC with a reason and re-logged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Servicing facility: search by invoice, policy or name; view accounts; update contact details</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Case (SR-no.), TAT, contact update</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Failed PID blocks the case; past-TAT cases are flagged on the dashboard.</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Per category (hours)</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CASE MANAGEMENT TO BE · CUSTOMER SERVICING FACILITY</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Customer Servicing › Cases · Servicing facility</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10-case-management-04.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Customer Servicing › Cases · Servicing facility</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FFC400"/>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EEF3FC"/>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0A49B8"/>
                </a:solidFill>
                <a:latin typeface="Calibri" pitchFamily="34" charset="0"/>
                <a:ea typeface="Calibri" pitchFamily="34" charset="-122"/>
                <a:cs typeface="Calibri" pitchFamily="34" charset="-120"/>
              </a:rPr>
              <a:t>STAGE 12 OF 12</a:t>
            </a:r>
            <a:endParaRPr lang="en-US" sz="1000" dirty="0"/>
          </a:p>
        </p:txBody>
      </p:sp>
      <p:sp>
        <p:nvSpPr>
          <p:cNvPr id="3" name="Shape 1"/>
          <p:cNvSpPr/>
          <p:nvPr/>
        </p:nvSpPr>
        <p:spPr>
          <a:xfrm>
            <a:off x="457200" y="640080"/>
            <a:ext cx="502920" cy="502920"/>
          </a:xfrm>
          <a:prstGeom prst="ellipse">
            <a:avLst/>
          </a:prstGeom>
          <a:solidFill>
            <a:srgbClr val="FFC400"/>
          </a:solidFill>
          <a:ln w="12700">
            <a:solidFill>
              <a:srgbClr val="FFC400"/>
            </a:solidFill>
            <a:prstDash val="solid"/>
          </a:ln>
        </p:spPr>
      </p:sp>
      <p:sp>
        <p:nvSpPr>
          <p:cNvPr id="4" name="Text 2"/>
          <p:cNvSpPr txBox="1"/>
          <p:nvPr/>
        </p:nvSpPr>
        <p:spPr>
          <a:xfrm>
            <a:off x="457200" y="640080"/>
            <a:ext cx="502920" cy="50292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12</a:t>
            </a:r>
            <a:endParaRPr lang="en-US" sz="1400" dirty="0"/>
          </a:p>
        </p:txBody>
      </p:sp>
      <p:sp>
        <p:nvSpPr>
          <p:cNvPr id="5" name="Text 3"/>
          <p:cNvSpPr txBox="1"/>
          <p:nvPr/>
        </p:nvSpPr>
        <p:spPr>
          <a:xfrm>
            <a:off x="1097280" y="566928"/>
            <a:ext cx="6583680" cy="640080"/>
          </a:xfrm>
          <a:prstGeom prst="rect">
            <a:avLst/>
          </a:prstGeom>
          <a:noFill/>
          <a:ln/>
        </p:spPr>
        <p:txBody>
          <a:bodyPr wrap="square" lIns="0" tIns="0" rIns="0" bIns="0" rtlCol="0" anchor="ctr">
            <a:normAutofit/>
          </a:bodyPr>
          <a:lstStyle/>
          <a:p>
            <a:pPr indent="0" marL="0">
              <a:buNone/>
            </a:pPr>
            <a:r>
              <a:rPr lang="en-US" sz="2600" b="1" dirty="0">
                <a:solidFill>
                  <a:srgbClr val="002B7F"/>
                </a:solidFill>
                <a:latin typeface="Cambria" pitchFamily="34" charset="0"/>
                <a:ea typeface="Cambria" pitchFamily="34" charset="-122"/>
                <a:cs typeface="Cambria" pitchFamily="34" charset="-120"/>
              </a:rPr>
              <a:t>Renewal (automated RMEL)</a:t>
            </a:r>
            <a:endParaRPr lang="en-US" sz="2600" dirty="0"/>
          </a:p>
        </p:txBody>
      </p:sp>
      <p:sp>
        <p:nvSpPr>
          <p:cNvPr id="6" name="Text 4"/>
          <p:cNvSpPr txBox="1"/>
          <p:nvPr/>
        </p:nvSpPr>
        <p:spPr>
          <a:xfrm>
            <a:off x="1097280" y="1188720"/>
            <a:ext cx="6583680" cy="320040"/>
          </a:xfrm>
          <a:prstGeom prst="rect">
            <a:avLst/>
          </a:prstGeom>
          <a:noFill/>
          <a:ln/>
        </p:spPr>
        <p:txBody>
          <a:bodyPr wrap="square" lIns="0" tIns="0" rIns="0" bIns="0" rtlCol="0" anchor="ctr">
            <a:normAutofit/>
          </a:bodyPr>
          <a:lstStyle/>
          <a:p>
            <a:pPr indent="0" marL="0">
              <a:buNone/>
            </a:pPr>
            <a:r>
              <a:rPr lang="en-US" sz="1100" dirty="0">
                <a:solidFill>
                  <a:srgbClr val="5B6478"/>
                </a:solidFill>
                <a:latin typeface="Calibri" pitchFamily="34" charset="0"/>
                <a:ea typeface="Calibri" pitchFamily="34" charset="-122"/>
                <a:cs typeface="Calibri" pitchFamily="34" charset="-120"/>
              </a:rPr>
              <a:t>Sanitation Handler · Marketing TL / Team Head · PO · Insurer</a:t>
            </a:r>
            <a:endParaRPr lang="en-US" sz="1100" dirty="0"/>
          </a:p>
        </p:txBody>
      </p:sp>
      <p:sp>
        <p:nvSpPr>
          <p:cNvPr id="7" name="Text 5"/>
          <p:cNvSpPr txBox="1"/>
          <p:nvPr/>
        </p:nvSpPr>
        <p:spPr>
          <a:xfrm>
            <a:off x="457200" y="1645920"/>
            <a:ext cx="5852160" cy="640080"/>
          </a:xfrm>
          <a:prstGeom prst="rect">
            <a:avLst/>
          </a:prstGeom>
          <a:noFill/>
          <a:ln/>
        </p:spPr>
        <p:txBody>
          <a:bodyPr wrap="square" lIns="0" tIns="0" rIns="0" bIns="0" rtlCol="0" anchor="t">
            <a:normAutofit/>
          </a:bodyPr>
          <a:lstStyle/>
          <a:p>
            <a:pPr indent="0" marL="0">
              <a:buNone/>
            </a:pPr>
            <a:r>
              <a:rPr lang="en-US" sz="900" b="1" spc="200" kern="0" dirty="0">
                <a:solidFill>
                  <a:srgbClr val="5B6478"/>
                </a:solidFill>
                <a:latin typeface="Calibri" pitchFamily="34" charset="0"/>
                <a:ea typeface="Calibri" pitchFamily="34" charset="-122"/>
                <a:cs typeface="Calibri" pitchFamily="34" charset="-120"/>
              </a:rPr>
              <a:t>STARTS WHEN  </a:t>
            </a:r>
            <a:pPr indent="0" marL="0">
              <a:buNone/>
            </a:pPr>
            <a:r>
              <a:rPr lang="en-US" sz="1100" dirty="0">
                <a:solidFill>
                  <a:srgbClr val="14213D"/>
                </a:solidFill>
                <a:latin typeface="Calibri" pitchFamily="34" charset="0"/>
                <a:ea typeface="Calibri" pitchFamily="34" charset="-122"/>
                <a:cs typeface="Calibri" pitchFamily="34" charset="-120"/>
              </a:rPr>
              <a:t>Policy enters the 140-day window before expiry.</a:t>
            </a:r>
            <a:endParaRPr lang="en-US" sz="1100" dirty="0"/>
          </a:p>
        </p:txBody>
      </p:sp>
      <p:sp>
        <p:nvSpPr>
          <p:cNvPr id="8" name="Text 6"/>
          <p:cNvSpPr txBox="1"/>
          <p:nvPr/>
        </p:nvSpPr>
        <p:spPr>
          <a:xfrm>
            <a:off x="457200" y="2331720"/>
            <a:ext cx="5852160" cy="210312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Renewal Master Expiry List generated; sanitation dispositions each account: for renewal, remarket, or not for renewal (NRNS letter)</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Renewal advice letters: initial at −70 days, final at −45 days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Client accepts: renewal policy created and enters placement → booking → e-policy like new business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Bank-submitted policies feed the sanitation handler 150 days from expiry (conversion opportunity)</a:t>
            </a:r>
            <a:endParaRPr lang="en-US" sz="1100" dirty="0"/>
          </a:p>
        </p:txBody>
      </p:sp>
      <p:sp>
        <p:nvSpPr>
          <p:cNvPr id="9" name="Text 7"/>
          <p:cNvSpPr txBox="1"/>
          <p:nvPr/>
        </p:nvSpPr>
        <p:spPr>
          <a:xfrm>
            <a:off x="457200" y="4526280"/>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PRODUCES</a:t>
            </a:r>
            <a:endParaRPr lang="en-US" sz="850" dirty="0"/>
          </a:p>
        </p:txBody>
      </p:sp>
      <p:sp>
        <p:nvSpPr>
          <p:cNvPr id="10" name="Text 8"/>
          <p:cNvSpPr txBox="1"/>
          <p:nvPr/>
        </p:nvSpPr>
        <p:spPr>
          <a:xfrm>
            <a:off x="1508760" y="4526280"/>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RMEL, RA letters, NRNS letter, renewal policy</a:t>
            </a:r>
            <a:endParaRPr lang="en-US" sz="1000" dirty="0"/>
          </a:p>
        </p:txBody>
      </p:sp>
      <p:sp>
        <p:nvSpPr>
          <p:cNvPr id="11" name="Text 9"/>
          <p:cNvSpPr txBox="1"/>
          <p:nvPr/>
        </p:nvSpPr>
        <p:spPr>
          <a:xfrm>
            <a:off x="457200" y="4901184"/>
            <a:ext cx="960120" cy="502920"/>
          </a:xfrm>
          <a:prstGeom prst="rect">
            <a:avLst/>
          </a:prstGeom>
          <a:noFill/>
          <a:ln/>
        </p:spPr>
        <p:txBody>
          <a:bodyPr wrap="square" lIns="0" tIns="0" rIns="0" bIns="0" rtlCol="0" anchor="t"/>
          <a:lstStyle/>
          <a:p>
            <a:pPr indent="0" marL="0">
              <a:buNone/>
            </a:pPr>
            <a:r>
              <a:rPr lang="en-US" sz="850" b="1" spc="200" kern="0" dirty="0">
                <a:solidFill>
                  <a:srgbClr val="002B7F"/>
                </a:solidFill>
                <a:latin typeface="Calibri" pitchFamily="34" charset="0"/>
                <a:ea typeface="Calibri" pitchFamily="34" charset="-122"/>
                <a:cs typeface="Calibri" pitchFamily="34" charset="-120"/>
              </a:rPr>
              <a:t>CONTROL</a:t>
            </a:r>
            <a:endParaRPr lang="en-US" sz="850" dirty="0"/>
          </a:p>
        </p:txBody>
      </p:sp>
      <p:sp>
        <p:nvSpPr>
          <p:cNvPr id="12" name="Shape 10"/>
          <p:cNvSpPr/>
          <p:nvPr/>
        </p:nvSpPr>
        <p:spPr>
          <a:xfrm>
            <a:off x="1417320" y="4864608"/>
            <a:ext cx="4892040" cy="502920"/>
          </a:xfrm>
          <a:prstGeom prst="roundRect">
            <a:avLst>
              <a:gd name="adj" fmla="val 10909"/>
            </a:avLst>
          </a:prstGeom>
          <a:solidFill>
            <a:srgbClr val="EEF3FC"/>
          </a:solidFill>
          <a:ln w="12700">
            <a:solidFill>
              <a:srgbClr val="EEF3FC"/>
            </a:solidFill>
            <a:prstDash val="solid"/>
          </a:ln>
        </p:spPr>
      </p:sp>
      <p:sp>
        <p:nvSpPr>
          <p:cNvPr id="13" name="Text 11"/>
          <p:cNvSpPr txBox="1"/>
          <p:nvPr/>
        </p:nvSpPr>
        <p:spPr>
          <a:xfrm>
            <a:off x="1508760" y="4901184"/>
            <a:ext cx="4754880" cy="502920"/>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RA timings and order enforced; conversion proceeds through New Business.</a:t>
            </a:r>
            <a:endParaRPr lang="en-US" sz="1000" dirty="0"/>
          </a:p>
        </p:txBody>
      </p:sp>
      <p:sp>
        <p:nvSpPr>
          <p:cNvPr id="14" name="Text 12"/>
          <p:cNvSpPr txBox="1"/>
          <p:nvPr/>
        </p:nvSpPr>
        <p:spPr>
          <a:xfrm>
            <a:off x="457200" y="5449824"/>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CLOCK</a:t>
            </a:r>
            <a:endParaRPr lang="en-US" sz="850" dirty="0"/>
          </a:p>
        </p:txBody>
      </p:sp>
      <p:sp>
        <p:nvSpPr>
          <p:cNvPr id="15" name="Text 13"/>
          <p:cNvSpPr txBox="1"/>
          <p:nvPr/>
        </p:nvSpPr>
        <p:spPr>
          <a:xfrm>
            <a:off x="1508760" y="5449824"/>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−140 / −70 / −45 days</a:t>
            </a:r>
            <a:endParaRPr lang="en-US" sz="1000" dirty="0"/>
          </a:p>
        </p:txBody>
      </p:sp>
      <p:sp>
        <p:nvSpPr>
          <p:cNvPr id="16" name="Text 14"/>
          <p:cNvSpPr txBox="1"/>
          <p:nvPr/>
        </p:nvSpPr>
        <p:spPr>
          <a:xfrm>
            <a:off x="457200" y="5824728"/>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FLOWS</a:t>
            </a:r>
            <a:endParaRPr lang="en-US" sz="850" dirty="0"/>
          </a:p>
        </p:txBody>
      </p:sp>
      <p:sp>
        <p:nvSpPr>
          <p:cNvPr id="17" name="Text 15"/>
          <p:cNvSpPr txBox="1"/>
          <p:nvPr/>
        </p:nvSpPr>
        <p:spPr>
          <a:xfrm>
            <a:off x="1508760" y="5824728"/>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RENEWAL · Submitted Policies</a:t>
            </a:r>
            <a:endParaRPr lang="en-US" sz="1000" dirty="0"/>
          </a:p>
        </p:txBody>
      </p:sp>
      <p:sp>
        <p:nvSpPr>
          <p:cNvPr id="18" name="Text 16"/>
          <p:cNvSpPr txBox="1"/>
          <p:nvPr/>
        </p:nvSpPr>
        <p:spPr>
          <a:xfrm>
            <a:off x="457200" y="6199632"/>
            <a:ext cx="960120" cy="329184"/>
          </a:xfrm>
          <a:prstGeom prst="rect">
            <a:avLst/>
          </a:prstGeom>
          <a:noFill/>
          <a:ln/>
        </p:spPr>
        <p:txBody>
          <a:bodyPr wrap="square" lIns="0" tIns="0" rIns="0" bIns="0" rtlCol="0" anchor="t"/>
          <a:lstStyle/>
          <a:p>
            <a:pPr indent="0" marL="0">
              <a:buNone/>
            </a:pPr>
            <a:r>
              <a:rPr lang="en-US" sz="850" b="1" spc="200" kern="0" dirty="0">
                <a:solidFill>
                  <a:srgbClr val="5B6478"/>
                </a:solidFill>
                <a:latin typeface="Calibri" pitchFamily="34" charset="0"/>
                <a:ea typeface="Calibri" pitchFamily="34" charset="-122"/>
                <a:cs typeface="Calibri" pitchFamily="34" charset="-120"/>
              </a:rPr>
              <a:t>SCREEN</a:t>
            </a:r>
            <a:endParaRPr lang="en-US" sz="850" dirty="0"/>
          </a:p>
        </p:txBody>
      </p:sp>
      <p:sp>
        <p:nvSpPr>
          <p:cNvPr id="19" name="Text 17"/>
          <p:cNvSpPr txBox="1"/>
          <p:nvPr/>
        </p:nvSpPr>
        <p:spPr>
          <a:xfrm>
            <a:off x="1508760" y="6199632"/>
            <a:ext cx="4754880" cy="329184"/>
          </a:xfrm>
          <a:prstGeom prst="rect">
            <a:avLst/>
          </a:prstGeom>
          <a:noFill/>
          <a:ln/>
        </p:spPr>
        <p:txBody>
          <a:bodyPr wrap="square" lIns="0" tIns="0" rIns="0" bIns="0" rtlCol="0" anchor="t">
            <a:normAutofit/>
          </a:bodyPr>
          <a:lstStyle/>
          <a:p>
            <a:pPr indent="0" marL="0">
              <a:buNone/>
            </a:pPr>
            <a:r>
              <a:rPr lang="en-US" sz="1000" dirty="0">
                <a:solidFill>
                  <a:srgbClr val="14213D"/>
                </a:solidFill>
                <a:latin typeface="Calibri" pitchFamily="34" charset="0"/>
                <a:ea typeface="Calibri" pitchFamily="34" charset="-122"/>
                <a:cs typeface="Calibri" pitchFamily="34" charset="-120"/>
              </a:rPr>
              <a:t>Renewal · Submitted Policies › Expiring (150 days)</a:t>
            </a:r>
            <a:endParaRPr lang="en-US" sz="1000" dirty="0"/>
          </a:p>
        </p:txBody>
      </p:sp>
      <p:sp>
        <p:nvSpPr>
          <p:cNvPr id="20" name="Shape 18"/>
          <p:cNvSpPr/>
          <p:nvPr/>
        </p:nvSpPr>
        <p:spPr>
          <a:xfrm>
            <a:off x="6583680" y="1645920"/>
            <a:ext cx="5120640" cy="32004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21" name="Image 0" descr="/home/user/Brokerverse/docs/bdoi-operating-model/img/12-renewal-05.jpg">    </p:cNvPr>
          <p:cNvPicPr>
            <a:picLocks noChangeAspect="1"/>
          </p:cNvPicPr>
          <p:nvPr/>
        </p:nvPicPr>
        <p:blipFill>
          <a:blip r:embed="rId1"/>
          <a:stretch>
            <a:fillRect/>
          </a:stretch>
        </p:blipFill>
        <p:spPr>
          <a:xfrm>
            <a:off x="6583680" y="1645920"/>
            <a:ext cx="5120640" cy="3200400"/>
          </a:xfrm>
          <a:prstGeom prst="rect">
            <a:avLst/>
          </a:prstGeom>
        </p:spPr>
      </p:pic>
      <p:sp>
        <p:nvSpPr>
          <p:cNvPr id="22" name="Text 19"/>
          <p:cNvSpPr txBox="1"/>
          <p:nvPr/>
        </p:nvSpPr>
        <p:spPr>
          <a:xfrm>
            <a:off x="6583680" y="4919472"/>
            <a:ext cx="5120640" cy="411480"/>
          </a:xfrm>
          <a:prstGeom prst="rect">
            <a:avLst/>
          </a:prstGeom>
          <a:noFill/>
          <a:ln/>
        </p:spPr>
        <p:txBody>
          <a:bodyPr wrap="square" lIns="0" tIns="0" rIns="0" bIns="0" rtlCol="0" anchor="t">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In BrokerVerse: Renewal · Submitted Policies › Expiring (150 days)</a:t>
            </a:r>
            <a:endParaRPr lang="en-US" sz="1000" dirty="0"/>
          </a:p>
        </p:txBody>
      </p:sp>
      <p:sp>
        <p:nvSpPr>
          <p:cNvPr id="23" name="Shape 20"/>
          <p:cNvSpPr/>
          <p:nvPr/>
        </p:nvSpPr>
        <p:spPr>
          <a:xfrm>
            <a:off x="6583680" y="5532120"/>
            <a:ext cx="577596" cy="329184"/>
          </a:xfrm>
          <a:prstGeom prst="chevron">
            <a:avLst/>
          </a:prstGeom>
          <a:solidFill>
            <a:srgbClr val="EEF3FC"/>
          </a:solidFill>
          <a:ln w="9525">
            <a:solidFill>
              <a:srgbClr val="FFFFFF"/>
            </a:solidFill>
            <a:prstDash val="solid"/>
          </a:ln>
        </p:spPr>
      </p:sp>
      <p:sp>
        <p:nvSpPr>
          <p:cNvPr id="24" name="Shape 21"/>
          <p:cNvSpPr/>
          <p:nvPr/>
        </p:nvSpPr>
        <p:spPr>
          <a:xfrm>
            <a:off x="6996684" y="5532120"/>
            <a:ext cx="577596" cy="329184"/>
          </a:xfrm>
          <a:prstGeom prst="chevron">
            <a:avLst/>
          </a:prstGeom>
          <a:solidFill>
            <a:srgbClr val="EEF3FC"/>
          </a:solidFill>
          <a:ln w="9525">
            <a:solidFill>
              <a:srgbClr val="FFFFFF"/>
            </a:solidFill>
            <a:prstDash val="solid"/>
          </a:ln>
        </p:spPr>
      </p:sp>
      <p:sp>
        <p:nvSpPr>
          <p:cNvPr id="25" name="Shape 22"/>
          <p:cNvSpPr/>
          <p:nvPr/>
        </p:nvSpPr>
        <p:spPr>
          <a:xfrm>
            <a:off x="7409688" y="5532120"/>
            <a:ext cx="577596" cy="329184"/>
          </a:xfrm>
          <a:prstGeom prst="chevron">
            <a:avLst/>
          </a:prstGeom>
          <a:solidFill>
            <a:srgbClr val="EEF3FC"/>
          </a:solidFill>
          <a:ln w="9525">
            <a:solidFill>
              <a:srgbClr val="FFFFFF"/>
            </a:solidFill>
            <a:prstDash val="solid"/>
          </a:ln>
        </p:spPr>
      </p:sp>
      <p:sp>
        <p:nvSpPr>
          <p:cNvPr id="26" name="Shape 23"/>
          <p:cNvSpPr/>
          <p:nvPr/>
        </p:nvSpPr>
        <p:spPr>
          <a:xfrm>
            <a:off x="7822692" y="5532120"/>
            <a:ext cx="577596" cy="329184"/>
          </a:xfrm>
          <a:prstGeom prst="chevron">
            <a:avLst/>
          </a:prstGeom>
          <a:solidFill>
            <a:srgbClr val="EEF3FC"/>
          </a:solidFill>
          <a:ln w="9525">
            <a:solidFill>
              <a:srgbClr val="FFFFFF"/>
            </a:solidFill>
            <a:prstDash val="solid"/>
          </a:ln>
        </p:spPr>
      </p:sp>
      <p:sp>
        <p:nvSpPr>
          <p:cNvPr id="27" name="Shape 24"/>
          <p:cNvSpPr/>
          <p:nvPr/>
        </p:nvSpPr>
        <p:spPr>
          <a:xfrm>
            <a:off x="8235696" y="5532120"/>
            <a:ext cx="577596" cy="329184"/>
          </a:xfrm>
          <a:prstGeom prst="chevron">
            <a:avLst/>
          </a:prstGeom>
          <a:solidFill>
            <a:srgbClr val="EEF3FC"/>
          </a:solidFill>
          <a:ln w="9525">
            <a:solidFill>
              <a:srgbClr val="FFFFFF"/>
            </a:solidFill>
            <a:prstDash val="solid"/>
          </a:ln>
        </p:spPr>
      </p:sp>
      <p:sp>
        <p:nvSpPr>
          <p:cNvPr id="28" name="Shape 25"/>
          <p:cNvSpPr/>
          <p:nvPr/>
        </p:nvSpPr>
        <p:spPr>
          <a:xfrm>
            <a:off x="8648700" y="5532120"/>
            <a:ext cx="577596" cy="329184"/>
          </a:xfrm>
          <a:prstGeom prst="chevron">
            <a:avLst/>
          </a:prstGeom>
          <a:solidFill>
            <a:srgbClr val="EEF3FC"/>
          </a:solidFill>
          <a:ln w="9525">
            <a:solidFill>
              <a:srgbClr val="FFFFFF"/>
            </a:solidFill>
            <a:prstDash val="solid"/>
          </a:ln>
        </p:spPr>
      </p:sp>
      <p:sp>
        <p:nvSpPr>
          <p:cNvPr id="29" name="Shape 26"/>
          <p:cNvSpPr/>
          <p:nvPr/>
        </p:nvSpPr>
        <p:spPr>
          <a:xfrm>
            <a:off x="9061704" y="5532120"/>
            <a:ext cx="577596" cy="329184"/>
          </a:xfrm>
          <a:prstGeom prst="chevron">
            <a:avLst/>
          </a:prstGeom>
          <a:solidFill>
            <a:srgbClr val="EEF3FC"/>
          </a:solidFill>
          <a:ln w="9525">
            <a:solidFill>
              <a:srgbClr val="FFFFFF"/>
            </a:solidFill>
            <a:prstDash val="solid"/>
          </a:ln>
        </p:spPr>
      </p:sp>
      <p:sp>
        <p:nvSpPr>
          <p:cNvPr id="30" name="Shape 27"/>
          <p:cNvSpPr/>
          <p:nvPr/>
        </p:nvSpPr>
        <p:spPr>
          <a:xfrm>
            <a:off x="9474708" y="5532120"/>
            <a:ext cx="577596" cy="329184"/>
          </a:xfrm>
          <a:prstGeom prst="chevron">
            <a:avLst/>
          </a:prstGeom>
          <a:solidFill>
            <a:srgbClr val="EEF3FC"/>
          </a:solidFill>
          <a:ln w="9525">
            <a:solidFill>
              <a:srgbClr val="FFFFFF"/>
            </a:solidFill>
            <a:prstDash val="solid"/>
          </a:ln>
        </p:spPr>
      </p:sp>
      <p:sp>
        <p:nvSpPr>
          <p:cNvPr id="31" name="Shape 28"/>
          <p:cNvSpPr/>
          <p:nvPr/>
        </p:nvSpPr>
        <p:spPr>
          <a:xfrm>
            <a:off x="9887712" y="5532120"/>
            <a:ext cx="577596" cy="329184"/>
          </a:xfrm>
          <a:prstGeom prst="chevron">
            <a:avLst/>
          </a:prstGeom>
          <a:solidFill>
            <a:srgbClr val="EEF3FC"/>
          </a:solidFill>
          <a:ln w="9525">
            <a:solidFill>
              <a:srgbClr val="FFFFFF"/>
            </a:solidFill>
            <a:prstDash val="solid"/>
          </a:ln>
        </p:spPr>
      </p:sp>
      <p:sp>
        <p:nvSpPr>
          <p:cNvPr id="32" name="Shape 29"/>
          <p:cNvSpPr/>
          <p:nvPr/>
        </p:nvSpPr>
        <p:spPr>
          <a:xfrm>
            <a:off x="10300716" y="5532120"/>
            <a:ext cx="577596" cy="329184"/>
          </a:xfrm>
          <a:prstGeom prst="chevron">
            <a:avLst/>
          </a:prstGeom>
          <a:solidFill>
            <a:srgbClr val="EEF3FC"/>
          </a:solidFill>
          <a:ln w="9525">
            <a:solidFill>
              <a:srgbClr val="FFFFFF"/>
            </a:solidFill>
            <a:prstDash val="solid"/>
          </a:ln>
        </p:spPr>
      </p:sp>
      <p:sp>
        <p:nvSpPr>
          <p:cNvPr id="33" name="Shape 30"/>
          <p:cNvSpPr/>
          <p:nvPr/>
        </p:nvSpPr>
        <p:spPr>
          <a:xfrm>
            <a:off x="10713720" y="5532120"/>
            <a:ext cx="577596" cy="329184"/>
          </a:xfrm>
          <a:prstGeom prst="chevron">
            <a:avLst/>
          </a:prstGeom>
          <a:solidFill>
            <a:srgbClr val="EEF3FC"/>
          </a:solidFill>
          <a:ln w="9525">
            <a:solidFill>
              <a:srgbClr val="FFFFFF"/>
            </a:solidFill>
            <a:prstDash val="solid"/>
          </a:ln>
        </p:spPr>
      </p:sp>
      <p:sp>
        <p:nvSpPr>
          <p:cNvPr id="34" name="Shape 31"/>
          <p:cNvSpPr/>
          <p:nvPr/>
        </p:nvSpPr>
        <p:spPr>
          <a:xfrm>
            <a:off x="11126724" y="5532120"/>
            <a:ext cx="577596" cy="329184"/>
          </a:xfrm>
          <a:prstGeom prst="chevron">
            <a:avLst/>
          </a:prstGeom>
          <a:solidFill>
            <a:srgbClr val="FFC400"/>
          </a:solidFill>
          <a:ln w="9525">
            <a:solidFill>
              <a:srgbClr val="FFFFFF"/>
            </a:solidFill>
            <a:prstDash val="solid"/>
          </a:ln>
        </p:spPr>
      </p:sp>
      <p:sp>
        <p:nvSpPr>
          <p:cNvPr id="35" name="Text 32"/>
          <p:cNvSpPr txBox="1"/>
          <p:nvPr/>
        </p:nvSpPr>
        <p:spPr>
          <a:xfrm>
            <a:off x="675741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Onboard</a:t>
            </a:r>
            <a:endParaRPr lang="en-US" sz="550" dirty="0"/>
          </a:p>
        </p:txBody>
      </p:sp>
      <p:sp>
        <p:nvSpPr>
          <p:cNvPr id="36" name="Text 33"/>
          <p:cNvSpPr txBox="1"/>
          <p:nvPr/>
        </p:nvSpPr>
        <p:spPr>
          <a:xfrm>
            <a:off x="717042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Quote</a:t>
            </a:r>
            <a:endParaRPr lang="en-US" sz="550" dirty="0"/>
          </a:p>
        </p:txBody>
      </p:sp>
      <p:sp>
        <p:nvSpPr>
          <p:cNvPr id="37" name="Text 34"/>
          <p:cNvSpPr txBox="1"/>
          <p:nvPr/>
        </p:nvSpPr>
        <p:spPr>
          <a:xfrm>
            <a:off x="758342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Place</a:t>
            </a:r>
            <a:endParaRPr lang="en-US" sz="550" dirty="0"/>
          </a:p>
        </p:txBody>
      </p:sp>
      <p:sp>
        <p:nvSpPr>
          <p:cNvPr id="38" name="Text 35"/>
          <p:cNvSpPr txBox="1"/>
          <p:nvPr/>
        </p:nvSpPr>
        <p:spPr>
          <a:xfrm>
            <a:off x="799642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Book</a:t>
            </a:r>
            <a:endParaRPr lang="en-US" sz="550" dirty="0"/>
          </a:p>
        </p:txBody>
      </p:sp>
      <p:sp>
        <p:nvSpPr>
          <p:cNvPr id="39" name="Text 36"/>
          <p:cNvSpPr txBox="1"/>
          <p:nvPr/>
        </p:nvSpPr>
        <p:spPr>
          <a:xfrm>
            <a:off x="840943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Pay</a:t>
            </a:r>
            <a:endParaRPr lang="en-US" sz="550" dirty="0"/>
          </a:p>
        </p:txBody>
      </p:sp>
      <p:sp>
        <p:nvSpPr>
          <p:cNvPr id="40" name="Text 37"/>
          <p:cNvSpPr txBox="1"/>
          <p:nvPr/>
        </p:nvSpPr>
        <p:spPr>
          <a:xfrm>
            <a:off x="882243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Collect</a:t>
            </a:r>
            <a:endParaRPr lang="en-US" sz="550" dirty="0"/>
          </a:p>
        </p:txBody>
      </p:sp>
      <p:sp>
        <p:nvSpPr>
          <p:cNvPr id="41" name="Text 38"/>
          <p:cNvSpPr txBox="1"/>
          <p:nvPr/>
        </p:nvSpPr>
        <p:spPr>
          <a:xfrm>
            <a:off x="9235440"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Remit</a:t>
            </a:r>
            <a:endParaRPr lang="en-US" sz="550" dirty="0"/>
          </a:p>
        </p:txBody>
      </p:sp>
      <p:sp>
        <p:nvSpPr>
          <p:cNvPr id="42" name="Text 39"/>
          <p:cNvSpPr txBox="1"/>
          <p:nvPr/>
        </p:nvSpPr>
        <p:spPr>
          <a:xfrm>
            <a:off x="9648444"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Ledger</a:t>
            </a:r>
            <a:endParaRPr lang="en-US" sz="550" dirty="0"/>
          </a:p>
        </p:txBody>
      </p:sp>
      <p:sp>
        <p:nvSpPr>
          <p:cNvPr id="43" name="Text 40"/>
          <p:cNvSpPr txBox="1"/>
          <p:nvPr/>
        </p:nvSpPr>
        <p:spPr>
          <a:xfrm>
            <a:off x="10061448"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Adjust</a:t>
            </a:r>
            <a:endParaRPr lang="en-US" sz="550" dirty="0"/>
          </a:p>
        </p:txBody>
      </p:sp>
      <p:sp>
        <p:nvSpPr>
          <p:cNvPr id="44" name="Text 41"/>
          <p:cNvSpPr txBox="1"/>
          <p:nvPr/>
        </p:nvSpPr>
        <p:spPr>
          <a:xfrm>
            <a:off x="10474452"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Claim</a:t>
            </a:r>
            <a:endParaRPr lang="en-US" sz="550" dirty="0"/>
          </a:p>
        </p:txBody>
      </p:sp>
      <p:sp>
        <p:nvSpPr>
          <p:cNvPr id="45" name="Text 42"/>
          <p:cNvSpPr txBox="1"/>
          <p:nvPr/>
        </p:nvSpPr>
        <p:spPr>
          <a:xfrm>
            <a:off x="10887456" y="5532120"/>
            <a:ext cx="248412" cy="329184"/>
          </a:xfrm>
          <a:prstGeom prst="rect">
            <a:avLst/>
          </a:prstGeom>
          <a:noFill/>
          <a:ln/>
        </p:spPr>
        <p:txBody>
          <a:bodyPr wrap="none" lIns="0" tIns="0" rIns="0" bIns="0" rtlCol="0" anchor="ctr"/>
          <a:lstStyle/>
          <a:p>
            <a:pPr algn="ctr" indent="0" marL="0">
              <a:buNone/>
            </a:pPr>
            <a:r>
              <a:rPr lang="en-US" sz="550" dirty="0">
                <a:solidFill>
                  <a:srgbClr val="5B6478"/>
                </a:solidFill>
                <a:latin typeface="Calibri" pitchFamily="34" charset="0"/>
                <a:ea typeface="Calibri" pitchFamily="34" charset="-122"/>
                <a:cs typeface="Calibri" pitchFamily="34" charset="-120"/>
              </a:rPr>
              <a:t>Service</a:t>
            </a:r>
            <a:endParaRPr lang="en-US" sz="550" dirty="0"/>
          </a:p>
        </p:txBody>
      </p:sp>
      <p:sp>
        <p:nvSpPr>
          <p:cNvPr id="46" name="Text 43"/>
          <p:cNvSpPr txBox="1"/>
          <p:nvPr/>
        </p:nvSpPr>
        <p:spPr>
          <a:xfrm>
            <a:off x="11300460" y="5532120"/>
            <a:ext cx="248412" cy="329184"/>
          </a:xfrm>
          <a:prstGeom prst="rect">
            <a:avLst/>
          </a:prstGeom>
          <a:noFill/>
          <a:ln/>
        </p:spPr>
        <p:txBody>
          <a:bodyPr wrap="none" lIns="0" tIns="0" rIns="0" bIns="0" rtlCol="0" anchor="ctr"/>
          <a:lstStyle/>
          <a:p>
            <a:pPr algn="ctr" indent="0" marL="0">
              <a:buNone/>
            </a:pPr>
            <a:r>
              <a:rPr lang="en-US" sz="550" b="1" dirty="0">
                <a:solidFill>
                  <a:srgbClr val="002B7F"/>
                </a:solidFill>
                <a:latin typeface="Calibri" pitchFamily="34" charset="0"/>
                <a:ea typeface="Calibri" pitchFamily="34" charset="-122"/>
                <a:cs typeface="Calibri" pitchFamily="34" charset="-120"/>
              </a:rPr>
              <a:t>Renew</a:t>
            </a:r>
            <a:endParaRPr lang="en-US" sz="550" dirty="0"/>
          </a:p>
        </p:txBody>
      </p:sp>
      <p:sp>
        <p:nvSpPr>
          <p:cNvPr id="48" name="Text 4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49" name="Text 4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Satellite processes and where they plug in</a:t>
            </a:r>
            <a:endParaRPr lang="en-US" sz="3000" dirty="0"/>
          </a:p>
        </p:txBody>
      </p:sp>
      <p:sp>
        <p:nvSpPr>
          <p:cNvPr id="3" name="Text 1"/>
          <p:cNvSpPr txBox="1"/>
          <p:nvPr/>
        </p:nvSpPr>
        <p:spPr>
          <a:xfrm>
            <a:off x="457200" y="1005840"/>
            <a:ext cx="11247120" cy="457200"/>
          </a:xfrm>
          <a:prstGeom prst="rect">
            <a:avLst/>
          </a:prstGeom>
          <a:noFill/>
          <a:ln/>
        </p:spPr>
        <p:txBody>
          <a:bodyPr wrap="square" lIns="0" tIns="0" rIns="0" bIns="0" rtlCol="0" anchor="ctr">
            <a:normAutofit/>
          </a:bodyPr>
          <a:lstStyle/>
          <a:p>
            <a:pPr indent="0" marL="0">
              <a:buNone/>
            </a:pPr>
            <a:r>
              <a:rPr lang="en-US" sz="1300" dirty="0">
                <a:solidFill>
                  <a:srgbClr val="5B6478"/>
                </a:solidFill>
                <a:latin typeface="Calibri" pitchFamily="34" charset="0"/>
                <a:ea typeface="Calibri" pitchFamily="34" charset="-122"/>
                <a:cs typeface="Calibri" pitchFamily="34" charset="-120"/>
              </a:rPr>
              <a:t>Four flows run beside the main chain and feed it at specific stages.</a:t>
            </a:r>
            <a:endParaRPr lang="en-US" sz="1300" dirty="0"/>
          </a:p>
        </p:txBody>
      </p:sp>
      <p:sp>
        <p:nvSpPr>
          <p:cNvPr id="4" name="Shape 2"/>
          <p:cNvSpPr/>
          <p:nvPr/>
        </p:nvSpPr>
        <p:spPr>
          <a:xfrm>
            <a:off x="457200" y="1600200"/>
            <a:ext cx="5440680" cy="2194560"/>
          </a:xfrm>
          <a:prstGeom prst="roundRect">
            <a:avLst>
              <a:gd name="adj" fmla="val 4167"/>
            </a:avLst>
          </a:prstGeom>
          <a:solidFill>
            <a:srgbClr val="F5F7FB"/>
          </a:solidFill>
          <a:ln w="12700">
            <a:solidFill>
              <a:srgbClr val="D9DFEA"/>
            </a:solidFill>
            <a:prstDash val="solid"/>
          </a:ln>
        </p:spPr>
      </p:sp>
      <p:sp>
        <p:nvSpPr>
          <p:cNvPr id="5" name="Text 3"/>
          <p:cNvSpPr txBox="1"/>
          <p:nvPr/>
        </p:nvSpPr>
        <p:spPr>
          <a:xfrm>
            <a:off x="640080" y="1709928"/>
            <a:ext cx="3200400" cy="320040"/>
          </a:xfrm>
          <a:prstGeom prst="rect">
            <a:avLst/>
          </a:prstGeom>
          <a:noFill/>
          <a:ln/>
        </p:spPr>
        <p:txBody>
          <a:bodyPr wrap="square" lIns="0" tIns="0" rIns="0" bIns="0" rtlCol="0" anchor="ctr"/>
          <a:lstStyle/>
          <a:p>
            <a:pPr indent="0" marL="0">
              <a:buNone/>
            </a:pPr>
            <a:r>
              <a:rPr lang="en-US" sz="1350" b="1" dirty="0">
                <a:solidFill>
                  <a:srgbClr val="002B7F"/>
                </a:solidFill>
                <a:latin typeface="Calibri" pitchFamily="34" charset="0"/>
                <a:ea typeface="Calibri" pitchFamily="34" charset="-122"/>
                <a:cs typeface="Calibri" pitchFamily="34" charset="-120"/>
              </a:rPr>
              <a:t>Facultative reinsurance</a:t>
            </a:r>
            <a:endParaRPr lang="en-US" sz="1350" dirty="0"/>
          </a:p>
        </p:txBody>
      </p:sp>
      <p:sp>
        <p:nvSpPr>
          <p:cNvPr id="6" name="Text 4"/>
          <p:cNvSpPr txBox="1"/>
          <p:nvPr/>
        </p:nvSpPr>
        <p:spPr>
          <a:xfrm>
            <a:off x="640080" y="2057400"/>
            <a:ext cx="3200400" cy="1645920"/>
          </a:xfrm>
          <a:prstGeom prst="rect">
            <a:avLst/>
          </a:prstGeom>
          <a:noFill/>
          <a:ln/>
        </p:spPr>
        <p:txBody>
          <a:bodyPr wrap="square" lIns="0" tIns="0" rIns="0" bIns="0" rtlCol="0" anchor="t">
            <a:normAutofit/>
          </a:bodyPr>
          <a:lstStyle/>
          <a:p>
            <a:pPr indent="0" marL="0">
              <a:buNone/>
            </a:pPr>
            <a:r>
              <a:rPr lang="en-US" sz="950" dirty="0">
                <a:solidFill>
                  <a:srgbClr val="14213D"/>
                </a:solidFill>
                <a:latin typeface="Calibri" pitchFamily="34" charset="0"/>
                <a:ea typeface="Calibri" pitchFamily="34" charset="-122"/>
                <a:cs typeface="Calibri" pitchFamily="34" charset="-120"/>
              </a:rPr>
              <a:t>Feeds stage 2–3 for large or special risks referred by TSU: request → acknowledge (24 h) → underwriting information loop → slip with reinsurers, security rating and signed-slip evidence (3 working days) → closing and debit note to the cedant. RI commission is monitored with the Commission Receivable Unit.</a:t>
            </a:r>
            <a:endParaRPr lang="en-US" sz="950" dirty="0"/>
          </a:p>
        </p:txBody>
      </p:sp>
      <p:pic>
        <p:nvPicPr>
          <p:cNvPr id="7" name="Image 0" descr="/home/user/Brokerverse/docs/bdoi-operating-model/img/13-reinsurance-04.jpg">    </p:cNvPr>
          <p:cNvPicPr>
            <a:picLocks noChangeAspect="1"/>
          </p:cNvPicPr>
          <p:nvPr/>
        </p:nvPicPr>
        <p:blipFill>
          <a:blip r:embed="rId1"/>
          <a:stretch>
            <a:fillRect/>
          </a:stretch>
        </p:blipFill>
        <p:spPr>
          <a:xfrm>
            <a:off x="3977640" y="1783080"/>
            <a:ext cx="1783080" cy="1115568"/>
          </a:xfrm>
          <a:prstGeom prst="rect">
            <a:avLst/>
          </a:prstGeom>
        </p:spPr>
      </p:pic>
      <p:sp>
        <p:nvSpPr>
          <p:cNvPr id="8" name="Text 5"/>
          <p:cNvSpPr txBox="1"/>
          <p:nvPr/>
        </p:nvSpPr>
        <p:spPr>
          <a:xfrm>
            <a:off x="3977640" y="2971800"/>
            <a:ext cx="1783080" cy="731520"/>
          </a:xfrm>
          <a:prstGeom prst="rect">
            <a:avLst/>
          </a:prstGeom>
          <a:noFill/>
          <a:ln/>
        </p:spPr>
        <p:txBody>
          <a:bodyPr wrap="square" lIns="0" tIns="0" rIns="0" bIns="0" rtlCol="0" anchor="t">
            <a:normAutofit/>
          </a:bodyPr>
          <a:lstStyle/>
          <a:p>
            <a:pPr indent="0" marL="0">
              <a:buNone/>
            </a:pPr>
            <a:r>
              <a:rPr lang="en-US" sz="850" dirty="0">
                <a:solidFill>
                  <a:srgbClr val="5B6478"/>
                </a:solidFill>
                <a:latin typeface="Calibri" pitchFamily="34" charset="0"/>
                <a:ea typeface="Calibri" pitchFamily="34" charset="-122"/>
                <a:cs typeface="Calibri" pitchFamily="34" charset="-120"/>
              </a:rPr>
              <a:t>RENISURANCE</a:t>
            </a:r>
            <a:endParaRPr lang="en-US" sz="850" dirty="0"/>
          </a:p>
        </p:txBody>
      </p:sp>
      <p:sp>
        <p:nvSpPr>
          <p:cNvPr id="9" name="Shape 6"/>
          <p:cNvSpPr/>
          <p:nvPr/>
        </p:nvSpPr>
        <p:spPr>
          <a:xfrm>
            <a:off x="6217920" y="1600200"/>
            <a:ext cx="5440680" cy="2194560"/>
          </a:xfrm>
          <a:prstGeom prst="roundRect">
            <a:avLst>
              <a:gd name="adj" fmla="val 4167"/>
            </a:avLst>
          </a:prstGeom>
          <a:solidFill>
            <a:srgbClr val="F5F7FB"/>
          </a:solidFill>
          <a:ln w="12700">
            <a:solidFill>
              <a:srgbClr val="D9DFEA"/>
            </a:solidFill>
            <a:prstDash val="solid"/>
          </a:ln>
        </p:spPr>
      </p:sp>
      <p:sp>
        <p:nvSpPr>
          <p:cNvPr id="10" name="Text 7"/>
          <p:cNvSpPr txBox="1"/>
          <p:nvPr/>
        </p:nvSpPr>
        <p:spPr>
          <a:xfrm>
            <a:off x="6400800" y="1709928"/>
            <a:ext cx="3200400" cy="320040"/>
          </a:xfrm>
          <a:prstGeom prst="rect">
            <a:avLst/>
          </a:prstGeom>
          <a:noFill/>
          <a:ln/>
        </p:spPr>
        <p:txBody>
          <a:bodyPr wrap="square" lIns="0" tIns="0" rIns="0" bIns="0" rtlCol="0" anchor="ctr"/>
          <a:lstStyle/>
          <a:p>
            <a:pPr indent="0" marL="0">
              <a:buNone/>
            </a:pPr>
            <a:r>
              <a:rPr lang="en-US" sz="1350" b="1" dirty="0">
                <a:solidFill>
                  <a:srgbClr val="002B7F"/>
                </a:solidFill>
                <a:latin typeface="Calibri" pitchFamily="34" charset="0"/>
                <a:ea typeface="Calibri" pitchFamily="34" charset="-122"/>
                <a:cs typeface="Calibri" pitchFamily="34" charset="-120"/>
              </a:rPr>
              <a:t>Employee benefits</a:t>
            </a:r>
            <a:endParaRPr lang="en-US" sz="1350" dirty="0"/>
          </a:p>
        </p:txBody>
      </p:sp>
      <p:sp>
        <p:nvSpPr>
          <p:cNvPr id="11" name="Text 8"/>
          <p:cNvSpPr txBox="1"/>
          <p:nvPr/>
        </p:nvSpPr>
        <p:spPr>
          <a:xfrm>
            <a:off x="6400800" y="2057400"/>
            <a:ext cx="3200400" cy="1645920"/>
          </a:xfrm>
          <a:prstGeom prst="rect">
            <a:avLst/>
          </a:prstGeom>
          <a:noFill/>
          <a:ln/>
        </p:spPr>
        <p:txBody>
          <a:bodyPr wrap="square" lIns="0" tIns="0" rIns="0" bIns="0" rtlCol="0" anchor="t">
            <a:normAutofit/>
          </a:bodyPr>
          <a:lstStyle/>
          <a:p>
            <a:pPr indent="0" marL="0">
              <a:buNone/>
            </a:pPr>
            <a:r>
              <a:rPr lang="en-US" sz="950" dirty="0">
                <a:solidFill>
                  <a:srgbClr val="14213D"/>
                </a:solidFill>
                <a:latin typeface="Calibri" pitchFamily="34" charset="0"/>
                <a:ea typeface="Calibri" pitchFamily="34" charset="-122"/>
                <a:cs typeface="Calibri" pitchFamily="34" charset="-120"/>
              </a:rPr>
              <a:t>A parallel new-business and renewal track for group schemes: renewal advice → Broker of Record → Terms of Reference with master list and utilisation released to insurers → comparative analysis (premium, benefits, capabilities) → client confirmation and award, with ISACOM approval for a non-accredited provider → handoff to processing and collections (stages 4–6).</a:t>
            </a:r>
            <a:endParaRPr lang="en-US" sz="950" dirty="0"/>
          </a:p>
        </p:txBody>
      </p:sp>
      <p:pic>
        <p:nvPicPr>
          <p:cNvPr id="12" name="Image 1" descr="/home/user/Brokerverse/docs/bdoi-operating-model/img/15-employee-benefits-04.jpg">    </p:cNvPr>
          <p:cNvPicPr>
            <a:picLocks noChangeAspect="1"/>
          </p:cNvPicPr>
          <p:nvPr/>
        </p:nvPicPr>
        <p:blipFill>
          <a:blip r:embed="rId2"/>
          <a:stretch>
            <a:fillRect/>
          </a:stretch>
        </p:blipFill>
        <p:spPr>
          <a:xfrm>
            <a:off x="9738360" y="1783080"/>
            <a:ext cx="1783080" cy="1115568"/>
          </a:xfrm>
          <a:prstGeom prst="rect">
            <a:avLst/>
          </a:prstGeom>
        </p:spPr>
      </p:pic>
      <p:sp>
        <p:nvSpPr>
          <p:cNvPr id="13" name="Text 9"/>
          <p:cNvSpPr txBox="1"/>
          <p:nvPr/>
        </p:nvSpPr>
        <p:spPr>
          <a:xfrm>
            <a:off x="9738360" y="2971800"/>
            <a:ext cx="1783080" cy="731520"/>
          </a:xfrm>
          <a:prstGeom prst="rect">
            <a:avLst/>
          </a:prstGeom>
          <a:noFill/>
          <a:ln/>
        </p:spPr>
        <p:txBody>
          <a:bodyPr wrap="square" lIns="0" tIns="0" rIns="0" bIns="0" rtlCol="0" anchor="t">
            <a:normAutofit/>
          </a:bodyPr>
          <a:lstStyle/>
          <a:p>
            <a:pPr indent="0" marL="0">
              <a:buNone/>
            </a:pPr>
            <a:r>
              <a:rPr lang="en-US" sz="850" dirty="0">
                <a:solidFill>
                  <a:srgbClr val="5B6478"/>
                </a:solidFill>
                <a:latin typeface="Calibri" pitchFamily="34" charset="0"/>
                <a:ea typeface="Calibri" pitchFamily="34" charset="-122"/>
                <a:cs typeface="Calibri" pitchFamily="34" charset="-120"/>
              </a:rPr>
              <a:t>EMPLOYEE BENEFITS</a:t>
            </a:r>
            <a:endParaRPr lang="en-US" sz="850" dirty="0"/>
          </a:p>
        </p:txBody>
      </p:sp>
      <p:sp>
        <p:nvSpPr>
          <p:cNvPr id="14" name="Shape 10"/>
          <p:cNvSpPr/>
          <p:nvPr/>
        </p:nvSpPr>
        <p:spPr>
          <a:xfrm>
            <a:off x="457200" y="3977640"/>
            <a:ext cx="5440680" cy="2194560"/>
          </a:xfrm>
          <a:prstGeom prst="roundRect">
            <a:avLst>
              <a:gd name="adj" fmla="val 4167"/>
            </a:avLst>
          </a:prstGeom>
          <a:solidFill>
            <a:srgbClr val="F5F7FB"/>
          </a:solidFill>
          <a:ln w="12700">
            <a:solidFill>
              <a:srgbClr val="D9DFEA"/>
            </a:solidFill>
            <a:prstDash val="solid"/>
          </a:ln>
        </p:spPr>
      </p:sp>
      <p:sp>
        <p:nvSpPr>
          <p:cNvPr id="15" name="Text 11"/>
          <p:cNvSpPr txBox="1"/>
          <p:nvPr/>
        </p:nvSpPr>
        <p:spPr>
          <a:xfrm>
            <a:off x="640080" y="4087368"/>
            <a:ext cx="3200400" cy="320040"/>
          </a:xfrm>
          <a:prstGeom prst="rect">
            <a:avLst/>
          </a:prstGeom>
          <a:noFill/>
          <a:ln/>
        </p:spPr>
        <p:txBody>
          <a:bodyPr wrap="square" lIns="0" tIns="0" rIns="0" bIns="0" rtlCol="0" anchor="ctr"/>
          <a:lstStyle/>
          <a:p>
            <a:pPr indent="0" marL="0">
              <a:buNone/>
            </a:pPr>
            <a:r>
              <a:rPr lang="en-US" sz="1350" b="1" dirty="0">
                <a:solidFill>
                  <a:srgbClr val="002B7F"/>
                </a:solidFill>
                <a:latin typeface="Calibri" pitchFamily="34" charset="0"/>
                <a:ea typeface="Calibri" pitchFamily="34" charset="-122"/>
                <a:cs typeface="Calibri" pitchFamily="34" charset="-120"/>
              </a:rPr>
              <a:t>Submitted policies</a:t>
            </a:r>
            <a:endParaRPr lang="en-US" sz="1350" dirty="0"/>
          </a:p>
        </p:txBody>
      </p:sp>
      <p:sp>
        <p:nvSpPr>
          <p:cNvPr id="16" name="Text 12"/>
          <p:cNvSpPr txBox="1"/>
          <p:nvPr/>
        </p:nvSpPr>
        <p:spPr>
          <a:xfrm>
            <a:off x="640080" y="4434840"/>
            <a:ext cx="3200400" cy="1645920"/>
          </a:xfrm>
          <a:prstGeom prst="rect">
            <a:avLst/>
          </a:prstGeom>
          <a:noFill/>
          <a:ln/>
        </p:spPr>
        <p:txBody>
          <a:bodyPr wrap="square" lIns="0" tIns="0" rIns="0" bIns="0" rtlCol="0" anchor="t">
            <a:normAutofit/>
          </a:bodyPr>
          <a:lstStyle/>
          <a:p>
            <a:pPr indent="0" marL="0">
              <a:buNone/>
            </a:pPr>
            <a:r>
              <a:rPr lang="en-US" sz="950" dirty="0">
                <a:solidFill>
                  <a:srgbClr val="14213D"/>
                </a:solidFill>
                <a:latin typeface="Calibri" pitchFamily="34" charset="0"/>
                <a:ea typeface="Calibri" pitchFamily="34" charset="-122"/>
                <a:cs typeface="Calibri" pitchFamily="34" charset="-120"/>
              </a:rPr>
              <a:t>Policies the client bought elsewhere and submitted to the bank for its loan: masterlist validated, matched and consolidated; adequacy reviewed; findings issue an Insurance Adequacy Assessment Form; accounts 150 days from expiry go to the sanitation handler as renewal or conversion opportunities (stage 12).</a:t>
            </a:r>
            <a:endParaRPr lang="en-US" sz="950" dirty="0"/>
          </a:p>
        </p:txBody>
      </p:sp>
      <p:pic>
        <p:nvPicPr>
          <p:cNvPr id="17" name="Image 2" descr="/home/user/Brokerverse/docs/bdoi-operating-model/img/14-submitted-policies-03.jpg">    </p:cNvPr>
          <p:cNvPicPr>
            <a:picLocks noChangeAspect="1"/>
          </p:cNvPicPr>
          <p:nvPr/>
        </p:nvPicPr>
        <p:blipFill>
          <a:blip r:embed="rId3"/>
          <a:stretch>
            <a:fillRect/>
          </a:stretch>
        </p:blipFill>
        <p:spPr>
          <a:xfrm>
            <a:off x="3977640" y="4160520"/>
            <a:ext cx="1783080" cy="1115568"/>
          </a:xfrm>
          <a:prstGeom prst="rect">
            <a:avLst/>
          </a:prstGeom>
        </p:spPr>
      </p:pic>
      <p:sp>
        <p:nvSpPr>
          <p:cNvPr id="18" name="Text 13"/>
          <p:cNvSpPr txBox="1"/>
          <p:nvPr/>
        </p:nvSpPr>
        <p:spPr>
          <a:xfrm>
            <a:off x="3977640" y="5349240"/>
            <a:ext cx="1783080" cy="731520"/>
          </a:xfrm>
          <a:prstGeom prst="rect">
            <a:avLst/>
          </a:prstGeom>
          <a:noFill/>
          <a:ln/>
        </p:spPr>
        <p:txBody>
          <a:bodyPr wrap="square" lIns="0" tIns="0" rIns="0" bIns="0" rtlCol="0" anchor="t">
            <a:normAutofit/>
          </a:bodyPr>
          <a:lstStyle/>
          <a:p>
            <a:pPr indent="0" marL="0">
              <a:buNone/>
            </a:pPr>
            <a:r>
              <a:rPr lang="en-US" sz="850" dirty="0">
                <a:solidFill>
                  <a:srgbClr val="5B6478"/>
                </a:solidFill>
                <a:latin typeface="Calibri" pitchFamily="34" charset="0"/>
                <a:ea typeface="Calibri" pitchFamily="34" charset="-122"/>
                <a:cs typeface="Calibri" pitchFamily="34" charset="-120"/>
              </a:rPr>
              <a:t>Submitted Policies</a:t>
            </a:r>
            <a:endParaRPr lang="en-US" sz="850" dirty="0"/>
          </a:p>
        </p:txBody>
      </p:sp>
      <p:sp>
        <p:nvSpPr>
          <p:cNvPr id="19" name="Shape 14"/>
          <p:cNvSpPr/>
          <p:nvPr/>
        </p:nvSpPr>
        <p:spPr>
          <a:xfrm>
            <a:off x="6217920" y="3977640"/>
            <a:ext cx="5440680" cy="2194560"/>
          </a:xfrm>
          <a:prstGeom prst="roundRect">
            <a:avLst>
              <a:gd name="adj" fmla="val 4167"/>
            </a:avLst>
          </a:prstGeom>
          <a:solidFill>
            <a:srgbClr val="F5F7FB"/>
          </a:solidFill>
          <a:ln w="12700">
            <a:solidFill>
              <a:srgbClr val="D9DFEA"/>
            </a:solidFill>
            <a:prstDash val="solid"/>
          </a:ln>
        </p:spPr>
      </p:sp>
      <p:sp>
        <p:nvSpPr>
          <p:cNvPr id="20" name="Text 15"/>
          <p:cNvSpPr txBox="1"/>
          <p:nvPr/>
        </p:nvSpPr>
        <p:spPr>
          <a:xfrm>
            <a:off x="6400800" y="4087368"/>
            <a:ext cx="3200400" cy="320040"/>
          </a:xfrm>
          <a:prstGeom prst="rect">
            <a:avLst/>
          </a:prstGeom>
          <a:noFill/>
          <a:ln/>
        </p:spPr>
        <p:txBody>
          <a:bodyPr wrap="square" lIns="0" tIns="0" rIns="0" bIns="0" rtlCol="0" anchor="ctr"/>
          <a:lstStyle/>
          <a:p>
            <a:pPr indent="0" marL="0">
              <a:buNone/>
            </a:pPr>
            <a:r>
              <a:rPr lang="en-US" sz="1350" b="1" dirty="0">
                <a:solidFill>
                  <a:srgbClr val="002B7F"/>
                </a:solidFill>
                <a:latin typeface="Calibri" pitchFamily="34" charset="0"/>
                <a:ea typeface="Calibri" pitchFamily="34" charset="-122"/>
                <a:cs typeface="Calibri" pitchFamily="34" charset="-120"/>
              </a:rPr>
              <a:t>Product maintenance</a:t>
            </a:r>
            <a:endParaRPr lang="en-US" sz="1350" dirty="0"/>
          </a:p>
        </p:txBody>
      </p:sp>
      <p:sp>
        <p:nvSpPr>
          <p:cNvPr id="21" name="Text 16"/>
          <p:cNvSpPr txBox="1"/>
          <p:nvPr/>
        </p:nvSpPr>
        <p:spPr>
          <a:xfrm>
            <a:off x="6400800" y="4434840"/>
            <a:ext cx="3200400" cy="1645920"/>
          </a:xfrm>
          <a:prstGeom prst="rect">
            <a:avLst/>
          </a:prstGeom>
          <a:noFill/>
          <a:ln/>
        </p:spPr>
        <p:txBody>
          <a:bodyPr wrap="square" lIns="0" tIns="0" rIns="0" bIns="0" rtlCol="0" anchor="t">
            <a:normAutofit/>
          </a:bodyPr>
          <a:lstStyle/>
          <a:p>
            <a:pPr indent="0" marL="0">
              <a:buNone/>
            </a:pPr>
            <a:r>
              <a:rPr lang="en-US" sz="950" dirty="0">
                <a:solidFill>
                  <a:srgbClr val="14213D"/>
                </a:solidFill>
                <a:latin typeface="Calibri" pitchFamily="34" charset="0"/>
                <a:ea typeface="Calibri" pitchFamily="34" charset="-122"/>
                <a:cs typeface="Calibri" pitchFamily="34" charset="-120"/>
              </a:rPr>
              <a:t>Keeps stage 2 honest: package creation or change requests are validated, approved under maker-checker and published as a release advisory to Marketing, Operations and TSU; the insurer panel records accreditation (drives ISACOM) and SFTP enrolment (drives the placement channel).</a:t>
            </a:r>
            <a:endParaRPr lang="en-US" sz="950" dirty="0"/>
          </a:p>
        </p:txBody>
      </p:sp>
      <p:pic>
        <p:nvPicPr>
          <p:cNvPr id="22" name="Image 3" descr="/home/user/Brokerverse/docs/bdoi-operating-model/img/16-product-maintenance-tsu-08.jpg">    </p:cNvPr>
          <p:cNvPicPr>
            <a:picLocks noChangeAspect="1"/>
          </p:cNvPicPr>
          <p:nvPr/>
        </p:nvPicPr>
        <p:blipFill>
          <a:blip r:embed="rId4"/>
          <a:stretch>
            <a:fillRect/>
          </a:stretch>
        </p:blipFill>
        <p:spPr>
          <a:xfrm>
            <a:off x="9738360" y="4160520"/>
            <a:ext cx="1783080" cy="1115568"/>
          </a:xfrm>
          <a:prstGeom prst="rect">
            <a:avLst/>
          </a:prstGeom>
        </p:spPr>
      </p:pic>
      <p:sp>
        <p:nvSpPr>
          <p:cNvPr id="23" name="Text 17"/>
          <p:cNvSpPr txBox="1"/>
          <p:nvPr/>
        </p:nvSpPr>
        <p:spPr>
          <a:xfrm>
            <a:off x="9738360" y="5349240"/>
            <a:ext cx="1783080" cy="731520"/>
          </a:xfrm>
          <a:prstGeom prst="rect">
            <a:avLst/>
          </a:prstGeom>
          <a:noFill/>
          <a:ln/>
        </p:spPr>
        <p:txBody>
          <a:bodyPr wrap="square" lIns="0" tIns="0" rIns="0" bIns="0" rtlCol="0" anchor="t">
            <a:normAutofit/>
          </a:bodyPr>
          <a:lstStyle/>
          <a:p>
            <a:pPr indent="0" marL="0">
              <a:buNone/>
            </a:pPr>
            <a:r>
              <a:rPr lang="en-US" sz="850" dirty="0">
                <a:solidFill>
                  <a:srgbClr val="5B6478"/>
                </a:solidFill>
                <a:latin typeface="Calibri" pitchFamily="34" charset="0"/>
                <a:ea typeface="Calibri" pitchFamily="34" charset="-122"/>
                <a:cs typeface="Calibri" pitchFamily="34" charset="-120"/>
              </a:rPr>
              <a:t>PRODUCT MAINTENANCE TSU</a:t>
            </a:r>
            <a:endParaRPr lang="en-US" sz="850" dirty="0"/>
          </a:p>
        </p:txBody>
      </p:sp>
      <p:sp>
        <p:nvSpPr>
          <p:cNvPr id="24" name="Text 1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25" name="Text 1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Process hand-offs</a:t>
            </a:r>
            <a:endParaRPr lang="en-US" sz="3000" dirty="0"/>
          </a:p>
        </p:txBody>
      </p:sp>
      <p:sp>
        <p:nvSpPr>
          <p:cNvPr id="3" name="Text 1"/>
          <p:cNvSpPr txBox="1"/>
          <p:nvPr/>
        </p:nvSpPr>
        <p:spPr>
          <a:xfrm>
            <a:off x="457200" y="1005840"/>
            <a:ext cx="11247120" cy="457200"/>
          </a:xfrm>
          <a:prstGeom prst="rect">
            <a:avLst/>
          </a:prstGeom>
          <a:noFill/>
          <a:ln/>
        </p:spPr>
        <p:txBody>
          <a:bodyPr wrap="square" lIns="0" tIns="0" rIns="0" bIns="0" rtlCol="0" anchor="ctr">
            <a:normAutofit/>
          </a:bodyPr>
          <a:lstStyle/>
          <a:p>
            <a:pPr indent="0" marL="0">
              <a:buNone/>
            </a:pPr>
            <a:r>
              <a:rPr lang="en-US" sz="1300" dirty="0">
                <a:solidFill>
                  <a:srgbClr val="5B6478"/>
                </a:solidFill>
                <a:latin typeface="Calibri" pitchFamily="34" charset="0"/>
                <a:ea typeface="Calibri" pitchFamily="34" charset="-122"/>
                <a:cs typeface="Calibri" pitchFamily="34" charset="-120"/>
              </a:rPr>
              <a:t>Each hand-off is a document or a state that one process writes and the next one reads.</a:t>
            </a:r>
            <a:endParaRPr lang="en-US" sz="1300" dirty="0"/>
          </a:p>
        </p:txBody>
      </p:sp>
      <p:sp>
        <p:nvSpPr>
          <p:cNvPr id="4" name="Shape 2"/>
          <p:cNvSpPr/>
          <p:nvPr/>
        </p:nvSpPr>
        <p:spPr>
          <a:xfrm>
            <a:off x="457200" y="1600200"/>
            <a:ext cx="5440680" cy="1371600"/>
          </a:xfrm>
          <a:prstGeom prst="roundRect">
            <a:avLst>
              <a:gd name="adj" fmla="val 6667"/>
            </a:avLst>
          </a:prstGeom>
          <a:solidFill>
            <a:srgbClr val="F5F7FB"/>
          </a:solidFill>
          <a:ln w="12700">
            <a:solidFill>
              <a:srgbClr val="D9DFEA"/>
            </a:solidFill>
            <a:prstDash val="solid"/>
          </a:ln>
        </p:spPr>
      </p:sp>
      <p:sp>
        <p:nvSpPr>
          <p:cNvPr id="5" name="Shape 3"/>
          <p:cNvSpPr/>
          <p:nvPr/>
        </p:nvSpPr>
        <p:spPr>
          <a:xfrm>
            <a:off x="640080" y="1783080"/>
            <a:ext cx="411480" cy="274320"/>
          </a:xfrm>
          <a:prstGeom prst="rightArrow">
            <a:avLst/>
          </a:prstGeom>
          <a:solidFill>
            <a:srgbClr val="FFC400"/>
          </a:solidFill>
          <a:ln w="12700">
            <a:solidFill>
              <a:srgbClr val="FFC400"/>
            </a:solidFill>
            <a:prstDash val="solid"/>
          </a:ln>
        </p:spPr>
      </p:sp>
      <p:sp>
        <p:nvSpPr>
          <p:cNvPr id="6" name="Text 4"/>
          <p:cNvSpPr txBox="1"/>
          <p:nvPr/>
        </p:nvSpPr>
        <p:spPr>
          <a:xfrm>
            <a:off x="1188720" y="169164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Onboarding → Quotation</a:t>
            </a:r>
            <a:endParaRPr lang="en-US" sz="1250" dirty="0"/>
          </a:p>
        </p:txBody>
      </p:sp>
      <p:sp>
        <p:nvSpPr>
          <p:cNvPr id="7" name="Text 5"/>
          <p:cNvSpPr txBox="1"/>
          <p:nvPr/>
        </p:nvSpPr>
        <p:spPr>
          <a:xfrm>
            <a:off x="640080" y="219456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Only a screened client can be quoted; the client number carries into every later document.</a:t>
            </a:r>
            <a:endParaRPr lang="en-US" sz="1050" dirty="0"/>
          </a:p>
        </p:txBody>
      </p:sp>
      <p:sp>
        <p:nvSpPr>
          <p:cNvPr id="8" name="Shape 6"/>
          <p:cNvSpPr/>
          <p:nvPr/>
        </p:nvSpPr>
        <p:spPr>
          <a:xfrm>
            <a:off x="6217920" y="1600200"/>
            <a:ext cx="5440680" cy="1371600"/>
          </a:xfrm>
          <a:prstGeom prst="roundRect">
            <a:avLst>
              <a:gd name="adj" fmla="val 6667"/>
            </a:avLst>
          </a:prstGeom>
          <a:solidFill>
            <a:srgbClr val="F5F7FB"/>
          </a:solidFill>
          <a:ln w="12700">
            <a:solidFill>
              <a:srgbClr val="D9DFEA"/>
            </a:solidFill>
            <a:prstDash val="solid"/>
          </a:ln>
        </p:spPr>
      </p:sp>
      <p:sp>
        <p:nvSpPr>
          <p:cNvPr id="9" name="Shape 7"/>
          <p:cNvSpPr/>
          <p:nvPr/>
        </p:nvSpPr>
        <p:spPr>
          <a:xfrm>
            <a:off x="6400800" y="1783080"/>
            <a:ext cx="411480" cy="274320"/>
          </a:xfrm>
          <a:prstGeom prst="rightArrow">
            <a:avLst/>
          </a:prstGeom>
          <a:solidFill>
            <a:srgbClr val="FFC400"/>
          </a:solidFill>
          <a:ln w="12700">
            <a:solidFill>
              <a:srgbClr val="FFC400"/>
            </a:solidFill>
            <a:prstDash val="solid"/>
          </a:ln>
        </p:spPr>
      </p:sp>
      <p:sp>
        <p:nvSpPr>
          <p:cNvPr id="10" name="Text 8"/>
          <p:cNvSpPr txBox="1"/>
          <p:nvPr/>
        </p:nvSpPr>
        <p:spPr>
          <a:xfrm>
            <a:off x="6949440" y="169164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Quotation → TSU → Reinsurance</a:t>
            </a:r>
            <a:endParaRPr lang="en-US" sz="1250" dirty="0"/>
          </a:p>
        </p:txBody>
      </p:sp>
      <p:sp>
        <p:nvSpPr>
          <p:cNvPr id="11" name="Text 9"/>
          <p:cNvSpPr txBox="1"/>
          <p:nvPr/>
        </p:nvSpPr>
        <p:spPr>
          <a:xfrm>
            <a:off x="6400800" y="219456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Non-packaged risks leave New Business for a TSU quotation slip; large or special risks are referred to RI before quoting; the approved proposal slip returns to New Business.</a:t>
            </a:r>
            <a:endParaRPr lang="en-US" sz="1050" dirty="0"/>
          </a:p>
        </p:txBody>
      </p:sp>
      <p:sp>
        <p:nvSpPr>
          <p:cNvPr id="12" name="Shape 10"/>
          <p:cNvSpPr/>
          <p:nvPr/>
        </p:nvSpPr>
        <p:spPr>
          <a:xfrm>
            <a:off x="457200" y="3154680"/>
            <a:ext cx="5440680" cy="1371600"/>
          </a:xfrm>
          <a:prstGeom prst="roundRect">
            <a:avLst>
              <a:gd name="adj" fmla="val 6667"/>
            </a:avLst>
          </a:prstGeom>
          <a:solidFill>
            <a:srgbClr val="F5F7FB"/>
          </a:solidFill>
          <a:ln w="12700">
            <a:solidFill>
              <a:srgbClr val="D9DFEA"/>
            </a:solidFill>
            <a:prstDash val="solid"/>
          </a:ln>
        </p:spPr>
      </p:sp>
      <p:sp>
        <p:nvSpPr>
          <p:cNvPr id="13" name="Shape 11"/>
          <p:cNvSpPr/>
          <p:nvPr/>
        </p:nvSpPr>
        <p:spPr>
          <a:xfrm>
            <a:off x="640080" y="3337560"/>
            <a:ext cx="411480" cy="274320"/>
          </a:xfrm>
          <a:prstGeom prst="rightArrow">
            <a:avLst/>
          </a:prstGeom>
          <a:solidFill>
            <a:srgbClr val="FFC400"/>
          </a:solidFill>
          <a:ln w="12700">
            <a:solidFill>
              <a:srgbClr val="FFC400"/>
            </a:solidFill>
            <a:prstDash val="solid"/>
          </a:ln>
        </p:spPr>
      </p:sp>
      <p:sp>
        <p:nvSpPr>
          <p:cNvPr id="14" name="Text 12"/>
          <p:cNvSpPr txBox="1"/>
          <p:nvPr/>
        </p:nvSpPr>
        <p:spPr>
          <a:xfrm>
            <a:off x="1188720" y="324612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Placement → Booking → Cashiering</a:t>
            </a:r>
            <a:endParaRPr lang="en-US" sz="1250" dirty="0"/>
          </a:p>
        </p:txBody>
      </p:sp>
      <p:sp>
        <p:nvSpPr>
          <p:cNvPr id="15" name="Text 13"/>
          <p:cNvSpPr txBox="1"/>
          <p:nvPr/>
        </p:nvSpPr>
        <p:spPr>
          <a:xfrm>
            <a:off x="640080" y="374904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Placement creates the policy; the checker’s approval creates the invoice; cashiering works only from invoices.</a:t>
            </a:r>
            <a:endParaRPr lang="en-US" sz="1050" dirty="0"/>
          </a:p>
        </p:txBody>
      </p:sp>
      <p:sp>
        <p:nvSpPr>
          <p:cNvPr id="16" name="Shape 14"/>
          <p:cNvSpPr/>
          <p:nvPr/>
        </p:nvSpPr>
        <p:spPr>
          <a:xfrm>
            <a:off x="6217920" y="3154680"/>
            <a:ext cx="5440680" cy="1371600"/>
          </a:xfrm>
          <a:prstGeom prst="roundRect">
            <a:avLst>
              <a:gd name="adj" fmla="val 6667"/>
            </a:avLst>
          </a:prstGeom>
          <a:solidFill>
            <a:srgbClr val="F5F7FB"/>
          </a:solidFill>
          <a:ln w="12700">
            <a:solidFill>
              <a:srgbClr val="D9DFEA"/>
            </a:solidFill>
            <a:prstDash val="solid"/>
          </a:ln>
        </p:spPr>
      </p:sp>
      <p:sp>
        <p:nvSpPr>
          <p:cNvPr id="17" name="Shape 15"/>
          <p:cNvSpPr/>
          <p:nvPr/>
        </p:nvSpPr>
        <p:spPr>
          <a:xfrm>
            <a:off x="6400800" y="3337560"/>
            <a:ext cx="411480" cy="274320"/>
          </a:xfrm>
          <a:prstGeom prst="rightArrow">
            <a:avLst/>
          </a:prstGeom>
          <a:solidFill>
            <a:srgbClr val="FFC400"/>
          </a:solidFill>
          <a:ln w="12700">
            <a:solidFill>
              <a:srgbClr val="FFC400"/>
            </a:solidFill>
            <a:prstDash val="solid"/>
          </a:ln>
        </p:spPr>
      </p:sp>
      <p:sp>
        <p:nvSpPr>
          <p:cNvPr id="18" name="Text 16"/>
          <p:cNvSpPr txBox="1"/>
          <p:nvPr/>
        </p:nvSpPr>
        <p:spPr>
          <a:xfrm>
            <a:off x="6949440" y="324612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Cashiering → Collections</a:t>
            </a:r>
            <a:endParaRPr lang="en-US" sz="1250" dirty="0"/>
          </a:p>
        </p:txBody>
      </p:sp>
      <p:sp>
        <p:nvSpPr>
          <p:cNvPr id="19" name="Text 17"/>
          <p:cNvSpPr txBox="1"/>
          <p:nvPr/>
        </p:nvSpPr>
        <p:spPr>
          <a:xfrm>
            <a:off x="6400800" y="374904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Unpaid invoices become the PR list; applied payments leave it. Beyond-term commitments raise a CTE for the Finance Head.</a:t>
            </a:r>
            <a:endParaRPr lang="en-US" sz="1050" dirty="0"/>
          </a:p>
        </p:txBody>
      </p:sp>
      <p:sp>
        <p:nvSpPr>
          <p:cNvPr id="20" name="Shape 18"/>
          <p:cNvSpPr/>
          <p:nvPr/>
        </p:nvSpPr>
        <p:spPr>
          <a:xfrm>
            <a:off x="457200" y="4709160"/>
            <a:ext cx="5440680" cy="1371600"/>
          </a:xfrm>
          <a:prstGeom prst="roundRect">
            <a:avLst>
              <a:gd name="adj" fmla="val 6667"/>
            </a:avLst>
          </a:prstGeom>
          <a:solidFill>
            <a:srgbClr val="F5F7FB"/>
          </a:solidFill>
          <a:ln w="12700">
            <a:solidFill>
              <a:srgbClr val="D9DFEA"/>
            </a:solidFill>
            <a:prstDash val="solid"/>
          </a:ln>
        </p:spPr>
      </p:sp>
      <p:sp>
        <p:nvSpPr>
          <p:cNvPr id="21" name="Shape 19"/>
          <p:cNvSpPr/>
          <p:nvPr/>
        </p:nvSpPr>
        <p:spPr>
          <a:xfrm>
            <a:off x="640080" y="4892040"/>
            <a:ext cx="411480" cy="274320"/>
          </a:xfrm>
          <a:prstGeom prst="rightArrow">
            <a:avLst/>
          </a:prstGeom>
          <a:solidFill>
            <a:srgbClr val="FFC400"/>
          </a:solidFill>
          <a:ln w="12700">
            <a:solidFill>
              <a:srgbClr val="FFC400"/>
            </a:solidFill>
            <a:prstDash val="solid"/>
          </a:ln>
        </p:spPr>
      </p:sp>
      <p:sp>
        <p:nvSpPr>
          <p:cNvPr id="22" name="Text 20"/>
          <p:cNvSpPr txBox="1"/>
          <p:nvPr/>
        </p:nvSpPr>
        <p:spPr>
          <a:xfrm>
            <a:off x="1188720" y="480060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Cashiering → Remittance → Disbursement → Insurer</a:t>
            </a:r>
            <a:endParaRPr lang="en-US" sz="1250" dirty="0"/>
          </a:p>
        </p:txBody>
      </p:sp>
      <p:sp>
        <p:nvSpPr>
          <p:cNvPr id="23" name="Text 21"/>
          <p:cNvSpPr txBox="1"/>
          <p:nvPr/>
        </p:nvSpPr>
        <p:spPr>
          <a:xfrm>
            <a:off x="640080" y="530352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Applied premium is extracted weekly, sanitised and paid to insurers through the four-signature chain; direct-paid policies are excluded.</a:t>
            </a:r>
            <a:endParaRPr lang="en-US" sz="1050" dirty="0"/>
          </a:p>
        </p:txBody>
      </p:sp>
      <p:sp>
        <p:nvSpPr>
          <p:cNvPr id="24" name="Shape 22"/>
          <p:cNvSpPr/>
          <p:nvPr/>
        </p:nvSpPr>
        <p:spPr>
          <a:xfrm>
            <a:off x="6217920" y="4709160"/>
            <a:ext cx="5440680" cy="1371600"/>
          </a:xfrm>
          <a:prstGeom prst="roundRect">
            <a:avLst>
              <a:gd name="adj" fmla="val 6667"/>
            </a:avLst>
          </a:prstGeom>
          <a:solidFill>
            <a:srgbClr val="F5F7FB"/>
          </a:solidFill>
          <a:ln w="12700">
            <a:solidFill>
              <a:srgbClr val="D9DFEA"/>
            </a:solidFill>
            <a:prstDash val="solid"/>
          </a:ln>
        </p:spPr>
      </p:sp>
      <p:sp>
        <p:nvSpPr>
          <p:cNvPr id="25" name="Shape 23"/>
          <p:cNvSpPr/>
          <p:nvPr/>
        </p:nvSpPr>
        <p:spPr>
          <a:xfrm>
            <a:off x="6400800" y="4892040"/>
            <a:ext cx="411480" cy="274320"/>
          </a:xfrm>
          <a:prstGeom prst="rightArrow">
            <a:avLst/>
          </a:prstGeom>
          <a:solidFill>
            <a:srgbClr val="FFC400"/>
          </a:solidFill>
          <a:ln w="12700">
            <a:solidFill>
              <a:srgbClr val="FFC400"/>
            </a:solidFill>
            <a:prstDash val="solid"/>
          </a:ln>
        </p:spPr>
      </p:sp>
      <p:sp>
        <p:nvSpPr>
          <p:cNvPr id="26" name="Text 24"/>
          <p:cNvSpPr txBox="1"/>
          <p:nvPr/>
        </p:nvSpPr>
        <p:spPr>
          <a:xfrm>
            <a:off x="6949440" y="480060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Endorsement → Refund → Disbursement</a:t>
            </a:r>
            <a:endParaRPr lang="en-US" sz="1250" dirty="0"/>
          </a:p>
        </p:txBody>
      </p:sp>
      <p:sp>
        <p:nvSpPr>
          <p:cNvPr id="27" name="Text 25"/>
          <p:cNvSpPr txBox="1"/>
          <p:nvPr/>
        </p:nvSpPr>
        <p:spPr>
          <a:xfrm>
            <a:off x="6400800" y="530352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A cancellation or adjustment with a refund raises an RRF; TL review and Unit Head sign-off create the refund voucher.</a:t>
            </a:r>
            <a:endParaRPr lang="en-US" sz="1050" dirty="0"/>
          </a:p>
        </p:txBody>
      </p:sp>
      <p:sp>
        <p:nvSpPr>
          <p:cNvPr id="28" name="Text 26"/>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29" name="Text 27"/>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Process hand-offs (continued)</a:t>
            </a:r>
            <a:endParaRPr lang="en-US" sz="3000" dirty="0"/>
          </a:p>
        </p:txBody>
      </p:sp>
      <p:sp>
        <p:nvSpPr>
          <p:cNvPr id="3" name="Text 1"/>
          <p:cNvSpPr txBox="1"/>
          <p:nvPr/>
        </p:nvSpPr>
        <p:spPr>
          <a:xfrm>
            <a:off x="457200" y="1005840"/>
            <a:ext cx="11247120" cy="457200"/>
          </a:xfrm>
          <a:prstGeom prst="rect">
            <a:avLst/>
          </a:prstGeom>
          <a:noFill/>
          <a:ln/>
        </p:spPr>
        <p:txBody>
          <a:bodyPr wrap="square" lIns="0" tIns="0" rIns="0" bIns="0" rtlCol="0" anchor="ctr">
            <a:normAutofit/>
          </a:bodyPr>
          <a:lstStyle/>
          <a:p>
            <a:pPr indent="0" marL="0">
              <a:buNone/>
            </a:pPr>
            <a:r>
              <a:rPr lang="en-US" sz="1300" dirty="0">
                <a:solidFill>
                  <a:srgbClr val="5B6478"/>
                </a:solidFill>
                <a:latin typeface="Calibri" pitchFamily="34" charset="0"/>
                <a:ea typeface="Calibri" pitchFamily="34" charset="-122"/>
                <a:cs typeface="Calibri" pitchFamily="34" charset="-120"/>
              </a:rPr>
              <a:t>Each hand-off is a document or a state that one process writes and the next one reads.</a:t>
            </a:r>
            <a:endParaRPr lang="en-US" sz="1300" dirty="0"/>
          </a:p>
        </p:txBody>
      </p:sp>
      <p:sp>
        <p:nvSpPr>
          <p:cNvPr id="4" name="Shape 2"/>
          <p:cNvSpPr/>
          <p:nvPr/>
        </p:nvSpPr>
        <p:spPr>
          <a:xfrm>
            <a:off x="457200" y="1600200"/>
            <a:ext cx="5440680" cy="1371600"/>
          </a:xfrm>
          <a:prstGeom prst="roundRect">
            <a:avLst>
              <a:gd name="adj" fmla="val 6667"/>
            </a:avLst>
          </a:prstGeom>
          <a:solidFill>
            <a:srgbClr val="F5F7FB"/>
          </a:solidFill>
          <a:ln w="12700">
            <a:solidFill>
              <a:srgbClr val="D9DFEA"/>
            </a:solidFill>
            <a:prstDash val="solid"/>
          </a:ln>
        </p:spPr>
      </p:sp>
      <p:sp>
        <p:nvSpPr>
          <p:cNvPr id="5" name="Shape 3"/>
          <p:cNvSpPr/>
          <p:nvPr/>
        </p:nvSpPr>
        <p:spPr>
          <a:xfrm>
            <a:off x="640080" y="1783080"/>
            <a:ext cx="411480" cy="274320"/>
          </a:xfrm>
          <a:prstGeom prst="rightArrow">
            <a:avLst/>
          </a:prstGeom>
          <a:solidFill>
            <a:srgbClr val="FFC400"/>
          </a:solidFill>
          <a:ln w="12700">
            <a:solidFill>
              <a:srgbClr val="FFC400"/>
            </a:solidFill>
            <a:prstDash val="solid"/>
          </a:ln>
        </p:spPr>
      </p:sp>
      <p:sp>
        <p:nvSpPr>
          <p:cNvPr id="6" name="Text 4"/>
          <p:cNvSpPr txBox="1"/>
          <p:nvPr/>
        </p:nvSpPr>
        <p:spPr>
          <a:xfrm>
            <a:off x="1188720" y="169164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Everything → FRBS ledger</a:t>
            </a:r>
            <a:endParaRPr lang="en-US" sz="1250" dirty="0"/>
          </a:p>
        </p:txBody>
      </p:sp>
      <p:sp>
        <p:nvSpPr>
          <p:cNvPr id="7" name="Text 5"/>
          <p:cNvSpPr txBox="1"/>
          <p:nvPr/>
        </p:nvSpPr>
        <p:spPr>
          <a:xfrm>
            <a:off x="640080" y="219456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Booking, receipts, commissions, remittances, refunds and settlements post journals automatically; manual entries and ACSL adjustments post only after review and approval.</a:t>
            </a:r>
            <a:endParaRPr lang="en-US" sz="1050" dirty="0"/>
          </a:p>
        </p:txBody>
      </p:sp>
      <p:sp>
        <p:nvSpPr>
          <p:cNvPr id="8" name="Shape 6"/>
          <p:cNvSpPr/>
          <p:nvPr/>
        </p:nvSpPr>
        <p:spPr>
          <a:xfrm>
            <a:off x="6217920" y="1600200"/>
            <a:ext cx="5440680" cy="1371600"/>
          </a:xfrm>
          <a:prstGeom prst="roundRect">
            <a:avLst>
              <a:gd name="adj" fmla="val 6667"/>
            </a:avLst>
          </a:prstGeom>
          <a:solidFill>
            <a:srgbClr val="F5F7FB"/>
          </a:solidFill>
          <a:ln w="12700">
            <a:solidFill>
              <a:srgbClr val="D9DFEA"/>
            </a:solidFill>
            <a:prstDash val="solid"/>
          </a:ln>
        </p:spPr>
      </p:sp>
      <p:sp>
        <p:nvSpPr>
          <p:cNvPr id="9" name="Shape 7"/>
          <p:cNvSpPr/>
          <p:nvPr/>
        </p:nvSpPr>
        <p:spPr>
          <a:xfrm>
            <a:off x="6400800" y="1783080"/>
            <a:ext cx="411480" cy="274320"/>
          </a:xfrm>
          <a:prstGeom prst="rightArrow">
            <a:avLst/>
          </a:prstGeom>
          <a:solidFill>
            <a:srgbClr val="FFC400"/>
          </a:solidFill>
          <a:ln w="12700">
            <a:solidFill>
              <a:srgbClr val="FFC400"/>
            </a:solidFill>
            <a:prstDash val="solid"/>
          </a:ln>
        </p:spPr>
      </p:sp>
      <p:sp>
        <p:nvSpPr>
          <p:cNvPr id="10" name="Text 8"/>
          <p:cNvSpPr txBox="1"/>
          <p:nvPr/>
        </p:nvSpPr>
        <p:spPr>
          <a:xfrm>
            <a:off x="6949440" y="169164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Collections → Claims</a:t>
            </a:r>
            <a:endParaRPr lang="en-US" sz="1250" dirty="0"/>
          </a:p>
        </p:txBody>
      </p:sp>
      <p:sp>
        <p:nvSpPr>
          <p:cNvPr id="11" name="Text 9"/>
          <p:cNvSpPr txBox="1"/>
          <p:nvPr/>
        </p:nvSpPr>
        <p:spPr>
          <a:xfrm>
            <a:off x="6400800" y="219456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Claims Acceptance Control reads the invoice balance: an unpaid premium blocks registration.</a:t>
            </a:r>
            <a:endParaRPr lang="en-US" sz="1050" dirty="0"/>
          </a:p>
        </p:txBody>
      </p:sp>
      <p:sp>
        <p:nvSpPr>
          <p:cNvPr id="12" name="Shape 10"/>
          <p:cNvSpPr/>
          <p:nvPr/>
        </p:nvSpPr>
        <p:spPr>
          <a:xfrm>
            <a:off x="457200" y="3154680"/>
            <a:ext cx="5440680" cy="1371600"/>
          </a:xfrm>
          <a:prstGeom prst="roundRect">
            <a:avLst>
              <a:gd name="adj" fmla="val 6667"/>
            </a:avLst>
          </a:prstGeom>
          <a:solidFill>
            <a:srgbClr val="F5F7FB"/>
          </a:solidFill>
          <a:ln w="12700">
            <a:solidFill>
              <a:srgbClr val="D9DFEA"/>
            </a:solidFill>
            <a:prstDash val="solid"/>
          </a:ln>
        </p:spPr>
      </p:sp>
      <p:sp>
        <p:nvSpPr>
          <p:cNvPr id="13" name="Shape 11"/>
          <p:cNvSpPr/>
          <p:nvPr/>
        </p:nvSpPr>
        <p:spPr>
          <a:xfrm>
            <a:off x="640080" y="3337560"/>
            <a:ext cx="411480" cy="274320"/>
          </a:xfrm>
          <a:prstGeom prst="rightArrow">
            <a:avLst/>
          </a:prstGeom>
          <a:solidFill>
            <a:srgbClr val="FFC400"/>
          </a:solidFill>
          <a:ln w="12700">
            <a:solidFill>
              <a:srgbClr val="FFC400"/>
            </a:solidFill>
            <a:prstDash val="solid"/>
          </a:ln>
        </p:spPr>
      </p:sp>
      <p:sp>
        <p:nvSpPr>
          <p:cNvPr id="14" name="Text 12"/>
          <p:cNvSpPr txBox="1"/>
          <p:nvPr/>
        </p:nvSpPr>
        <p:spPr>
          <a:xfrm>
            <a:off x="1188720" y="324612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Booking → Renewal → Placement</a:t>
            </a:r>
            <a:endParaRPr lang="en-US" sz="1250" dirty="0"/>
          </a:p>
        </p:txBody>
      </p:sp>
      <p:sp>
        <p:nvSpPr>
          <p:cNvPr id="15" name="Text 13"/>
          <p:cNvSpPr txBox="1"/>
          <p:nvPr/>
        </p:nvSpPr>
        <p:spPr>
          <a:xfrm>
            <a:off x="640080" y="374904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In-force policies enter the RMEL 140 days before expiry; an accepted renewal re-enters placement and booking.</a:t>
            </a:r>
            <a:endParaRPr lang="en-US" sz="1050" dirty="0"/>
          </a:p>
        </p:txBody>
      </p:sp>
      <p:sp>
        <p:nvSpPr>
          <p:cNvPr id="16" name="Shape 14"/>
          <p:cNvSpPr/>
          <p:nvPr/>
        </p:nvSpPr>
        <p:spPr>
          <a:xfrm>
            <a:off x="6217920" y="3154680"/>
            <a:ext cx="5440680" cy="1371600"/>
          </a:xfrm>
          <a:prstGeom prst="roundRect">
            <a:avLst>
              <a:gd name="adj" fmla="val 6667"/>
            </a:avLst>
          </a:prstGeom>
          <a:solidFill>
            <a:srgbClr val="F5F7FB"/>
          </a:solidFill>
          <a:ln w="12700">
            <a:solidFill>
              <a:srgbClr val="D9DFEA"/>
            </a:solidFill>
            <a:prstDash val="solid"/>
          </a:ln>
        </p:spPr>
      </p:sp>
      <p:sp>
        <p:nvSpPr>
          <p:cNvPr id="17" name="Shape 15"/>
          <p:cNvSpPr/>
          <p:nvPr/>
        </p:nvSpPr>
        <p:spPr>
          <a:xfrm>
            <a:off x="6400800" y="3337560"/>
            <a:ext cx="411480" cy="274320"/>
          </a:xfrm>
          <a:prstGeom prst="rightArrow">
            <a:avLst/>
          </a:prstGeom>
          <a:solidFill>
            <a:srgbClr val="FFC400"/>
          </a:solidFill>
          <a:ln w="12700">
            <a:solidFill>
              <a:srgbClr val="FFC400"/>
            </a:solidFill>
            <a:prstDash val="solid"/>
          </a:ln>
        </p:spPr>
      </p:sp>
      <p:sp>
        <p:nvSpPr>
          <p:cNvPr id="18" name="Text 16"/>
          <p:cNvSpPr txBox="1"/>
          <p:nvPr/>
        </p:nvSpPr>
        <p:spPr>
          <a:xfrm>
            <a:off x="6949440" y="324612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Submitted policies → Renewal</a:t>
            </a:r>
            <a:endParaRPr lang="en-US" sz="1250" dirty="0"/>
          </a:p>
        </p:txBody>
      </p:sp>
      <p:sp>
        <p:nvSpPr>
          <p:cNvPr id="19" name="Text 17"/>
          <p:cNvSpPr txBox="1"/>
          <p:nvPr/>
        </p:nvSpPr>
        <p:spPr>
          <a:xfrm>
            <a:off x="6400800" y="374904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Adequacy-reviewed bank-submitted policies feed the sanitation handler 150 days before expiry.</a:t>
            </a:r>
            <a:endParaRPr lang="en-US" sz="1050" dirty="0"/>
          </a:p>
        </p:txBody>
      </p:sp>
      <p:sp>
        <p:nvSpPr>
          <p:cNvPr id="20" name="Shape 18"/>
          <p:cNvSpPr/>
          <p:nvPr/>
        </p:nvSpPr>
        <p:spPr>
          <a:xfrm>
            <a:off x="457200" y="4709160"/>
            <a:ext cx="5440680" cy="1371600"/>
          </a:xfrm>
          <a:prstGeom prst="roundRect">
            <a:avLst>
              <a:gd name="adj" fmla="val 6667"/>
            </a:avLst>
          </a:prstGeom>
          <a:solidFill>
            <a:srgbClr val="F5F7FB"/>
          </a:solidFill>
          <a:ln w="12700">
            <a:solidFill>
              <a:srgbClr val="D9DFEA"/>
            </a:solidFill>
            <a:prstDash val="solid"/>
          </a:ln>
        </p:spPr>
      </p:sp>
      <p:sp>
        <p:nvSpPr>
          <p:cNvPr id="21" name="Shape 19"/>
          <p:cNvSpPr/>
          <p:nvPr/>
        </p:nvSpPr>
        <p:spPr>
          <a:xfrm>
            <a:off x="640080" y="4892040"/>
            <a:ext cx="411480" cy="274320"/>
          </a:xfrm>
          <a:prstGeom prst="rightArrow">
            <a:avLst/>
          </a:prstGeom>
          <a:solidFill>
            <a:srgbClr val="FFC400"/>
          </a:solidFill>
          <a:ln w="12700">
            <a:solidFill>
              <a:srgbClr val="FFC400"/>
            </a:solidFill>
            <a:prstDash val="solid"/>
          </a:ln>
        </p:spPr>
      </p:sp>
      <p:sp>
        <p:nvSpPr>
          <p:cNvPr id="22" name="Text 20"/>
          <p:cNvSpPr txBox="1"/>
          <p:nvPr/>
        </p:nvSpPr>
        <p:spPr>
          <a:xfrm>
            <a:off x="1188720" y="480060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Contact centre → Fulfilment units</a:t>
            </a:r>
            <a:endParaRPr lang="en-US" sz="1250" dirty="0"/>
          </a:p>
        </p:txBody>
      </p:sp>
      <p:sp>
        <p:nvSpPr>
          <p:cNvPr id="23" name="Text 21"/>
          <p:cNvSpPr txBox="1"/>
          <p:nvPr/>
        </p:nvSpPr>
        <p:spPr>
          <a:xfrm>
            <a:off x="640080" y="530352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Account-related cases are routed to the unit that owns the account; returns go back to the CCC for re-logging.</a:t>
            </a:r>
            <a:endParaRPr lang="en-US" sz="1050" dirty="0"/>
          </a:p>
        </p:txBody>
      </p:sp>
      <p:sp>
        <p:nvSpPr>
          <p:cNvPr id="24" name="Shape 22"/>
          <p:cNvSpPr/>
          <p:nvPr/>
        </p:nvSpPr>
        <p:spPr>
          <a:xfrm>
            <a:off x="6217920" y="4709160"/>
            <a:ext cx="5440680" cy="1371600"/>
          </a:xfrm>
          <a:prstGeom prst="roundRect">
            <a:avLst>
              <a:gd name="adj" fmla="val 6667"/>
            </a:avLst>
          </a:prstGeom>
          <a:solidFill>
            <a:srgbClr val="F5F7FB"/>
          </a:solidFill>
          <a:ln w="12700">
            <a:solidFill>
              <a:srgbClr val="D9DFEA"/>
            </a:solidFill>
            <a:prstDash val="solid"/>
          </a:ln>
        </p:spPr>
      </p:sp>
      <p:sp>
        <p:nvSpPr>
          <p:cNvPr id="25" name="Shape 23"/>
          <p:cNvSpPr/>
          <p:nvPr/>
        </p:nvSpPr>
        <p:spPr>
          <a:xfrm>
            <a:off x="6400800" y="4892040"/>
            <a:ext cx="411480" cy="274320"/>
          </a:xfrm>
          <a:prstGeom prst="rightArrow">
            <a:avLst/>
          </a:prstGeom>
          <a:solidFill>
            <a:srgbClr val="FFC400"/>
          </a:solidFill>
          <a:ln w="12700">
            <a:solidFill>
              <a:srgbClr val="FFC400"/>
            </a:solidFill>
            <a:prstDash val="solid"/>
          </a:ln>
        </p:spPr>
      </p:sp>
      <p:sp>
        <p:nvSpPr>
          <p:cNvPr id="26" name="Text 24"/>
          <p:cNvSpPr txBox="1"/>
          <p:nvPr/>
        </p:nvSpPr>
        <p:spPr>
          <a:xfrm>
            <a:off x="6949440" y="4800600"/>
            <a:ext cx="4572000" cy="457200"/>
          </a:xfrm>
          <a:prstGeom prst="rect">
            <a:avLst/>
          </a:prstGeom>
          <a:noFill/>
          <a:ln/>
        </p:spPr>
        <p:txBody>
          <a:bodyPr wrap="square" lIns="0" tIns="0" rIns="0" bIns="0" rtlCol="0" anchor="ctr">
            <a:normAutofit/>
          </a:bodyPr>
          <a:lstStyle/>
          <a:p>
            <a:pPr indent="0" marL="0">
              <a:buNone/>
            </a:pPr>
            <a:r>
              <a:rPr lang="en-US" sz="1250" b="1" dirty="0">
                <a:solidFill>
                  <a:srgbClr val="002B7F"/>
                </a:solidFill>
                <a:latin typeface="Calibri" pitchFamily="34" charset="0"/>
                <a:ea typeface="Calibri" pitchFamily="34" charset="-122"/>
                <a:cs typeface="Calibri" pitchFamily="34" charset="-120"/>
              </a:rPr>
              <a:t>Product maintenance → New Business / TSU</a:t>
            </a:r>
            <a:endParaRPr lang="en-US" sz="1250" dirty="0"/>
          </a:p>
        </p:txBody>
      </p:sp>
      <p:sp>
        <p:nvSpPr>
          <p:cNvPr id="27" name="Text 25"/>
          <p:cNvSpPr txBox="1"/>
          <p:nvPr/>
        </p:nvSpPr>
        <p:spPr>
          <a:xfrm>
            <a:off x="6400800" y="5303520"/>
            <a:ext cx="5120640" cy="731520"/>
          </a:xfrm>
          <a:prstGeom prst="rect">
            <a:avLst/>
          </a:prstGeom>
          <a:noFill/>
          <a:ln/>
        </p:spPr>
        <p:txBody>
          <a:bodyPr wrap="square" lIns="0" tIns="0" rIns="0" bIns="0" rtlCol="0" anchor="t">
            <a:normAutofit/>
          </a:bodyPr>
          <a:lstStyle/>
          <a:p>
            <a:pPr indent="0" marL="0">
              <a:buNone/>
            </a:pPr>
            <a:r>
              <a:rPr lang="en-US" sz="1050" dirty="0">
                <a:solidFill>
                  <a:srgbClr val="14213D"/>
                </a:solidFill>
                <a:latin typeface="Calibri" pitchFamily="34" charset="0"/>
                <a:ea typeface="Calibri" pitchFamily="34" charset="-122"/>
                <a:cs typeface="Calibri" pitchFamily="34" charset="-120"/>
              </a:rPr>
              <a:t>Release advisories tell Marketing, Operations and TSU what changed in a package and from when.</a:t>
            </a:r>
            <a:endParaRPr lang="en-US" sz="1050" dirty="0"/>
          </a:p>
        </p:txBody>
      </p:sp>
      <p:sp>
        <p:nvSpPr>
          <p:cNvPr id="28" name="Text 26"/>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29" name="Text 27"/>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Controls: who makes, who checks</a:t>
            </a:r>
            <a:endParaRPr lang="en-US" sz="3000" dirty="0"/>
          </a:p>
        </p:txBody>
      </p:sp>
      <p:sp>
        <p:nvSpPr>
          <p:cNvPr id="3" name="Text 1"/>
          <p:cNvSpPr txBox="1"/>
          <p:nvPr/>
        </p:nvSpPr>
        <p:spPr>
          <a:xfrm>
            <a:off x="457200" y="1005840"/>
            <a:ext cx="11247120" cy="457200"/>
          </a:xfrm>
          <a:prstGeom prst="rect">
            <a:avLst/>
          </a:prstGeom>
          <a:noFill/>
          <a:ln/>
        </p:spPr>
        <p:txBody>
          <a:bodyPr wrap="square" lIns="0" tIns="0" rIns="0" bIns="0" rtlCol="0" anchor="ctr">
            <a:normAutofit/>
          </a:bodyPr>
          <a:lstStyle/>
          <a:p>
            <a:pPr indent="0" marL="0">
              <a:buNone/>
            </a:pPr>
            <a:r>
              <a:rPr lang="en-US" sz="1300" dirty="0">
                <a:solidFill>
                  <a:srgbClr val="5B6478"/>
                </a:solidFill>
                <a:latin typeface="Calibri" pitchFamily="34" charset="0"/>
                <a:ea typeface="Calibri" pitchFamily="34" charset="-122"/>
                <a:cs typeface="Calibri" pitchFamily="34" charset="-120"/>
              </a:rPr>
              <a:t>Every decision that changes cover or money is maker-checker with segregation of duties.</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2926080"/>
                <a:gridCol w="2468880"/>
                <a:gridCol w="3566160"/>
                <a:gridCol w="2286000"/>
              </a:tblGrid>
              <a:tr h="384048">
                <a:tc>
                  <a:txBody>
                    <a:bodyPr/>
                    <a:lstStyle/>
                    <a:p>
                      <a:pPr indent="0" marL="0">
                        <a:buNone/>
                      </a:pPr>
                      <a:r>
                        <a:rPr lang="en-US" sz="1000" b="1" dirty="0">
                          <a:solidFill>
                            <a:srgbClr val="5B6478"/>
                          </a:solidFill>
                          <a:latin typeface="Calibri" pitchFamily="34" charset="0"/>
                          <a:ea typeface="Calibri" pitchFamily="34" charset="-122"/>
                          <a:cs typeface="Calibri" pitchFamily="34" charset="-120"/>
                        </a:rPr>
                        <a:t>Decision</a:t>
                      </a:r>
                      <a:endParaRPr lang="en-US" sz="10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solidFill>
                      <a:srgbClr val="EEF3FC"/>
                    </a:solidFill>
                  </a:tcPr>
                </a:tc>
                <a:tc>
                  <a:txBody>
                    <a:bodyPr/>
                    <a:lstStyle/>
                    <a:p>
                      <a:pPr indent="0" marL="0">
                        <a:buNone/>
                      </a:pPr>
                      <a:r>
                        <a:rPr lang="en-US" sz="1000" b="1" dirty="0">
                          <a:solidFill>
                            <a:srgbClr val="5B6478"/>
                          </a:solidFill>
                          <a:latin typeface="Calibri" pitchFamily="34" charset="0"/>
                          <a:ea typeface="Calibri" pitchFamily="34" charset="-122"/>
                          <a:cs typeface="Calibri" pitchFamily="34" charset="-120"/>
                        </a:rPr>
                        <a:t>Maker</a:t>
                      </a:r>
                      <a:endParaRPr lang="en-US" sz="10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solidFill>
                      <a:srgbClr val="EEF3FC"/>
                    </a:solidFill>
                  </a:tcPr>
                </a:tc>
                <a:tc>
                  <a:txBody>
                    <a:bodyPr/>
                    <a:lstStyle/>
                    <a:p>
                      <a:pPr indent="0" marL="0">
                        <a:buNone/>
                      </a:pPr>
                      <a:r>
                        <a:rPr lang="en-US" sz="1000" b="1" dirty="0">
                          <a:solidFill>
                            <a:srgbClr val="5B6478"/>
                          </a:solidFill>
                          <a:latin typeface="Calibri" pitchFamily="34" charset="0"/>
                          <a:ea typeface="Calibri" pitchFamily="34" charset="-122"/>
                          <a:cs typeface="Calibri" pitchFamily="34" charset="-120"/>
                        </a:rPr>
                        <a:t>Checker / approver</a:t>
                      </a:r>
                      <a:endParaRPr lang="en-US" sz="10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solidFill>
                      <a:srgbClr val="EEF3FC"/>
                    </a:solidFill>
                  </a:tcPr>
                </a:tc>
                <a:tc>
                  <a:txBody>
                    <a:bodyPr/>
                    <a:lstStyle/>
                    <a:p>
                      <a:pPr indent="0" marL="0">
                        <a:buNone/>
                      </a:pPr>
                      <a:r>
                        <a:rPr lang="en-US" sz="1000" b="1" dirty="0">
                          <a:solidFill>
                            <a:srgbClr val="5B6478"/>
                          </a:solidFill>
                          <a:latin typeface="Calibri" pitchFamily="34" charset="0"/>
                          <a:ea typeface="Calibri" pitchFamily="34" charset="-122"/>
                          <a:cs typeface="Calibri" pitchFamily="34" charset="-120"/>
                        </a:rPr>
                        <a:t>Approval type</a:t>
                      </a:r>
                      <a:endParaRPr lang="en-US" sz="10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solidFill>
                      <a:srgbClr val="EEF3FC"/>
                    </a:solidFill>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Policy booking</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PO / MAO</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Underwriting Head</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policy_issue</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Product change</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Product admin</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Underwriting Head</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product_change</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Endorsement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Adjustment Team</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Operations checker-poster</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endorsement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Manual journal / ACSL adjustment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FRBS Accounting Assistant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FRBS TL then approver</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journal</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Disbursement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DPO</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DTL → DSH → DUH (Finance Head)</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disbursement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Credit-term extension</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Collection Handler</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Unit / Finance Head</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cte</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Claim settlement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Claim handler</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Approver</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claim_settlement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EB award to non-accredited insurer</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EB Officer</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ISACOM</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eb_award</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84048">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Refund request</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MAO</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Marketing TL review, Unit Head sign-off</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RRF</a:t>
                      </a:r>
                      <a:endParaRPr lang="en-US" sz="105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bl>
          </a:graphicData>
        </a:graphic>
      </p:graphicFrame>
      <p:sp>
        <p:nvSpPr>
          <p:cNvPr id="5" name="Text 2"/>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6" name="Text 3"/>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Clocks: the turnaround times the flows commit to</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5486400"/>
                <a:gridCol w="5760720"/>
              </a:tblGrid>
              <a:tr h="365760">
                <a:tc>
                  <a:txBody>
                    <a:bodyPr/>
                    <a:lstStyle/>
                    <a:p>
                      <a:pPr indent="0" marL="0">
                        <a:buNone/>
                      </a:pPr>
                      <a:r>
                        <a:rPr lang="en-US" sz="1000" b="1" dirty="0">
                          <a:solidFill>
                            <a:srgbClr val="5B6478"/>
                          </a:solidFill>
                          <a:latin typeface="Calibri" pitchFamily="34" charset="0"/>
                          <a:ea typeface="Calibri" pitchFamily="34" charset="-122"/>
                          <a:cs typeface="Calibri" pitchFamily="34" charset="-120"/>
                        </a:rPr>
                        <a:t>Clock</a:t>
                      </a:r>
                      <a:endParaRPr lang="en-US" sz="10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solidFill>
                      <a:srgbClr val="EEF3FC"/>
                    </a:solidFill>
                  </a:tcPr>
                </a:tc>
                <a:tc>
                  <a:txBody>
                    <a:bodyPr/>
                    <a:lstStyle/>
                    <a:p>
                      <a:pPr indent="0" marL="0">
                        <a:buNone/>
                      </a:pPr>
                      <a:r>
                        <a:rPr lang="en-US" sz="1000" b="1" dirty="0">
                          <a:solidFill>
                            <a:srgbClr val="5B6478"/>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solidFill>
                      <a:srgbClr val="EEF3FC"/>
                    </a:solidFill>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Facultative RI acknowledgement</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24 hours</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Facultative RI slip</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3 working days</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Cheque clearing hold</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4 days</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Collect newly booked</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10–15 days from booking</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Credit term</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60 days</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Remittance extract</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Weekly, Monday–Friday coverage</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RMEL window</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140 days before expiry</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Initial / final renewal advice</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−70 / −45 days</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Submitted policies to sanitation</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150 days before expiry</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Submitted policy hold cover</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30 days</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Contact-centre case TAT</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Hours per category</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r h="36576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Ledger close</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Monthly on an agreed date; year-end</a:t>
                      </a:r>
                      <a:endParaRPr lang="en-US" sz="1100" dirty="0">
                        <a:latin typeface="Calibri" charset="0"/>
                        <a:ea typeface="Calibri" charset="0"/>
                        <a:cs typeface="Calibri" charset="0"/>
                      </a:endParaRPr>
                    </a:p>
                  </a:txBody>
                  <a:tcPr marL="91440" marR="91440" marT="45720" marB="45720" anchor="ctr">
                    <a:lnL w="6350" cap="flat" cmpd="sng" algn="ctr">
                      <a:solidFill>
                        <a:srgbClr val="D9DFEA"/>
                      </a:solidFill>
                      <a:prstDash val="solid"/>
                      <a:round/>
                      <a:headEnd type="none" w="med" len="med"/>
                      <a:tailEnd type="none" w="med" len="med"/>
                    </a:lnL>
                    <a:lnR w="6350" cap="flat" cmpd="sng" algn="ctr">
                      <a:solidFill>
                        <a:srgbClr val="D9DFEA"/>
                      </a:solidFill>
                      <a:prstDash val="solid"/>
                      <a:round/>
                      <a:headEnd type="none" w="med" len="med"/>
                      <a:tailEnd type="none" w="med" len="med"/>
                    </a:lnR>
                    <a:lnT w="6350" cap="flat" cmpd="sng" algn="ctr">
                      <a:solidFill>
                        <a:srgbClr val="D9DFEA"/>
                      </a:solidFill>
                      <a:prstDash val="solid"/>
                      <a:round/>
                      <a:headEnd type="none" w="med" len="med"/>
                      <a:tailEnd type="none" w="med" len="med"/>
                    </a:lnT>
                    <a:lnB w="6350" cap="flat" cmpd="sng" algn="ctr">
                      <a:solidFill>
                        <a:srgbClr val="D9DFEA"/>
                      </a:solidFill>
                      <a:prstDash val="solid"/>
                      <a:round/>
                      <a:headEnd type="none" w="med" len="med"/>
                      <a:tailEnd type="none" w="med" len="med"/>
                    </a:lnB>
                  </a:tcPr>
                </a:tc>
              </a:tr>
            </a:tbl>
          </a:graphicData>
        </a:graphic>
      </p:graphicFrame>
      <p:sp>
        <p:nvSpPr>
          <p:cNvPr id="4" name="Text 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5" name="Text 2"/>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BDOI terms</a:t>
            </a:r>
            <a:endParaRPr lang="en-US" sz="3000" dirty="0"/>
          </a:p>
        </p:txBody>
      </p:sp>
      <p:sp>
        <p:nvSpPr>
          <p:cNvPr id="3" name="Text 1"/>
          <p:cNvSpPr txBox="1"/>
          <p:nvPr/>
        </p:nvSpPr>
        <p:spPr>
          <a:xfrm>
            <a:off x="457200" y="118872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MAO / MTL</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Marketing Account Officer / Team Leader</a:t>
            </a:r>
            <a:endParaRPr lang="en-US" sz="1100" dirty="0"/>
          </a:p>
        </p:txBody>
      </p:sp>
      <p:sp>
        <p:nvSpPr>
          <p:cNvPr id="4" name="Text 2"/>
          <p:cNvSpPr txBox="1"/>
          <p:nvPr/>
        </p:nvSpPr>
        <p:spPr>
          <a:xfrm>
            <a:off x="6217920" y="118872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PT / PO</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Processing Team / Processing Officer</a:t>
            </a:r>
            <a:endParaRPr lang="en-US" sz="1100" dirty="0"/>
          </a:p>
        </p:txBody>
      </p:sp>
      <p:sp>
        <p:nvSpPr>
          <p:cNvPr id="5" name="Text 3"/>
          <p:cNvSpPr txBox="1"/>
          <p:nvPr/>
        </p:nvSpPr>
        <p:spPr>
          <a:xfrm>
            <a:off x="457200" y="179222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AT</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Adjustment Team</a:t>
            </a:r>
            <a:endParaRPr lang="en-US" sz="1100" dirty="0"/>
          </a:p>
        </p:txBody>
      </p:sp>
      <p:sp>
        <p:nvSpPr>
          <p:cNvPr id="6" name="Text 4"/>
          <p:cNvSpPr txBox="1"/>
          <p:nvPr/>
        </p:nvSpPr>
        <p:spPr>
          <a:xfrm>
            <a:off x="6217920" y="179222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TSU</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Technical Services Unit (non-packaged quotations)</a:t>
            </a:r>
            <a:endParaRPr lang="en-US" sz="1100" dirty="0"/>
          </a:p>
        </p:txBody>
      </p:sp>
      <p:sp>
        <p:nvSpPr>
          <p:cNvPr id="7" name="Text 5"/>
          <p:cNvSpPr txBox="1"/>
          <p:nvPr/>
        </p:nvSpPr>
        <p:spPr>
          <a:xfrm>
            <a:off x="457200" y="239572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PRF</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Package Request Form</a:t>
            </a:r>
            <a:endParaRPr lang="en-US" sz="1100" dirty="0"/>
          </a:p>
        </p:txBody>
      </p:sp>
      <p:sp>
        <p:nvSpPr>
          <p:cNvPr id="8" name="Text 6"/>
          <p:cNvSpPr txBox="1"/>
          <p:nvPr/>
        </p:nvSpPr>
        <p:spPr>
          <a:xfrm>
            <a:off x="6217920" y="239572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QS / PS</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Quotation Slip / Proposal Slip</a:t>
            </a:r>
            <a:endParaRPr lang="en-US" sz="1100" dirty="0"/>
          </a:p>
        </p:txBody>
      </p:sp>
      <p:sp>
        <p:nvSpPr>
          <p:cNvPr id="9" name="Text 7"/>
          <p:cNvSpPr txBox="1"/>
          <p:nvPr/>
        </p:nvSpPr>
        <p:spPr>
          <a:xfrm>
            <a:off x="457200" y="2999232"/>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IDF</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Insurance Data Form (quotation template)</a:t>
            </a:r>
            <a:endParaRPr lang="en-US" sz="1100" dirty="0"/>
          </a:p>
        </p:txBody>
      </p:sp>
      <p:sp>
        <p:nvSpPr>
          <p:cNvPr id="10" name="Text 8"/>
          <p:cNvSpPr txBox="1"/>
          <p:nvPr/>
        </p:nvSpPr>
        <p:spPr>
          <a:xfrm>
            <a:off x="6217920" y="2999232"/>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COG-OPRM</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e-policy delivery channel via SFTP</a:t>
            </a:r>
            <a:endParaRPr lang="en-US" sz="1100" dirty="0"/>
          </a:p>
        </p:txBody>
      </p:sp>
      <p:sp>
        <p:nvSpPr>
          <p:cNvPr id="11" name="Text 9"/>
          <p:cNvSpPr txBox="1"/>
          <p:nvPr/>
        </p:nvSpPr>
        <p:spPr>
          <a:xfrm>
            <a:off x="457200" y="3602736"/>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CBG / CLPC</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Consumer Banking Group / consumer loan payment centre</a:t>
            </a:r>
            <a:endParaRPr lang="en-US" sz="1100" dirty="0"/>
          </a:p>
        </p:txBody>
      </p:sp>
      <p:sp>
        <p:nvSpPr>
          <p:cNvPr id="12" name="Text 10"/>
          <p:cNvSpPr txBox="1"/>
          <p:nvPr/>
        </p:nvSpPr>
        <p:spPr>
          <a:xfrm>
            <a:off x="6217920" y="3602736"/>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PR</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Premium receivable</a:t>
            </a:r>
            <a:endParaRPr lang="en-US" sz="1100" dirty="0"/>
          </a:p>
        </p:txBody>
      </p:sp>
      <p:sp>
        <p:nvSpPr>
          <p:cNvPr id="13" name="Text 11"/>
          <p:cNvSpPr txBox="1"/>
          <p:nvPr/>
        </p:nvSpPr>
        <p:spPr>
          <a:xfrm>
            <a:off x="457200" y="420624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PDC</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Post-dated cheque</a:t>
            </a:r>
            <a:endParaRPr lang="en-US" sz="1100" dirty="0"/>
          </a:p>
        </p:txBody>
      </p:sp>
      <p:sp>
        <p:nvSpPr>
          <p:cNvPr id="14" name="Text 12"/>
          <p:cNvSpPr txBox="1"/>
          <p:nvPr/>
        </p:nvSpPr>
        <p:spPr>
          <a:xfrm>
            <a:off x="6217920" y="420624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UPP</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Unapplied premium payment</a:t>
            </a:r>
            <a:endParaRPr lang="en-US" sz="1100" dirty="0"/>
          </a:p>
        </p:txBody>
      </p:sp>
      <p:sp>
        <p:nvSpPr>
          <p:cNvPr id="15" name="Text 13"/>
          <p:cNvSpPr txBox="1"/>
          <p:nvPr/>
        </p:nvSpPr>
        <p:spPr>
          <a:xfrm>
            <a:off x="457200" y="480974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OR</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Official receipt</a:t>
            </a:r>
            <a:endParaRPr lang="en-US" sz="1100" dirty="0"/>
          </a:p>
        </p:txBody>
      </p:sp>
      <p:sp>
        <p:nvSpPr>
          <p:cNvPr id="16" name="Text 14"/>
          <p:cNvSpPr txBox="1"/>
          <p:nvPr/>
        </p:nvSpPr>
        <p:spPr>
          <a:xfrm>
            <a:off x="6217920" y="480974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CTE</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Credit-term extension</a:t>
            </a:r>
            <a:endParaRPr lang="en-US" sz="1100" dirty="0"/>
          </a:p>
        </p:txBody>
      </p:sp>
      <p:sp>
        <p:nvSpPr>
          <p:cNvPr id="17" name="Text 15"/>
          <p:cNvSpPr txBox="1"/>
          <p:nvPr/>
        </p:nvSpPr>
        <p:spPr>
          <a:xfrm>
            <a:off x="457200" y="541324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SOA</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Statement of account</a:t>
            </a:r>
            <a:endParaRPr lang="en-US" sz="1100" dirty="0"/>
          </a:p>
        </p:txBody>
      </p:sp>
      <p:sp>
        <p:nvSpPr>
          <p:cNvPr id="18" name="Text 16"/>
          <p:cNvSpPr txBox="1"/>
          <p:nvPr/>
        </p:nvSpPr>
        <p:spPr>
          <a:xfrm>
            <a:off x="6217920" y="541324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DPO / DTL / DSH / DUH</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Disbursement Processor, Team Leader, Section Head, Unit Head</a:t>
            </a:r>
            <a:endParaRPr lang="en-US" sz="1100" dirty="0"/>
          </a:p>
        </p:txBody>
      </p:sp>
      <p:sp>
        <p:nvSpPr>
          <p:cNvPr id="19" name="Text 17"/>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20" name="Text 18"/>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indent="0" marL="0">
              <a:buNone/>
            </a:pPr>
            <a:r>
              <a:rPr lang="en-US" sz="3000" b="1" dirty="0">
                <a:solidFill>
                  <a:srgbClr val="002B7F"/>
                </a:solidFill>
                <a:latin typeface="Cambria" pitchFamily="34" charset="0"/>
                <a:ea typeface="Cambria" pitchFamily="34" charset="-122"/>
                <a:cs typeface="Cambria" pitchFamily="34" charset="-120"/>
              </a:rPr>
              <a:t>BDOI terms (continued)</a:t>
            </a:r>
            <a:endParaRPr lang="en-US" sz="3000" dirty="0"/>
          </a:p>
        </p:txBody>
      </p:sp>
      <p:sp>
        <p:nvSpPr>
          <p:cNvPr id="3" name="Text 1"/>
          <p:cNvSpPr txBox="1"/>
          <p:nvPr/>
        </p:nvSpPr>
        <p:spPr>
          <a:xfrm>
            <a:off x="457200" y="118872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FRBS</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Financial Reporting and Bookkeeping Services</a:t>
            </a:r>
            <a:endParaRPr lang="en-US" sz="1100" dirty="0"/>
          </a:p>
        </p:txBody>
      </p:sp>
      <p:sp>
        <p:nvSpPr>
          <p:cNvPr id="4" name="Text 2"/>
          <p:cNvSpPr txBox="1"/>
          <p:nvPr/>
        </p:nvSpPr>
        <p:spPr>
          <a:xfrm>
            <a:off x="6217920" y="118872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ACSL</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Accounting subsidiary ledger reconciliation with insurer statements</a:t>
            </a:r>
            <a:endParaRPr lang="en-US" sz="1100" dirty="0"/>
          </a:p>
        </p:txBody>
      </p:sp>
      <p:sp>
        <p:nvSpPr>
          <p:cNvPr id="5" name="Text 3"/>
          <p:cNvSpPr txBox="1"/>
          <p:nvPr/>
        </p:nvSpPr>
        <p:spPr>
          <a:xfrm>
            <a:off x="457200" y="179222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RRF</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Refund Request Form</a:t>
            </a:r>
            <a:endParaRPr lang="en-US" sz="1100" dirty="0"/>
          </a:p>
        </p:txBody>
      </p:sp>
      <p:sp>
        <p:nvSpPr>
          <p:cNvPr id="6" name="Text 4"/>
          <p:cNvSpPr txBox="1"/>
          <p:nvPr/>
        </p:nvSpPr>
        <p:spPr>
          <a:xfrm>
            <a:off x="6217920" y="179222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PLA / FLA</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Preliminary / Formal Loss Advice</a:t>
            </a:r>
            <a:endParaRPr lang="en-US" sz="1100" dirty="0"/>
          </a:p>
        </p:txBody>
      </p:sp>
      <p:sp>
        <p:nvSpPr>
          <p:cNvPr id="7" name="Text 5"/>
          <p:cNvSpPr txBox="1"/>
          <p:nvPr/>
        </p:nvSpPr>
        <p:spPr>
          <a:xfrm>
            <a:off x="457200" y="239572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CRF</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Claims Reporting Form (non-motor)</a:t>
            </a:r>
            <a:endParaRPr lang="en-US" sz="1100" dirty="0"/>
          </a:p>
        </p:txBody>
      </p:sp>
      <p:sp>
        <p:nvSpPr>
          <p:cNvPr id="8" name="Text 6"/>
          <p:cNvSpPr txBox="1"/>
          <p:nvPr/>
        </p:nvSpPr>
        <p:spPr>
          <a:xfrm>
            <a:off x="6217920" y="239572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LOA</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Letter of Authority to a casa / dealer for repair</a:t>
            </a:r>
            <a:endParaRPr lang="en-US" sz="1100" dirty="0"/>
          </a:p>
        </p:txBody>
      </p:sp>
      <p:sp>
        <p:nvSpPr>
          <p:cNvPr id="9" name="Text 7"/>
          <p:cNvSpPr txBox="1"/>
          <p:nvPr/>
        </p:nvSpPr>
        <p:spPr>
          <a:xfrm>
            <a:off x="457200" y="2999232"/>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CAC</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Claims Acceptance Control</a:t>
            </a:r>
            <a:endParaRPr lang="en-US" sz="1100" dirty="0"/>
          </a:p>
        </p:txBody>
      </p:sp>
      <p:sp>
        <p:nvSpPr>
          <p:cNvPr id="10" name="Text 8"/>
          <p:cNvSpPr txBox="1"/>
          <p:nvPr/>
        </p:nvSpPr>
        <p:spPr>
          <a:xfrm>
            <a:off x="6217920" y="2999232"/>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PID</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Positive identification of the caller</a:t>
            </a:r>
            <a:endParaRPr lang="en-US" sz="1100" dirty="0"/>
          </a:p>
        </p:txBody>
      </p:sp>
      <p:sp>
        <p:nvSpPr>
          <p:cNvPr id="11" name="Text 9"/>
          <p:cNvSpPr txBox="1"/>
          <p:nvPr/>
        </p:nvSpPr>
        <p:spPr>
          <a:xfrm>
            <a:off x="457200" y="3602736"/>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CCC / CLS</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Customer Contact Centre / case logging system</a:t>
            </a:r>
            <a:endParaRPr lang="en-US" sz="1100" dirty="0"/>
          </a:p>
        </p:txBody>
      </p:sp>
      <p:sp>
        <p:nvSpPr>
          <p:cNvPr id="12" name="Text 10"/>
          <p:cNvSpPr txBox="1"/>
          <p:nvPr/>
        </p:nvSpPr>
        <p:spPr>
          <a:xfrm>
            <a:off x="6217920" y="3602736"/>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RMEL</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Renewal Master Expiry List</a:t>
            </a:r>
            <a:endParaRPr lang="en-US" sz="1100" dirty="0"/>
          </a:p>
        </p:txBody>
      </p:sp>
      <p:sp>
        <p:nvSpPr>
          <p:cNvPr id="13" name="Text 11"/>
          <p:cNvSpPr txBox="1"/>
          <p:nvPr/>
        </p:nvSpPr>
        <p:spPr>
          <a:xfrm>
            <a:off x="457200" y="420624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RA / NRNS</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Renewal advice / not-for-renewal notice</a:t>
            </a:r>
            <a:endParaRPr lang="en-US" sz="1100" dirty="0"/>
          </a:p>
        </p:txBody>
      </p:sp>
      <p:sp>
        <p:nvSpPr>
          <p:cNvPr id="14" name="Text 12"/>
          <p:cNvSpPr txBox="1"/>
          <p:nvPr/>
        </p:nvSpPr>
        <p:spPr>
          <a:xfrm>
            <a:off x="6217920" y="4206240"/>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IAAF</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Insurance Adequacy Assessment Form</a:t>
            </a:r>
            <a:endParaRPr lang="en-US" sz="1100" dirty="0"/>
          </a:p>
        </p:txBody>
      </p:sp>
      <p:sp>
        <p:nvSpPr>
          <p:cNvPr id="15" name="Text 13"/>
          <p:cNvSpPr txBox="1"/>
          <p:nvPr/>
        </p:nvSpPr>
        <p:spPr>
          <a:xfrm>
            <a:off x="457200" y="480974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BOR / TOR</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Broker of Record / Terms of Reference</a:t>
            </a:r>
            <a:endParaRPr lang="en-US" sz="1100" dirty="0"/>
          </a:p>
        </p:txBody>
      </p:sp>
      <p:sp>
        <p:nvSpPr>
          <p:cNvPr id="16" name="Text 14"/>
          <p:cNvSpPr txBox="1"/>
          <p:nvPr/>
        </p:nvSpPr>
        <p:spPr>
          <a:xfrm>
            <a:off x="6217920" y="4809744"/>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ISACOM</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Approval committee for non-accredited providers</a:t>
            </a:r>
            <a:endParaRPr lang="en-US" sz="1100" dirty="0"/>
          </a:p>
        </p:txBody>
      </p:sp>
      <p:sp>
        <p:nvSpPr>
          <p:cNvPr id="17" name="Text 15"/>
          <p:cNvSpPr txBox="1"/>
          <p:nvPr/>
        </p:nvSpPr>
        <p:spPr>
          <a:xfrm>
            <a:off x="457200" y="541324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GRF</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Group risk form / placement request</a:t>
            </a:r>
            <a:endParaRPr lang="en-US" sz="1100" dirty="0"/>
          </a:p>
        </p:txBody>
      </p:sp>
      <p:sp>
        <p:nvSpPr>
          <p:cNvPr id="18" name="Text 16"/>
          <p:cNvSpPr txBox="1"/>
          <p:nvPr/>
        </p:nvSpPr>
        <p:spPr>
          <a:xfrm>
            <a:off x="6217920" y="5413248"/>
            <a:ext cx="5440680" cy="548640"/>
          </a:xfrm>
          <a:prstGeom prst="rect">
            <a:avLst/>
          </a:prstGeom>
          <a:noFill/>
          <a:ln/>
        </p:spPr>
        <p:txBody>
          <a:bodyPr wrap="square" lIns="0" tIns="0" rIns="0" bIns="0" rtlCol="0" anchor="t">
            <a:normAutofit/>
          </a:bodyPr>
          <a:lstStyle/>
          <a:p>
            <a:pPr indent="0" marL="0">
              <a:buNone/>
            </a:pPr>
            <a:r>
              <a:rPr lang="en-US" sz="1100" b="1" dirty="0">
                <a:solidFill>
                  <a:srgbClr val="002B7F"/>
                </a:solidFill>
                <a:latin typeface="Calibri" pitchFamily="34" charset="0"/>
                <a:ea typeface="Calibri" pitchFamily="34" charset="-122"/>
                <a:cs typeface="Calibri" pitchFamily="34" charset="-120"/>
              </a:rPr>
              <a:t>Ebix / QPS / ISYS</a:t>
            </a:r>
            <a:endParaRPr lang="en-US" sz="1100" dirty="0"/>
          </a:p>
          <a:p>
            <a:pPr indent="0" marL="0">
              <a:buNone/>
            </a:pPr>
            <a:r>
              <a:rPr lang="en-US" sz="1100" dirty="0">
                <a:solidFill>
                  <a:srgbClr val="5B6478"/>
                </a:solidFill>
                <a:latin typeface="Calibri" pitchFamily="34" charset="0"/>
                <a:ea typeface="Calibri" pitchFamily="34" charset="-122"/>
                <a:cs typeface="Calibri" pitchFamily="34" charset="-120"/>
              </a:rPr>
              <a:t>Legacy systems replaced by BrokerVerse</a:t>
            </a:r>
            <a:endParaRPr lang="en-US" sz="1100" dirty="0"/>
          </a:p>
        </p:txBody>
      </p:sp>
      <p:sp>
        <p:nvSpPr>
          <p:cNvPr id="19" name="Text 17"/>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BDOI operating model  ·  BrokerVerse  ·  delivered by iorta TechNXT</a:t>
            </a:r>
            <a:endParaRPr lang="en-US" sz="900" dirty="0"/>
          </a:p>
        </p:txBody>
      </p:sp>
      <p:sp>
        <p:nvSpPr>
          <p:cNvPr id="20" name="Text 18"/>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2B7F"/>
        </a:solidFill>
      </p:bgPr>
    </p:bg>
    <p:spTree>
      <p:nvGrpSpPr>
        <p:cNvPr id="1" name=""/>
        <p:cNvGrpSpPr/>
        <p:nvPr/>
      </p:nvGrpSpPr>
      <p:grpSpPr>
        <a:xfrm>
          <a:off x="0" y="0"/>
          <a:ext cx="0" cy="0"/>
          <a:chOff x="0" y="0"/>
          <a:chExt cx="0" cy="0"/>
        </a:xfrm>
      </p:grpSpPr>
      <p:sp>
        <p:nvSpPr>
          <p:cNvPr id="2" name="Text 0"/>
          <p:cNvSpPr txBox="1"/>
          <p:nvPr/>
        </p:nvSpPr>
        <p:spPr>
          <a:xfrm>
            <a:off x="640080" y="640080"/>
            <a:ext cx="100584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Sources and where to go next</a:t>
            </a:r>
            <a:endParaRPr lang="en-US" sz="3400" dirty="0"/>
          </a:p>
        </p:txBody>
      </p:sp>
      <p:sp>
        <p:nvSpPr>
          <p:cNvPr id="3" name="Shape 1"/>
          <p:cNvSpPr/>
          <p:nvPr/>
        </p:nvSpPr>
        <p:spPr>
          <a:xfrm>
            <a:off x="640080" y="1783080"/>
            <a:ext cx="411480" cy="411480"/>
          </a:xfrm>
          <a:prstGeom prst="ellipse">
            <a:avLst/>
          </a:prstGeom>
          <a:solidFill>
            <a:srgbClr val="FFC400"/>
          </a:solidFill>
          <a:ln w="12700">
            <a:solidFill>
              <a:srgbClr val="FFC400"/>
            </a:solidFill>
            <a:prstDash val="solid"/>
          </a:ln>
        </p:spPr>
      </p:sp>
      <p:sp>
        <p:nvSpPr>
          <p:cNvPr id="4" name="Text 2"/>
          <p:cNvSpPr txBox="1"/>
          <p:nvPr/>
        </p:nvSpPr>
        <p:spPr>
          <a:xfrm>
            <a:off x="640080" y="178308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280160" y="1737360"/>
            <a:ext cx="3291840" cy="502920"/>
          </a:xfrm>
          <a:prstGeom prst="rect">
            <a:avLst/>
          </a:prstGeom>
          <a:noFill/>
          <a:ln/>
        </p:spPr>
        <p:txBody>
          <a:bodyPr wrap="square" lIns="0" tIns="0" rIns="0" bIns="0" rtlCol="0" anchor="ctr"/>
          <a:lstStyle/>
          <a:p>
            <a:pPr indent="0" marL="0">
              <a:buNone/>
            </a:pPr>
            <a:r>
              <a:rPr lang="en-US" sz="1500" b="1" dirty="0">
                <a:solidFill>
                  <a:srgbClr val="FFC400"/>
                </a:solidFill>
                <a:latin typeface="Calibri" pitchFamily="34" charset="0"/>
                <a:ea typeface="Calibri" pitchFamily="34" charset="-122"/>
                <a:cs typeface="Calibri" pitchFamily="34" charset="-120"/>
              </a:rPr>
              <a:t>Source flows</a:t>
            </a:r>
            <a:endParaRPr lang="en-US" sz="1500" dirty="0"/>
          </a:p>
        </p:txBody>
      </p:sp>
      <p:sp>
        <p:nvSpPr>
          <p:cNvPr id="6" name="Text 4"/>
          <p:cNvSpPr txBox="1"/>
          <p:nvPr/>
        </p:nvSpPr>
        <p:spPr>
          <a:xfrm>
            <a:off x="4663440" y="1737360"/>
            <a:ext cx="6949440" cy="50292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HL_Process_Overview: sixteen flows, each confirmed by its BDOI process owner by email (Dec 2025 – Mar 2026)</a:t>
            </a:r>
            <a:endParaRPr lang="en-US" sz="1200" dirty="0"/>
          </a:p>
        </p:txBody>
      </p:sp>
      <p:sp>
        <p:nvSpPr>
          <p:cNvPr id="7" name="Shape 5"/>
          <p:cNvSpPr/>
          <p:nvPr/>
        </p:nvSpPr>
        <p:spPr>
          <a:xfrm>
            <a:off x="640080" y="2651760"/>
            <a:ext cx="411480" cy="411480"/>
          </a:xfrm>
          <a:prstGeom prst="ellipse">
            <a:avLst/>
          </a:prstGeom>
          <a:solidFill>
            <a:srgbClr val="FFC400"/>
          </a:solidFill>
          <a:ln w="12700">
            <a:solidFill>
              <a:srgbClr val="FFC400"/>
            </a:solidFill>
            <a:prstDash val="solid"/>
          </a:ln>
        </p:spPr>
      </p:sp>
      <p:sp>
        <p:nvSpPr>
          <p:cNvPr id="8" name="Text 6"/>
          <p:cNvSpPr txBox="1"/>
          <p:nvPr/>
        </p:nvSpPr>
        <p:spPr>
          <a:xfrm>
            <a:off x="640080" y="265176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280160" y="2606040"/>
            <a:ext cx="3291840" cy="502920"/>
          </a:xfrm>
          <a:prstGeom prst="rect">
            <a:avLst/>
          </a:prstGeom>
          <a:noFill/>
          <a:ln/>
        </p:spPr>
        <p:txBody>
          <a:bodyPr wrap="square" lIns="0" tIns="0" rIns="0" bIns="0" rtlCol="0" anchor="ctr"/>
          <a:lstStyle/>
          <a:p>
            <a:pPr indent="0" marL="0">
              <a:buNone/>
            </a:pPr>
            <a:r>
              <a:rPr lang="en-US" sz="1500" b="1" dirty="0">
                <a:solidFill>
                  <a:srgbClr val="FFC400"/>
                </a:solidFill>
                <a:latin typeface="Calibri" pitchFamily="34" charset="0"/>
                <a:ea typeface="Calibri" pitchFamily="34" charset="-122"/>
                <a:cs typeface="Calibri" pitchFamily="34" charset="-120"/>
              </a:rPr>
              <a:t>Operating model page</a:t>
            </a:r>
            <a:endParaRPr lang="en-US" sz="1500" dirty="0"/>
          </a:p>
        </p:txBody>
      </p:sp>
      <p:sp>
        <p:nvSpPr>
          <p:cNvPr id="10" name="Text 8"/>
          <p:cNvSpPr txBox="1"/>
          <p:nvPr/>
        </p:nvSpPr>
        <p:spPr>
          <a:xfrm>
            <a:off x="4663440" y="2606040"/>
            <a:ext cx="6949440" cy="50292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https://claude.ai/artifact/S1b3QzXUxZdtW4TM8xYyL5</a:t>
            </a:r>
            <a:endParaRPr lang="en-US" sz="1200" dirty="0"/>
          </a:p>
        </p:txBody>
      </p:sp>
      <p:sp>
        <p:nvSpPr>
          <p:cNvPr id="11" name="Shape 9"/>
          <p:cNvSpPr/>
          <p:nvPr/>
        </p:nvSpPr>
        <p:spPr>
          <a:xfrm>
            <a:off x="640080" y="3520440"/>
            <a:ext cx="411480" cy="411480"/>
          </a:xfrm>
          <a:prstGeom prst="ellipse">
            <a:avLst/>
          </a:prstGeom>
          <a:solidFill>
            <a:srgbClr val="FFC400"/>
          </a:solidFill>
          <a:ln w="12700">
            <a:solidFill>
              <a:srgbClr val="FFC400"/>
            </a:solidFill>
            <a:prstDash val="solid"/>
          </a:ln>
        </p:spPr>
      </p:sp>
      <p:sp>
        <p:nvSpPr>
          <p:cNvPr id="12" name="Text 10"/>
          <p:cNvSpPr txBox="1"/>
          <p:nvPr/>
        </p:nvSpPr>
        <p:spPr>
          <a:xfrm>
            <a:off x="640080" y="352044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280160" y="3474720"/>
            <a:ext cx="3291840" cy="502920"/>
          </a:xfrm>
          <a:prstGeom prst="rect">
            <a:avLst/>
          </a:prstGeom>
          <a:noFill/>
          <a:ln/>
        </p:spPr>
        <p:txBody>
          <a:bodyPr wrap="square" lIns="0" tIns="0" rIns="0" bIns="0" rtlCol="0" anchor="ctr"/>
          <a:lstStyle/>
          <a:p>
            <a:pPr indent="0" marL="0">
              <a:buNone/>
            </a:pPr>
            <a:r>
              <a:rPr lang="en-US" sz="1500" b="1" dirty="0">
                <a:solidFill>
                  <a:srgbClr val="FFC400"/>
                </a:solidFill>
                <a:latin typeface="Calibri" pitchFamily="34" charset="0"/>
                <a:ea typeface="Calibri" pitchFamily="34" charset="-122"/>
                <a:cs typeface="Calibri" pitchFamily="34" charset="-120"/>
              </a:rPr>
              <a:t>Step-by-step screens</a:t>
            </a:r>
            <a:endParaRPr lang="en-US" sz="1500" dirty="0"/>
          </a:p>
        </p:txBody>
      </p:sp>
      <p:sp>
        <p:nvSpPr>
          <p:cNvPr id="14" name="Text 12"/>
          <p:cNvSpPr txBox="1"/>
          <p:nvPr/>
        </p:nvSpPr>
        <p:spPr>
          <a:xfrm>
            <a:off x="4663440" y="3474720"/>
            <a:ext cx="6949440" cy="50292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https://claude.ai/artifact/EFoSW1GzSezVPJ8QhgeKvi (111 steps, two images each)</a:t>
            </a:r>
            <a:endParaRPr lang="en-US" sz="1200" dirty="0"/>
          </a:p>
        </p:txBody>
      </p:sp>
      <p:sp>
        <p:nvSpPr>
          <p:cNvPr id="15" name="Shape 13"/>
          <p:cNvSpPr/>
          <p:nvPr/>
        </p:nvSpPr>
        <p:spPr>
          <a:xfrm>
            <a:off x="640080" y="4389120"/>
            <a:ext cx="411480" cy="411480"/>
          </a:xfrm>
          <a:prstGeom prst="ellipse">
            <a:avLst/>
          </a:prstGeom>
          <a:solidFill>
            <a:srgbClr val="FFC400"/>
          </a:solidFill>
          <a:ln w="12700">
            <a:solidFill>
              <a:srgbClr val="FFC400"/>
            </a:solidFill>
            <a:prstDash val="solid"/>
          </a:ln>
        </p:spPr>
      </p:sp>
      <p:sp>
        <p:nvSpPr>
          <p:cNvPr id="16" name="Text 14"/>
          <p:cNvSpPr txBox="1"/>
          <p:nvPr/>
        </p:nvSpPr>
        <p:spPr>
          <a:xfrm>
            <a:off x="640080" y="438912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280160" y="4343400"/>
            <a:ext cx="3291840" cy="502920"/>
          </a:xfrm>
          <a:prstGeom prst="rect">
            <a:avLst/>
          </a:prstGeom>
          <a:noFill/>
          <a:ln/>
        </p:spPr>
        <p:txBody>
          <a:bodyPr wrap="square" lIns="0" tIns="0" rIns="0" bIns="0" rtlCol="0" anchor="ctr"/>
          <a:lstStyle/>
          <a:p>
            <a:pPr indent="0" marL="0">
              <a:buNone/>
            </a:pPr>
            <a:r>
              <a:rPr lang="en-US" sz="1500" b="1" dirty="0">
                <a:solidFill>
                  <a:srgbClr val="FFC400"/>
                </a:solidFill>
                <a:latin typeface="Calibri" pitchFamily="34" charset="0"/>
                <a:ea typeface="Calibri" pitchFamily="34" charset="-122"/>
                <a:cs typeface="Calibri" pitchFamily="34" charset="-120"/>
              </a:rPr>
              <a:t>Demo application</a:t>
            </a:r>
            <a:endParaRPr lang="en-US" sz="1500" dirty="0"/>
          </a:p>
        </p:txBody>
      </p:sp>
      <p:sp>
        <p:nvSpPr>
          <p:cNvPr id="18" name="Text 16"/>
          <p:cNvSpPr txBox="1"/>
          <p:nvPr/>
        </p:nvSpPr>
        <p:spPr>
          <a:xfrm>
            <a:off x="4663440" y="4343400"/>
            <a:ext cx="6949440" cy="50292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https://claude.ai/artifact/J5CoEBTpXYt77pVyruPQ5v (admin / Admin@123 or any persona with Broker@123)</a:t>
            </a:r>
            <a:endParaRPr lang="en-US" sz="1200" dirty="0"/>
          </a:p>
        </p:txBody>
      </p:sp>
      <p:sp>
        <p:nvSpPr>
          <p:cNvPr id="19" name="Shape 17"/>
          <p:cNvSpPr/>
          <p:nvPr/>
        </p:nvSpPr>
        <p:spPr>
          <a:xfrm>
            <a:off x="640080" y="5257800"/>
            <a:ext cx="411480" cy="411480"/>
          </a:xfrm>
          <a:prstGeom prst="ellipse">
            <a:avLst/>
          </a:prstGeom>
          <a:solidFill>
            <a:srgbClr val="FFC400"/>
          </a:solidFill>
          <a:ln w="12700">
            <a:solidFill>
              <a:srgbClr val="FFC400"/>
            </a:solidFill>
            <a:prstDash val="solid"/>
          </a:ln>
        </p:spPr>
      </p:sp>
      <p:sp>
        <p:nvSpPr>
          <p:cNvPr id="20" name="Text 18"/>
          <p:cNvSpPr txBox="1"/>
          <p:nvPr/>
        </p:nvSpPr>
        <p:spPr>
          <a:xfrm>
            <a:off x="640080" y="525780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1280160" y="5212080"/>
            <a:ext cx="3291840" cy="502920"/>
          </a:xfrm>
          <a:prstGeom prst="rect">
            <a:avLst/>
          </a:prstGeom>
          <a:noFill/>
          <a:ln/>
        </p:spPr>
        <p:txBody>
          <a:bodyPr wrap="square" lIns="0" tIns="0" rIns="0" bIns="0" rtlCol="0" anchor="ctr"/>
          <a:lstStyle/>
          <a:p>
            <a:pPr indent="0" marL="0">
              <a:buNone/>
            </a:pPr>
            <a:r>
              <a:rPr lang="en-US" sz="1500" b="1" dirty="0">
                <a:solidFill>
                  <a:srgbClr val="FFC400"/>
                </a:solidFill>
                <a:latin typeface="Calibri" pitchFamily="34" charset="0"/>
                <a:ea typeface="Calibri" pitchFamily="34" charset="-122"/>
                <a:cs typeface="Calibri" pitchFamily="34" charset="-120"/>
              </a:rPr>
              <a:t>Regenerate this deck</a:t>
            </a:r>
            <a:endParaRPr lang="en-US" sz="1500" dirty="0"/>
          </a:p>
        </p:txBody>
      </p:sp>
      <p:sp>
        <p:nvSpPr>
          <p:cNvPr id="22" name="Text 20"/>
          <p:cNvSpPr txBox="1"/>
          <p:nvPr/>
        </p:nvSpPr>
        <p:spPr>
          <a:xfrm>
            <a:off x="4663440" y="5212080"/>
            <a:ext cx="6949440" cy="50292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node scripts/build-operating-model.mjs &amp;&amp; node scripts/build-operating-model-deck.mjs</a:t>
            </a:r>
            <a:endParaRPr lang="en-US" sz="1200" dirty="0"/>
          </a:p>
        </p:txBody>
      </p:sp>
      <p:sp>
        <p:nvSpPr>
          <p:cNvPr id="23" name="Shape 21"/>
          <p:cNvSpPr/>
          <p:nvPr/>
        </p:nvSpPr>
        <p:spPr>
          <a:xfrm>
            <a:off x="9052560" y="5852160"/>
            <a:ext cx="2514600" cy="777240"/>
          </a:xfrm>
          <a:prstGeom prst="roundRect">
            <a:avLst>
              <a:gd name="adj" fmla="val 11765"/>
            </a:avLst>
          </a:prstGeom>
          <a:solidFill>
            <a:srgbClr val="FFFFFF"/>
          </a:solidFill>
          <a:ln w="12700">
            <a:solidFill>
              <a:srgbClr val="FFFFFF"/>
            </a:solidFill>
            <a:prstDash val="solid"/>
          </a:ln>
        </p:spPr>
      </p:sp>
      <p:pic>
        <p:nvPicPr>
          <p:cNvPr id="24" name="Image 0" descr="/home/user/Brokerverse/web/public/iorta-technxt-logo.png">    </p:cNvPr>
          <p:cNvPicPr>
            <a:picLocks noChangeAspect="1"/>
          </p:cNvPicPr>
          <p:nvPr/>
        </p:nvPicPr>
        <p:blipFill>
          <a:blip r:embed="rId1"/>
          <a:stretch>
            <a:fillRect/>
          </a:stretch>
        </p:blipFill>
        <p:spPr>
          <a:xfrm>
            <a:off x="9189720" y="5943600"/>
            <a:ext cx="2011680" cy="6035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BDO Insurance and Reinsurance Brokers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BDOI Operating Model</dc:title>
  <dc:subject>PptxGenJS Presentation</dc:subject>
  <dc:creator>iorta TechNXT</dc:creator>
  <cp:lastModifiedBy>iorta TechNXT</cp:lastModifiedBy>
  <cp:revision>1</cp:revision>
  <dcterms:created xsi:type="dcterms:W3CDTF">2026-09-24T11:37:57Z</dcterms:created>
  <dcterms:modified xsi:type="dcterms:W3CDTF">2026-09-24T11:37:57Z</dcterms:modified>
</cp:coreProperties>
</file>